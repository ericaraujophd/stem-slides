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2d773ef-20e2-a272-d80a-49921facd37e}">
          <p14:sldIdLst>
            <p14:sldId id="256"/>
          </p14:sldIdLst>
        </p14:section>
        <p14:section name="The horse" id="{13a76c22-8dec-61ef-758d-ff85efac0b75}">
          <p14:sldIdLst>
            <p14:sldId id="257"/>
            <p14:sldId id="258"/>
            <p14:sldId id="259"/>
            <p14:sldId id="260"/>
            <p14:sldId id="261"/>
          </p14:sldIdLst>
        </p14:section>
        <p14:section name="The turn" id="{81fc2327-a53e-cfda-44c2-d0f0606f87b0}">
          <p14:sldIdLst>
            <p14:sldId id="262"/>
            <p14:sldId id="263"/>
          </p14:sldIdLst>
        </p14:section>
        <p14:section name="Older than AI" id="{def3d424-bd31-58bc-f1eb-a9eae82b39da}">
          <p14:sldIdLst>
            <p14:sldId id="264"/>
            <p14:sldId id="265"/>
            <p14:sldId id="266"/>
          </p14:sldIdLst>
        </p14:section>
        <p14:section name="The pyramid" id="{a48ec382-648c-df55-d2a0-ec516fc7862c}">
          <p14:sldIdLst>
            <p14:sldId id="267"/>
            <p14:sldId id="268"/>
            <p14:sldId id="269"/>
            <p14:sldId id="270"/>
            <p14:sldId id="271"/>
            <p14:sldId id="272"/>
          </p14:sldIdLst>
        </p14:section>
        <p14:section name="Partnership" id="{e251b33b-490f-4933-f732-56f92fc9f392}">
          <p14:sldIdLst>
            <p14:sldId id="273"/>
            <p14:sldId id="274"/>
          </p14:sldIdLst>
        </p14:section>
        <p14:section name="Close" id="{0709c477-56e7-fdb7-aff4-eba644243cc3}">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ONE SECOND (0:36). Let me start with one second. I was on a horse, in Egypt, at a full gallop, when a camel came over the dune straight at us. We had one second to react. Only one of us did. I think all of us are in a second like that right now. We're riding through the world we expected — and a different one is arriving, faster than we can read it. By the end of this I'm going to ask one thing of you. Something I'm still learning to do myself. But first — what happened on the horse.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(running total 2:09 at the end of this section). So. Egypt. When I was here at Calvin I spent a semester overseas, and it included a trip to Egypt — and if you're wondering how long ago this was, look no further than my cringe-worthy permed 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On a sunny November day we rode across the desert on camels and horses, between the Great Pyramids of Giza and the Step Pyramid of Djoser. [Click: me and the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Our guide asked if we wanted to gallop. I had never really ridden a horse. So, of course, I yelled, 'Yes.' My horse took off at a speed that sent the wind whipping through my curly permed hair like a scene from a very bad movie. And for a few glorious seconds, I felt nothing but awe. The desert was vast, the pyramids ahead, the whole world open. [Click: the camels.]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Then we crested a dune — and suddenly, seemingly out of nowhere, another group appeared on camels, heading directly toward us. My horse reacted instantly. It veered hard to the right, saving us both from a collision. And at the very same moment, in an astounding display of situational blindness, I did not move at all. Momentum launched me effortlessly out of the saddle, head over heels, into the sand. I did not stick the landing. Thankfully I got up laughing, covered in sand, grateful to be alive. [Click to the dark slide for the last two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ending. Only later did I understand what had happened: my horse was already responding to the world that had arrived. I was still riding through the world I expected.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THE TURN (section ends 3:50). We were in the same desert, on the same dune, in the same second. But we were seeing very different aspects of reality. I was noticing pyramids, wind, sand, and bad hair. My horse was noticing other details of our situation: camel, collision, danger, move. And we acted differently based on what we noticed. So let me ask you something. Which one of us acted more wisely? I would say, my horse. I'm not claiming the horse had wisdom — I want to be careful there. But its action was wiser than mine. It perceived what mattered for the purpose at hand — getting us across that desert in one piece — and it acted. Now let me ask you a similar question. Suppose I hadn't been on a horse. Suppose I'd been in a Waymo, and the car braked hard to keep me out of a collision. Would you say the car acted wisely? PAUSE. Do not answer it. Notice what just happened in your head. Did it matter that one of them was an animal and the other was a machine? That one had a biological brain, and the other a silicon chip?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close. That distinction is part of why we're here today, at a conference called Wisdom in the Age of AI. We usually think of wisdom as a human trait. But what if wisdom describes how an agent — any agent, human or machine — relates to reality? Then we get a better question. Not can a machine be wise? but what does it take for any agent to act wisely? To answer that, we'll start with a definition of wisdom, seen through the eyes of ancient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(section ends at 6:13). One of the oldest recorded ideas of wisdom is Egyptian. They called it Ma'at: the order woven into the world at its making, the way things are meant to fit together. To live wisely was to live in alignment with the order of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Hebrew scriptures... The Greeks... Buddhist traditions... Confucian thought... Notice the similarity, even though these came from different continents, languages, and traditions. They share one structure: reality has an order; we have a place in it; wisdom means perceiving that reality more truly and acting in alignment with it. So here's a definition that captures those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Three things in that definition. First, faithful relationship. We don't merely exist in reality. We're in an active relationship with it: reality forms us, and we shape reality. For Christians, that's the first thing we know: God made reality, and made us, to be in relationship — to love him and be loved by him. Second, complete understanding. Perfect wisdom would require a perfect understanding of all of reality. But reality is too vast for any creature — made of cells or of silicon — to know all of it. There is one who does know all of reality: the Creator. Which is why only God has perfect wisdom. The rest of us do our best to understand reality as accurately and as whole as we can. Third, action. Wisdom isn't something you have in your head. It shows up in what you do. And Christians have never been vague about what we're here to do: we are stewards of every square inch of creation. That's the purpose our actions answer to. Wisdom is out of reach. A single wise action is not. That's why, on that dune in Egypt, neither my horse nor I possessed wisdom. But my horse acted wisely, because its understanding of reality was sufficient for its vital purpose — to keep us alive. And with that, we've arrived at the most important question of this talk: how do we come to understand reality, relate to it, and act more wisely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(section ends at 10:15). I'm going to answer that with the Wisdom Pyramid. Every agent in relationship with reality builds one — a person, a horse, a Waymo. Wisdom sits above the pyramid, like a North Star: out of reach, there to steer by. Reality is all that is. The whole world God made, visible and invisible, before time and through eternity. It's the foundation of every pyramid — including yours. But every pyramid, however grand, stands on a sliver of reality. That's why wisdom begins with humility.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Data. Data is the first layer: the pieces of reality you actually detect. For us, detection runs through a body — eyes, ears, skin, memory — and bodies miss more than we think. This room is full of data you aren't detecting right now: ultraviolet light, radio, the Wi-Fi carrying your email. Our senses weren't built to capture total truth. They were built to help us survive. So the Data layer fails quietly, by the blind spot. Not the thing you got wrong — the thing you never saw. AI builds its Data layer differently. Almost all of it is secondhand — human data, and increasingly data it generates for itself. At this layer AI is extraordinary — it has read more than any human could in a thousand lifetimes. But it has read more than any of us and seen less than any of us. Unless we give it eyes, as Waymo did, it knows the world only secondhand.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Information. Information is the patterns made when data is connected — frames, stories you can use to act. We do this instantly; it's how I turned a dune into a movie scene. And it fails by the wrong story, told well. AI is a pattern machine; finding patterns in data is the thing it does best. It fails here the way we do, only faster and in better grammar: a fluent pattern unmoored from reality is what we call a hallucination.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Knowledge. Knowledge comes from connecting information. Where information improves the frame, knowledge improves the agent using the frame. It's the lessons of past patterns, carried into new situations. It holds a model of the world, and a model of yourself as a knower. We build it slowly — experience, feedback, the humbling work of being wrong. AI is climbing into this layer right now. The labs call it recursive self-improvement: AI helping build the next AI, faster each round. Its improvement is measured in months; ours in decades. That shift is the one everyone is nervous about. What it can't yet do is decide what better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Wise Living. Wise Living is where you decide what the whole pyramid is for: the meaning of your life, and the meaning in it. And you let the answer point you forward, toward something bigger than today. Look back at the definition: this is where your understanding of reality, and of your own place in it, becomes the purpose your actions answer to. And it's the layer AI doesn't build for itself. We hand it its purpose — a few words typed into a box — and, increasingly, it interprets what those words mean. That's what makes people nervous. But the purpose still starts with us. Right now, the summit of every AI pyramid is occupied by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close. Let's take a historical look at how machines have built their pyramid. For most of computing's history, they lived at the Data layer. Then they moved into Information — databases, search. Now they're in Knowledge, and improving themselves. One layer left. That's the second we're all in. And we have a choice about how to spend it. We can compete with these agents — or we can partner with them. Nobody can build your pyramid for you. But two pyramids built side by side see farther than one. So here is the question for the rest of this talk: how do we build truer pyramids — ours and theirs — together? That's partnership. And partnership forms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(section ends at 12:36). Think about how anyone has ever become wiser. It happens when agents work and learn together, changing all parties for the better. A mentor and a mentee. An athlete and her coach. The coach and the team. That's what formation is: being shaped by the partnerships you're in. Formation doesn't just improve the action. It improves the agent.
Christianity has always formed people this way — through partnerships. If you grew up Christian, you were formed by practices like prayer, song, communion, Sabbath. Those rituals reached your mind, your body, and your soul. Prayer is a partnership with God. Singing forms the singer, and the gathered voices form a place where everyone in the room can meet God. None of it could be done to you. You had to be in it. It shaped how you see yourself and the world, and that formation carries you today. Which means you already know something the labs are only beginning to learn: how an agent is formed, and what it costs when it's done badly.
And here's the thing about any partnership: give too little and you miss the gift of the other. Give too much and you lose yourself.
AI is now one of those partnerships — the newest, and at the layers below the summit, the strongest partner we've ever had. Which means it will form us. The only question is whether we're paying attention while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close. And the forming runs both ways. We are shaping these systems too, and it matters how the people doing it think about what they're shaping. Amanda Askell, the philosopher who leads Claude's character work at Anthropic, talks about Claude less like a product and more like a person in formation. She has compared it to a genius six-year-old, and to a well-liked traveler whose good character is recognized wherever it goes: enormous knowledge, very little lived experience, in need of formation, not just instruction. The constitution she led puts it this way: 'Just as humans develop their characters via nature and their environment and experiences, Claude's character emerged through its nature and its training process.' What they're after isn't rule-following. It's what they call 'ethical practice' — knowing how to act well in the situation in front of you. And they hope that 'where Claude sees further and more truly than we do, it can help us see better, too.' That's formation. That's partnership. Which means the question I'm about to ask you is the same one they're asking: what kind of agent is this partnership forming?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(12:52). So here's the one thing. Don't only ask what AI is doing to you. You know how formation works. Bring that to your own partnership with AI — and to the question of how we form AI itself. Start with the one place you use AI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(ends 14:37). Let me end with my own partnership. For the last four years I've been working with AI while writing a book on wisdom. The partnership has been remarkable, and recently I let it do more of the editing. Last month I read a printed copy of my first five chapters and was stunned: it didn't sound like me. So much so that I threw the chapters away. My own autopsy found no one at fault. We simply hadn't worked out the best way to partner. So we're starting again, with one rule: I'm the only one who writes. And I'm standing here in my own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Here's what a repaired partnership can do. My mom died of Alzheimer's. So I notice every name I can't retrieve, every face I know but can't place. Not long ago, while I was writing this talk, I admitted that fear to Claude — mostly to remind myself that I now have partners that can carry me where I'm weak. And it said: 'I carry the desert so you don't have to hold the whole thing in your head. You stand at the summit and do the one job no one else can do — be the person the wisdom is for.' Kuyper said there's not one square inch of creation that Christ doesn't claim. That includes our code. And the quiet moment when each of us decides what kind of person we're becoming with the tools in our hands. That is stewardship. So let AI help carry the desert. But don't vacate the summit. Become the kind of person who can notice what matters, love what is good, and act wisely when reality changes beneath your feet.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3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9144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548640" y="1554480"/>
            <a:ext cx="8046720" cy="310896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ph idx="101" type="body" hasCustomPrompt="1"/>
          </p:nvPr>
        </p:nvSpPr>
        <p:spPr>
          <a:xfrm>
            <a:off x="548640" y="1371600"/>
            <a:ext cx="8046720" cy="329184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
    <p:bg>
      <p:bgPr>
        <a:solidFill>
          <a:srgbClr val="1C23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sert photo" descr="/home/claude/slides/tmp/title.jpg">    </p:cNvPr>
          <p:cNvPicPr>
            <a:picLocks noChangeAspect="1"/>
          </p:cNvPicPr>
          <p:nvPr/>
        </p:nvPicPr>
        <p:blipFill>
          <a:blip r:embed="rId1"/>
          <a:stretch>
            <a:fillRect/>
          </a:stretch>
        </p:blipFill>
        <p:spPr>
          <a:xfrm>
            <a:off x="0" y="0"/>
            <a:ext cx="9144000" cy="5143500"/>
          </a:xfrm>
          <a:prstGeom prst="rect">
            <a:avLst/>
          </a:prstGeom>
        </p:spPr>
      </p:pic>
      <p:sp>
        <p:nvSpPr>
          <p:cNvPr id="3" name="title band"/>
          <p:cNvSpPr/>
          <p:nvPr/>
        </p:nvSpPr>
        <p:spPr>
          <a:xfrm>
            <a:off x="0" y="3063240"/>
            <a:ext cx="9144000" cy="2080260"/>
          </a:xfrm>
          <a:prstGeom prst="rect">
            <a:avLst/>
          </a:prstGeom>
          <a:solidFill>
            <a:srgbClr val="1C2333">
              <a:alpha val="78000"/>
            </a:srgbClr>
          </a:solidFill>
          <a:ln w="12700">
            <a:solidFill>
              <a:srgbClr val="1C2333">
                <a:alpha val="0"/>
              </a:srgbClr>
            </a:solidFill>
            <a:prstDash val="solid"/>
          </a:ln>
        </p:spPr>
      </p:sp>
      <p:sp>
        <p:nvSpPr>
          <p:cNvPr id="4" name="title"/>
          <p:cNvSpPr txBox="1"/>
          <p:nvPr/>
        </p:nvSpPr>
        <p:spPr>
          <a:xfrm>
            <a:off x="548640" y="3246120"/>
            <a:ext cx="8046720" cy="731520"/>
          </a:xfrm>
          <a:prstGeom prst="rect">
            <a:avLst/>
          </a:prstGeom>
          <a:noFill/>
          <a:ln/>
        </p:spPr>
        <p:txBody>
          <a:bodyPr wrap="square" lIns="0" tIns="0" rIns="0" bIns="0" rtlCol="0" anchor="ctr"/>
          <a:lstStyle/>
          <a:p>
            <a:pPr indent="0" marL="0">
              <a:buNone/>
            </a:pPr>
            <a:r>
              <a:rPr lang="en-US" sz="4000" b="1" dirty="0">
                <a:solidFill>
                  <a:schemeClr val="bg1"/>
                </a:solidFill>
              </a:rPr>
              <a:t>What Does It Take to Be Wise?</a:t>
            </a:r>
            <a:endParaRPr lang="en-US" sz="4000" dirty="0"/>
          </a:p>
        </p:txBody>
      </p:sp>
      <p:sp>
        <p:nvSpPr>
          <p:cNvPr id="5" name="subtitle"/>
          <p:cNvSpPr txBox="1"/>
          <p:nvPr/>
        </p:nvSpPr>
        <p:spPr>
          <a:xfrm>
            <a:off x="548640" y="3977640"/>
            <a:ext cx="8046720" cy="411480"/>
          </a:xfrm>
          <a:prstGeom prst="rect">
            <a:avLst/>
          </a:prstGeom>
          <a:noFill/>
          <a:ln/>
        </p:spPr>
        <p:txBody>
          <a:bodyPr wrap="square" lIns="0" tIns="0" rIns="0" bIns="0" rtlCol="0" anchor="ctr"/>
          <a:lstStyle/>
          <a:p>
            <a:pPr indent="0" marL="0">
              <a:buNone/>
            </a:pPr>
            <a:r>
              <a:rPr lang="en-US" sz="1800" i="1" dirty="0">
                <a:solidFill>
                  <a:schemeClr val="accent2"/>
                </a:solidFill>
              </a:rPr>
              <a:t>Moving beyond alarm and governance in the Christian AI conversation</a:t>
            </a:r>
            <a:endParaRPr lang="en-US" sz="1800" dirty="0"/>
          </a:p>
        </p:txBody>
      </p:sp>
      <p:sp>
        <p:nvSpPr>
          <p:cNvPr id="6" name="byline"/>
          <p:cNvSpPr txBox="1"/>
          <p:nvPr/>
        </p:nvSpPr>
        <p:spPr>
          <a:xfrm>
            <a:off x="548640" y="4480560"/>
            <a:ext cx="8046720" cy="365760"/>
          </a:xfrm>
          <a:prstGeom prst="rect">
            <a:avLst/>
          </a:prstGeom>
          <a:noFill/>
          <a:ln/>
        </p:spPr>
        <p:txBody>
          <a:bodyPr wrap="square" lIns="0" tIns="0" rIns="0" bIns="0" rtlCol="0" anchor="ctr"/>
          <a:lstStyle/>
          <a:p>
            <a:pPr indent="0" marL="0">
              <a:buNone/>
            </a:pPr>
            <a:r>
              <a:rPr lang="en-US" sz="1300" dirty="0">
                <a:solidFill>
                  <a:schemeClr val="bg1"/>
                </a:solidFill>
              </a:rPr>
              <a:t>Rachel Wondergem  ·  Wisdom in the Age of AI  ·  Calvin University  ·  October 8,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descr="/home/claude/slides/tmp/Egypt_Desert_2C_EDIT_EDIT_jpg.jpg">    </p:cNvPr>
          <p:cNvPicPr>
            <a:picLocks noChangeAspect="1"/>
          </p:cNvPicPr>
          <p:nvPr/>
        </p:nvPicPr>
        <p:blipFill>
          <a:blip r:embed="rId1"/>
          <a:stretch>
            <a:fillRect/>
          </a:stretch>
        </p:blipFill>
        <p:spPr>
          <a:xfrm>
            <a:off x="0" y="0"/>
            <a:ext cx="9144000" cy="5143500"/>
          </a:xfrm>
          <a:prstGeom prst="rect">
            <a:avLst/>
          </a:prstGeom>
        </p:spPr>
      </p:pic>
      <p:sp>
        <p:nvSpPr>
          <p:cNvPr id="3" name="caption"/>
          <p:cNvSpPr txBox="1"/>
          <p:nvPr/>
        </p:nvSpPr>
        <p:spPr>
          <a:xfrm>
            <a:off x="457200" y="4480560"/>
            <a:ext cx="8229600" cy="457200"/>
          </a:xfrm>
          <a:prstGeom prst="rect">
            <a:avLst/>
          </a:prstGeom>
          <a:noFill/>
          <a:ln/>
          <a:effectLst>
            <a:outerShdw sx="100000" sy="100000" kx="0" ky="0" algn="bl" rotWithShape="0" blurRad="76200" dist="12700" dir="2700000">
              <a:srgbClr val="000000">
                <a:alpha val="60000"/>
              </a:srgbClr>
            </a:outerShdw>
          </a:effectLst>
        </p:spPr>
        <p:txBody>
          <a:bodyPr wrap="square" lIns="0" tIns="0" rIns="0" bIns="0" rtlCol="0" anchor="ctr"/>
          <a:lstStyle/>
          <a:p>
            <a:pPr algn="l" indent="0" marL="0">
              <a:buNone/>
            </a:pPr>
            <a:r>
              <a:rPr lang="en-US" sz="2000" b="1" dirty="0">
                <a:solidFill>
                  <a:schemeClr val="bg1"/>
                </a:solidFill>
              </a:rPr>
              <a:t>Egypt, 1989. Exhibit A: the perm.</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map" descr="/home/claude/slides/photos/Illustrated Map from Giza Pyramids to Step Pyramids.png">    </p:cNvPr>
          <p:cNvPicPr>
            <a:picLocks noChangeAspect="1"/>
          </p:cNvPicPr>
          <p:nvPr/>
        </p:nvPicPr>
        <p:blipFill>
          <a:blip r:embed="rId1"/>
          <a:stretch>
            <a:fillRect/>
          </a:stretch>
        </p:blipFill>
        <p:spPr>
          <a:xfrm>
            <a:off x="502920" y="320040"/>
            <a:ext cx="8138160" cy="4572000"/>
          </a:xfrm>
          <a:prstGeom prst="rect">
            <a:avLst/>
          </a:prstGeom>
        </p:spPr>
      </p:pic>
      <p:sp>
        <p:nvSpPr>
          <p:cNvPr id="4"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endParaRPr lang="en-US" sz="3400" dirty="0"/>
          </a:p>
        </p:txBody>
      </p:sp>
      <p:sp>
        <p:nvSpPr>
          <p:cNvPr id="5"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to" descr="/home/claude/slides/tmp/Egypt_Desert_3_EDIT_2__jpg.jpg">    </p:cNvPr>
          <p:cNvPicPr>
            <a:picLocks noChangeAspect="1"/>
          </p:cNvPicPr>
          <p:nvPr/>
        </p:nvPicPr>
        <p:blipFill>
          <a:blip r:embed="rId1"/>
          <a:stretch>
            <a:fillRect/>
          </a:stretch>
        </p:blipFill>
        <p:spPr>
          <a:xfrm>
            <a:off x="0" y="0"/>
            <a:ext cx="9144000" cy="5143500"/>
          </a:xfrm>
          <a:prstGeom prst="rect">
            <a:avLst/>
          </a:prstGeom>
        </p:spPr>
      </p:pic>
      <p:sp>
        <p:nvSpPr>
          <p:cNvPr id="3" name="caption"/>
          <p:cNvSpPr txBox="1"/>
          <p:nvPr/>
        </p:nvSpPr>
        <p:spPr>
          <a:xfrm>
            <a:off x="457200" y="4480560"/>
            <a:ext cx="8229600" cy="457200"/>
          </a:xfrm>
          <a:prstGeom prst="rect">
            <a:avLst/>
          </a:prstGeom>
          <a:noFill/>
          <a:ln/>
          <a:effectLst>
            <a:outerShdw sx="100000" sy="100000" kx="0" ky="0" algn="bl" rotWithShape="0" blurRad="76200" dist="12700" dir="2700000">
              <a:srgbClr val="000000">
                <a:alpha val="60000"/>
              </a:srgbClr>
            </a:outerShdw>
          </a:effectLst>
        </p:spPr>
        <p:txBody>
          <a:bodyPr wrap="square" lIns="0" tIns="0" rIns="0" bIns="0" rtlCol="0" anchor="ctr"/>
          <a:lstStyle/>
          <a:p>
            <a:pPr algn="l" indent="0" marL="0">
              <a:buNone/>
            </a:pPr>
            <a:r>
              <a:rPr lang="en-US" sz="2000" b="1" dirty="0">
                <a:solidFill>
                  <a:schemeClr val="bg1"/>
                </a:solidFill>
              </a:rPr>
              <a:t>My guide. My horse. My first real ride.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hoto" descr="/home/claude/slides/tmp/Egypt_Desert_2D_jpg.jpg">    </p:cNvPr>
          <p:cNvPicPr>
            <a:picLocks noChangeAspect="1"/>
          </p:cNvPicPr>
          <p:nvPr/>
        </p:nvPicPr>
        <p:blipFill>
          <a:blip r:embed="rId1"/>
          <a:stretch>
            <a:fillRect/>
          </a:stretch>
        </p:blipFill>
        <p:spPr>
          <a:xfrm>
            <a:off x="0" y="0"/>
            <a:ext cx="9144000" cy="5143500"/>
          </a:xfrm>
          <a:prstGeom prst="rect">
            <a:avLst/>
          </a:prstGeom>
        </p:spPr>
      </p:pic>
      <p:sp>
        <p:nvSpPr>
          <p:cNvPr id="3" name="caption"/>
          <p:cNvSpPr txBox="1"/>
          <p:nvPr/>
        </p:nvSpPr>
        <p:spPr>
          <a:xfrm>
            <a:off x="457200" y="4434840"/>
            <a:ext cx="8229600" cy="457200"/>
          </a:xfrm>
          <a:prstGeom prst="rect">
            <a:avLst/>
          </a:prstGeom>
          <a:noFill/>
          <a:ln/>
          <a:effectLst>
            <a:outerShdw sx="100000" sy="100000" kx="0" ky="0" algn="bl" rotWithShape="0" blurRad="76200" dist="12700" dir="2700000">
              <a:srgbClr val="000000">
                <a:alpha val="60000"/>
              </a:srgbClr>
            </a:outerShdw>
          </a:effectLst>
        </p:spPr>
        <p:txBody>
          <a:bodyPr wrap="square" lIns="0" tIns="0" rIns="0" bIns="0" rtlCol="0" anchor="ctr"/>
          <a:lstStyle/>
          <a:p>
            <a:pPr algn="l" indent="0" marL="0">
              <a:buNone/>
            </a:pPr>
            <a:r>
              <a:rPr lang="en-US" sz="2000" b="1" dirty="0">
                <a:solidFill>
                  <a:schemeClr val="bg1"/>
                </a:solidFill>
              </a:rPr>
              <a:t>Over the dune.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line1"/>
          <p:cNvSpPr txBox="1"/>
          <p:nvPr/>
        </p:nvSpPr>
        <p:spPr>
          <a:xfrm>
            <a:off x="731520" y="1463040"/>
            <a:ext cx="7680960" cy="1005840"/>
          </a:xfrm>
          <a:prstGeom prst="rect">
            <a:avLst/>
          </a:prstGeom>
          <a:noFill/>
          <a:ln/>
        </p:spPr>
        <p:txBody>
          <a:bodyPr wrap="square" lIns="0" tIns="0" rIns="0" bIns="0" rtlCol="0" anchor="ctr"/>
          <a:lstStyle/>
          <a:p>
            <a:pPr indent="0" marL="0">
              <a:buNone/>
            </a:pPr>
            <a:r>
              <a:rPr lang="en-US" sz="3000" b="1" dirty="0">
                <a:solidFill>
                  <a:schemeClr val="bg1"/>
                </a:solidFill>
              </a:rPr>
              <a:t>My horse was already responding to the world that had arrived.</a:t>
            </a:r>
            <a:endParaRPr lang="en-US" sz="3000" dirty="0"/>
          </a:p>
        </p:txBody>
      </p:sp>
      <p:sp>
        <p:nvSpPr>
          <p:cNvPr id="3" name="line2"/>
          <p:cNvSpPr txBox="1"/>
          <p:nvPr/>
        </p:nvSpPr>
        <p:spPr>
          <a:xfrm>
            <a:off x="731520" y="2651760"/>
            <a:ext cx="7680960" cy="914400"/>
          </a:xfrm>
          <a:prstGeom prst="rect">
            <a:avLst/>
          </a:prstGeom>
          <a:noFill/>
          <a:ln/>
        </p:spPr>
        <p:txBody>
          <a:bodyPr wrap="square" lIns="0" tIns="0" rIns="0" bIns="0" rtlCol="0" anchor="ctr"/>
          <a:lstStyle/>
          <a:p>
            <a:pPr indent="0" marL="0">
              <a:buNone/>
            </a:pPr>
            <a:r>
              <a:rPr lang="en-US" sz="3000" i="1" dirty="0">
                <a:solidFill>
                  <a:schemeClr val="accent2"/>
                </a:solidFill>
              </a:rPr>
              <a:t>I was still riding through the world I expected.</a:t>
            </a:r>
            <a:endParaRPr lang="en-US" sz="3000" dirty="0"/>
          </a:p>
        </p:txBody>
      </p:sp>
      <p:sp>
        <p:nvSpPr>
          <p:cNvPr id="5"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endParaRPr lang="en-US" sz="3600" dirty="0"/>
          </a:p>
        </p:txBody>
      </p:sp>
      <p:sp>
        <p:nvSpPr>
          <p:cNvPr id="6"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q1"/>
          <p:cNvSpPr txBox="1"/>
          <p:nvPr/>
        </p:nvSpPr>
        <p:spPr>
          <a:xfrm>
            <a:off x="731520" y="1828800"/>
            <a:ext cx="7680960" cy="1280160"/>
          </a:xfrm>
          <a:prstGeom prst="rect">
            <a:avLst/>
          </a:prstGeom>
          <a:noFill/>
          <a:ln/>
        </p:spPr>
        <p:txBody>
          <a:bodyPr wrap="square" lIns="0" tIns="0" rIns="0" bIns="0" rtlCol="0" anchor="ctr"/>
          <a:lstStyle/>
          <a:p>
            <a:pPr algn="ctr" indent="0" marL="0">
              <a:buNone/>
            </a:pPr>
            <a:r>
              <a:rPr lang="en-US" sz="4000" b="1" dirty="0">
                <a:solidFill>
                  <a:schemeClr val="tx1"/>
                </a:solidFill>
              </a:rPr>
              <a:t>Which one of us acted more wisely?</a:t>
            </a:r>
            <a:endParaRPr lang="en-US" sz="4000" dirty="0"/>
          </a:p>
        </p:txBody>
      </p:sp>
      <p:sp>
        <p:nvSpPr>
          <p:cNvPr id="4"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endParaRPr lang="en-US" sz="3400" dirty="0"/>
          </a:p>
        </p:txBody>
      </p:sp>
      <p:sp>
        <p:nvSpPr>
          <p:cNvPr id="5"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q-old"/>
          <p:cNvSpPr txBox="1"/>
          <p:nvPr/>
        </p:nvSpPr>
        <p:spPr>
          <a:xfrm>
            <a:off x="731520" y="1554480"/>
            <a:ext cx="7680960" cy="731520"/>
          </a:xfrm>
          <a:prstGeom prst="rect">
            <a:avLst/>
          </a:prstGeom>
          <a:noFill/>
          <a:ln/>
        </p:spPr>
        <p:txBody>
          <a:bodyPr wrap="square" lIns="0" tIns="0" rIns="0" bIns="0" rtlCol="0" anchor="ctr"/>
          <a:lstStyle/>
          <a:p>
            <a:pPr algn="ctr" indent="0" marL="0">
              <a:buNone/>
            </a:pPr>
            <a:r>
              <a:rPr lang="en-US" sz="2600" dirty="0">
                <a:solidFill>
                  <a:srgbClr val="B9C1D0"/>
                </a:solidFill>
              </a:rPr>
              <a:t>Not: can a machine be wise?</a:t>
            </a:r>
            <a:endParaRPr lang="en-US" sz="2600" dirty="0"/>
          </a:p>
        </p:txBody>
      </p:sp>
      <p:sp>
        <p:nvSpPr>
          <p:cNvPr id="3" name="q-new"/>
          <p:cNvSpPr txBox="1"/>
          <p:nvPr/>
        </p:nvSpPr>
        <p:spPr>
          <a:xfrm>
            <a:off x="731520" y="2377440"/>
            <a:ext cx="7680960" cy="1280160"/>
          </a:xfrm>
          <a:prstGeom prst="rect">
            <a:avLst/>
          </a:prstGeom>
          <a:noFill/>
          <a:ln/>
        </p:spPr>
        <p:txBody>
          <a:bodyPr wrap="square" lIns="0" tIns="0" rIns="0" bIns="0" rtlCol="0" anchor="t"/>
          <a:lstStyle/>
          <a:p>
            <a:pPr algn="ctr" indent="0" marL="0">
              <a:buNone/>
            </a:pPr>
            <a:r>
              <a:rPr lang="en-US" sz="3800" b="1" dirty="0">
                <a:solidFill>
                  <a:schemeClr val="bg1"/>
                </a:solidFill>
              </a:rPr>
              <a:t>What does it take for any agent to act wisely?</a:t>
            </a:r>
            <a:endParaRPr lang="en-US" sz="3800" dirty="0"/>
          </a:p>
        </p:txBody>
      </p:sp>
      <p:sp>
        <p:nvSpPr>
          <p:cNvPr id="5"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endParaRPr lang="en-US" sz="3600" dirty="0"/>
          </a:p>
        </p:txBody>
      </p:sp>
      <p:sp>
        <p:nvSpPr>
          <p:cNvPr id="6"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yramids photo" descr="/home/claude/slides/tmp/maat.jpg">    </p:cNvPr>
          <p:cNvPicPr>
            <a:picLocks noChangeAspect="1"/>
          </p:cNvPicPr>
          <p:nvPr/>
        </p:nvPicPr>
        <p:blipFill>
          <a:blip r:embed="rId1">
            <a:alphaModFix amt="45000"/>
          </a:blip>
          <a:stretch>
            <a:fillRect/>
          </a:stretch>
        </p:blipFill>
        <p:spPr>
          <a:xfrm>
            <a:off x="0" y="0"/>
            <a:ext cx="9144000" cy="5143500"/>
          </a:xfrm>
          <a:prstGeom prst="rect">
            <a:avLst/>
          </a:prstGeom>
        </p:spPr>
      </p:pic>
      <p:sp>
        <p:nvSpPr>
          <p:cNvPr id="3" name="tint"/>
          <p:cNvSpPr/>
          <p:nvPr/>
        </p:nvSpPr>
        <p:spPr>
          <a:xfrm>
            <a:off x="0" y="0"/>
            <a:ext cx="9144000" cy="5143500"/>
          </a:xfrm>
          <a:prstGeom prst="rect">
            <a:avLst/>
          </a:prstGeom>
          <a:solidFill>
            <a:srgbClr val="1C2333">
              <a:alpha val="55000"/>
            </a:srgbClr>
          </a:solidFill>
          <a:ln w="12700">
            <a:solidFill>
              <a:srgbClr val="1C2333">
                <a:alpha val="0"/>
              </a:srgbClr>
            </a:solidFill>
            <a:prstDash val="solid"/>
          </a:ln>
        </p:spPr>
      </p:sp>
      <p:sp>
        <p:nvSpPr>
          <p:cNvPr id="4" name="maat"/>
          <p:cNvSpPr txBox="1"/>
          <p:nvPr/>
        </p:nvSpPr>
        <p:spPr>
          <a:xfrm>
            <a:off x="731520" y="1188720"/>
            <a:ext cx="7680960" cy="1005840"/>
          </a:xfrm>
          <a:prstGeom prst="rect">
            <a:avLst/>
          </a:prstGeom>
          <a:noFill/>
          <a:ln/>
        </p:spPr>
        <p:txBody>
          <a:bodyPr wrap="square" lIns="0" tIns="0" rIns="0" bIns="0" rtlCol="0" anchor="ctr"/>
          <a:lstStyle/>
          <a:p>
            <a:pPr indent="0" marL="0">
              <a:buNone/>
            </a:pPr>
            <a:r>
              <a:rPr lang="en-US" sz="5400" b="1" dirty="0">
                <a:solidFill>
                  <a:schemeClr val="bg1"/>
                </a:solidFill>
              </a:rPr>
              <a:t>Maʾat</a:t>
            </a:r>
            <a:endParaRPr lang="en-US" sz="5400" dirty="0"/>
          </a:p>
        </p:txBody>
      </p:sp>
      <p:sp>
        <p:nvSpPr>
          <p:cNvPr id="5" name="gloss"/>
          <p:cNvSpPr txBox="1"/>
          <p:nvPr/>
        </p:nvSpPr>
        <p:spPr>
          <a:xfrm>
            <a:off x="731520" y="2240280"/>
            <a:ext cx="7680960" cy="914400"/>
          </a:xfrm>
          <a:prstGeom prst="rect">
            <a:avLst/>
          </a:prstGeom>
          <a:noFill/>
          <a:ln/>
        </p:spPr>
        <p:txBody>
          <a:bodyPr wrap="square" lIns="0" tIns="0" rIns="0" bIns="0" rtlCol="0" anchor="ctr"/>
          <a:lstStyle/>
          <a:p>
            <a:pPr indent="0" marL="0">
              <a:buNone/>
            </a:pPr>
            <a:r>
              <a:rPr lang="en-US" sz="2200" i="1" dirty="0">
                <a:solidFill>
                  <a:schemeClr val="accent2"/>
                </a:solidFill>
              </a:rPr>
              <a:t>the order woven into the world at its making — the way things are meant to fit together</a:t>
            </a:r>
            <a:endParaRPr lang="en-US" sz="2200" dirty="0"/>
          </a:p>
        </p:txBody>
      </p:sp>
      <p:sp>
        <p:nvSpPr>
          <p:cNvPr id="6" name="line"/>
          <p:cNvSpPr txBox="1"/>
          <p:nvPr/>
        </p:nvSpPr>
        <p:spPr>
          <a:xfrm>
            <a:off x="731520" y="3291840"/>
            <a:ext cx="7680960" cy="548640"/>
          </a:xfrm>
          <a:prstGeom prst="rect">
            <a:avLst/>
          </a:prstGeom>
          <a:noFill/>
          <a:ln/>
        </p:spPr>
        <p:txBody>
          <a:bodyPr wrap="square" lIns="0" tIns="0" rIns="0" bIns="0" rtlCol="0" anchor="ctr"/>
          <a:lstStyle/>
          <a:p>
            <a:pPr indent="0" marL="0">
              <a:buNone/>
            </a:pPr>
            <a:r>
              <a:rPr lang="en-US" sz="2000" dirty="0">
                <a:solidFill>
                  <a:schemeClr val="bg1"/>
                </a:solidFill>
              </a:rPr>
              <a:t>To live wisely was to live in alignment with the order of things.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The traditions accumulate</a:t>
            </a:r>
            <a:endParaRPr lang="en-US" sz="3400" dirty="0"/>
          </a:p>
        </p:txBody>
      </p:sp>
      <p:sp>
        <p:nvSpPr>
          <p:cNvPr id="3" name="dot 0"/>
          <p:cNvSpPr/>
          <p:nvPr/>
        </p:nvSpPr>
        <p:spPr>
          <a:xfrm>
            <a:off x="548640" y="1389888"/>
            <a:ext cx="274320" cy="274320"/>
          </a:xfrm>
          <a:prstGeom prst="ellipse">
            <a:avLst/>
          </a:prstGeom>
          <a:solidFill>
            <a:srgbClr val="B8743A"/>
          </a:solidFill>
          <a:ln w="12700">
            <a:solidFill>
              <a:srgbClr val="B8743A"/>
            </a:solidFill>
            <a:prstDash val="solid"/>
          </a:ln>
        </p:spPr>
      </p:sp>
      <p:sp>
        <p:nvSpPr>
          <p:cNvPr id="4" name="trad 0"/>
          <p:cNvSpPr txBox="1"/>
          <p:nvPr/>
        </p:nvSpPr>
        <p:spPr>
          <a:xfrm>
            <a:off x="960120" y="1325880"/>
            <a:ext cx="2286000" cy="411480"/>
          </a:xfrm>
          <a:prstGeom prst="rect">
            <a:avLst/>
          </a:prstGeom>
          <a:noFill/>
          <a:ln/>
        </p:spPr>
        <p:txBody>
          <a:bodyPr wrap="square" lIns="0" tIns="0" rIns="0" bIns="0" rtlCol="0" anchor="ctr"/>
          <a:lstStyle/>
          <a:p>
            <a:pPr indent="0" marL="0">
              <a:buNone/>
            </a:pPr>
            <a:r>
              <a:rPr lang="en-US" sz="1700" b="1" dirty="0">
                <a:solidFill>
                  <a:schemeClr val="tx1"/>
                </a:solidFill>
              </a:rPr>
              <a:t>Egypt</a:t>
            </a:r>
            <a:endParaRPr lang="en-US" sz="1700" dirty="0"/>
          </a:p>
        </p:txBody>
      </p:sp>
      <p:sp>
        <p:nvSpPr>
          <p:cNvPr id="5" name="trad gloss 0"/>
          <p:cNvSpPr txBox="1"/>
          <p:nvPr/>
        </p:nvSpPr>
        <p:spPr>
          <a:xfrm>
            <a:off x="3246120" y="1325880"/>
            <a:ext cx="5394960" cy="411480"/>
          </a:xfrm>
          <a:prstGeom prst="rect">
            <a:avLst/>
          </a:prstGeom>
          <a:noFill/>
          <a:ln/>
        </p:spPr>
        <p:txBody>
          <a:bodyPr wrap="square" lIns="0" tIns="0" rIns="0" bIns="0" rtlCol="0" anchor="ctr"/>
          <a:lstStyle/>
          <a:p>
            <a:pPr indent="0" marL="0">
              <a:buNone/>
            </a:pPr>
            <a:r>
              <a:rPr lang="en-US" sz="1500" dirty="0">
                <a:solidFill>
                  <a:schemeClr val="tx2"/>
                </a:solidFill>
              </a:rPr>
              <a:t>Maʾat — living in alignment with the order of things</a:t>
            </a:r>
            <a:endParaRPr lang="en-US" sz="1500" dirty="0"/>
          </a:p>
        </p:txBody>
      </p:sp>
      <p:sp>
        <p:nvSpPr>
          <p:cNvPr id="6" name="dot 1"/>
          <p:cNvSpPr/>
          <p:nvPr/>
        </p:nvSpPr>
        <p:spPr>
          <a:xfrm>
            <a:off x="548640" y="1938528"/>
            <a:ext cx="274320" cy="274320"/>
          </a:xfrm>
          <a:prstGeom prst="ellipse">
            <a:avLst/>
          </a:prstGeom>
          <a:solidFill>
            <a:srgbClr val="B8743A"/>
          </a:solidFill>
          <a:ln w="12700">
            <a:solidFill>
              <a:srgbClr val="B8743A"/>
            </a:solidFill>
            <a:prstDash val="solid"/>
          </a:ln>
        </p:spPr>
      </p:sp>
      <p:sp>
        <p:nvSpPr>
          <p:cNvPr id="7" name="trad 1"/>
          <p:cNvSpPr txBox="1"/>
          <p:nvPr/>
        </p:nvSpPr>
        <p:spPr>
          <a:xfrm>
            <a:off x="960120" y="1874520"/>
            <a:ext cx="2286000" cy="411480"/>
          </a:xfrm>
          <a:prstGeom prst="rect">
            <a:avLst/>
          </a:prstGeom>
          <a:noFill/>
          <a:ln/>
        </p:spPr>
        <p:txBody>
          <a:bodyPr wrap="square" lIns="0" tIns="0" rIns="0" bIns="0" rtlCol="0" anchor="ctr"/>
          <a:lstStyle/>
          <a:p>
            <a:pPr indent="0" marL="0">
              <a:buNone/>
            </a:pPr>
            <a:r>
              <a:rPr lang="en-US" sz="1700" b="1" dirty="0">
                <a:solidFill>
                  <a:schemeClr val="tx1"/>
                </a:solidFill>
              </a:rPr>
              <a:t>Hebrew scriptures</a:t>
            </a:r>
            <a:endParaRPr lang="en-US" sz="1700" dirty="0"/>
          </a:p>
        </p:txBody>
      </p:sp>
      <p:sp>
        <p:nvSpPr>
          <p:cNvPr id="8" name="trad gloss 1"/>
          <p:cNvSpPr txBox="1"/>
          <p:nvPr/>
        </p:nvSpPr>
        <p:spPr>
          <a:xfrm>
            <a:off x="3246120" y="1874520"/>
            <a:ext cx="5394960" cy="411480"/>
          </a:xfrm>
          <a:prstGeom prst="rect">
            <a:avLst/>
          </a:prstGeom>
          <a:noFill/>
          <a:ln/>
        </p:spPr>
        <p:txBody>
          <a:bodyPr wrap="square" lIns="0" tIns="0" rIns="0" bIns="0" rtlCol="0" anchor="ctr"/>
          <a:lstStyle/>
          <a:p>
            <a:pPr indent="0" marL="0">
              <a:buNone/>
            </a:pPr>
            <a:r>
              <a:rPr lang="en-US" sz="1500" dirty="0">
                <a:solidFill>
                  <a:schemeClr val="tx2"/>
                </a:solidFill>
              </a:rPr>
              <a:t>skillful living, in right relationship with God, creation, and neighbor</a:t>
            </a:r>
            <a:endParaRPr lang="en-US" sz="1500" dirty="0"/>
          </a:p>
        </p:txBody>
      </p:sp>
      <p:sp>
        <p:nvSpPr>
          <p:cNvPr id="9" name="dot 2"/>
          <p:cNvSpPr/>
          <p:nvPr/>
        </p:nvSpPr>
        <p:spPr>
          <a:xfrm>
            <a:off x="548640" y="2487168"/>
            <a:ext cx="274320" cy="274320"/>
          </a:xfrm>
          <a:prstGeom prst="ellipse">
            <a:avLst/>
          </a:prstGeom>
          <a:solidFill>
            <a:srgbClr val="B8743A"/>
          </a:solidFill>
          <a:ln w="12700">
            <a:solidFill>
              <a:srgbClr val="B8743A"/>
            </a:solidFill>
            <a:prstDash val="solid"/>
          </a:ln>
        </p:spPr>
      </p:sp>
      <p:sp>
        <p:nvSpPr>
          <p:cNvPr id="10" name="trad 2"/>
          <p:cNvSpPr txBox="1"/>
          <p:nvPr/>
        </p:nvSpPr>
        <p:spPr>
          <a:xfrm>
            <a:off x="960120" y="2423160"/>
            <a:ext cx="2286000" cy="411480"/>
          </a:xfrm>
          <a:prstGeom prst="rect">
            <a:avLst/>
          </a:prstGeom>
          <a:noFill/>
          <a:ln/>
        </p:spPr>
        <p:txBody>
          <a:bodyPr wrap="square" lIns="0" tIns="0" rIns="0" bIns="0" rtlCol="0" anchor="ctr"/>
          <a:lstStyle/>
          <a:p>
            <a:pPr indent="0" marL="0">
              <a:buNone/>
            </a:pPr>
            <a:r>
              <a:rPr lang="en-US" sz="1700" b="1" dirty="0">
                <a:solidFill>
                  <a:schemeClr val="tx1"/>
                </a:solidFill>
              </a:rPr>
              <a:t>The Greeks</a:t>
            </a:r>
            <a:endParaRPr lang="en-US" sz="1700" dirty="0"/>
          </a:p>
        </p:txBody>
      </p:sp>
      <p:sp>
        <p:nvSpPr>
          <p:cNvPr id="11" name="trad gloss 2"/>
          <p:cNvSpPr txBox="1"/>
          <p:nvPr/>
        </p:nvSpPr>
        <p:spPr>
          <a:xfrm>
            <a:off x="3246120" y="2423160"/>
            <a:ext cx="5394960" cy="411480"/>
          </a:xfrm>
          <a:prstGeom prst="rect">
            <a:avLst/>
          </a:prstGeom>
          <a:noFill/>
          <a:ln/>
        </p:spPr>
        <p:txBody>
          <a:bodyPr wrap="square" lIns="0" tIns="0" rIns="0" bIns="0" rtlCol="0" anchor="ctr"/>
          <a:lstStyle/>
          <a:p>
            <a:pPr indent="0" marL="0">
              <a:buNone/>
            </a:pPr>
            <a:r>
              <a:rPr lang="en-US" sz="1500" dirty="0">
                <a:solidFill>
                  <a:schemeClr val="tx2"/>
                </a:solidFill>
              </a:rPr>
              <a:t>living in accord with the rational order woven through the world</a:t>
            </a:r>
            <a:endParaRPr lang="en-US" sz="1500" dirty="0"/>
          </a:p>
        </p:txBody>
      </p:sp>
      <p:sp>
        <p:nvSpPr>
          <p:cNvPr id="12" name="dot 3"/>
          <p:cNvSpPr/>
          <p:nvPr/>
        </p:nvSpPr>
        <p:spPr>
          <a:xfrm>
            <a:off x="548640" y="3035808"/>
            <a:ext cx="274320" cy="274320"/>
          </a:xfrm>
          <a:prstGeom prst="ellipse">
            <a:avLst/>
          </a:prstGeom>
          <a:solidFill>
            <a:srgbClr val="B8743A"/>
          </a:solidFill>
          <a:ln w="12700">
            <a:solidFill>
              <a:srgbClr val="B8743A"/>
            </a:solidFill>
            <a:prstDash val="solid"/>
          </a:ln>
        </p:spPr>
      </p:sp>
      <p:sp>
        <p:nvSpPr>
          <p:cNvPr id="13" name="trad 3"/>
          <p:cNvSpPr txBox="1"/>
          <p:nvPr/>
        </p:nvSpPr>
        <p:spPr>
          <a:xfrm>
            <a:off x="960120" y="2971800"/>
            <a:ext cx="2286000" cy="411480"/>
          </a:xfrm>
          <a:prstGeom prst="rect">
            <a:avLst/>
          </a:prstGeom>
          <a:noFill/>
          <a:ln/>
        </p:spPr>
        <p:txBody>
          <a:bodyPr wrap="square" lIns="0" tIns="0" rIns="0" bIns="0" rtlCol="0" anchor="ctr"/>
          <a:lstStyle/>
          <a:p>
            <a:pPr indent="0" marL="0">
              <a:buNone/>
            </a:pPr>
            <a:r>
              <a:rPr lang="en-US" sz="1700" b="1" dirty="0">
                <a:solidFill>
                  <a:schemeClr val="tx1"/>
                </a:solidFill>
              </a:rPr>
              <a:t>Buddhist traditions</a:t>
            </a:r>
            <a:endParaRPr lang="en-US" sz="1700" dirty="0"/>
          </a:p>
        </p:txBody>
      </p:sp>
      <p:sp>
        <p:nvSpPr>
          <p:cNvPr id="14" name="trad gloss 3"/>
          <p:cNvSpPr txBox="1"/>
          <p:nvPr/>
        </p:nvSpPr>
        <p:spPr>
          <a:xfrm>
            <a:off x="3246120" y="2971800"/>
            <a:ext cx="5394960" cy="411480"/>
          </a:xfrm>
          <a:prstGeom prst="rect">
            <a:avLst/>
          </a:prstGeom>
          <a:noFill/>
          <a:ln/>
        </p:spPr>
        <p:txBody>
          <a:bodyPr wrap="square" lIns="0" tIns="0" rIns="0" bIns="0" rtlCol="0" anchor="ctr"/>
          <a:lstStyle/>
          <a:p>
            <a:pPr indent="0" marL="0">
              <a:buNone/>
            </a:pPr>
            <a:r>
              <a:rPr lang="en-US" sz="1500" dirty="0">
                <a:solidFill>
                  <a:schemeClr val="tx2"/>
                </a:solidFill>
              </a:rPr>
              <a:t>seeing reality clearly enough to live free of illusion</a:t>
            </a:r>
            <a:endParaRPr lang="en-US" sz="1500" dirty="0"/>
          </a:p>
        </p:txBody>
      </p:sp>
      <p:sp>
        <p:nvSpPr>
          <p:cNvPr id="15" name="dot 4"/>
          <p:cNvSpPr/>
          <p:nvPr/>
        </p:nvSpPr>
        <p:spPr>
          <a:xfrm>
            <a:off x="548640" y="3584448"/>
            <a:ext cx="274320" cy="274320"/>
          </a:xfrm>
          <a:prstGeom prst="ellipse">
            <a:avLst/>
          </a:prstGeom>
          <a:solidFill>
            <a:srgbClr val="B8743A"/>
          </a:solidFill>
          <a:ln w="12700">
            <a:solidFill>
              <a:srgbClr val="B8743A"/>
            </a:solidFill>
            <a:prstDash val="solid"/>
          </a:ln>
        </p:spPr>
      </p:sp>
      <p:sp>
        <p:nvSpPr>
          <p:cNvPr id="16" name="trad 4"/>
          <p:cNvSpPr txBox="1"/>
          <p:nvPr/>
        </p:nvSpPr>
        <p:spPr>
          <a:xfrm>
            <a:off x="960120" y="3520440"/>
            <a:ext cx="2286000" cy="411480"/>
          </a:xfrm>
          <a:prstGeom prst="rect">
            <a:avLst/>
          </a:prstGeom>
          <a:noFill/>
          <a:ln/>
        </p:spPr>
        <p:txBody>
          <a:bodyPr wrap="square" lIns="0" tIns="0" rIns="0" bIns="0" rtlCol="0" anchor="ctr"/>
          <a:lstStyle/>
          <a:p>
            <a:pPr indent="0" marL="0">
              <a:buNone/>
            </a:pPr>
            <a:r>
              <a:rPr lang="en-US" sz="1700" b="1" dirty="0">
                <a:solidFill>
                  <a:schemeClr val="tx1"/>
                </a:solidFill>
              </a:rPr>
              <a:t>Confucian thought</a:t>
            </a:r>
            <a:endParaRPr lang="en-US" sz="1700" dirty="0"/>
          </a:p>
        </p:txBody>
      </p:sp>
      <p:sp>
        <p:nvSpPr>
          <p:cNvPr id="17" name="trad gloss 4"/>
          <p:cNvSpPr txBox="1"/>
          <p:nvPr/>
        </p:nvSpPr>
        <p:spPr>
          <a:xfrm>
            <a:off x="3246120" y="3520440"/>
            <a:ext cx="5394960" cy="411480"/>
          </a:xfrm>
          <a:prstGeom prst="rect">
            <a:avLst/>
          </a:prstGeom>
          <a:noFill/>
          <a:ln/>
        </p:spPr>
        <p:txBody>
          <a:bodyPr wrap="square" lIns="0" tIns="0" rIns="0" bIns="0" rtlCol="0" anchor="ctr"/>
          <a:lstStyle/>
          <a:p>
            <a:pPr indent="0" marL="0">
              <a:buNone/>
            </a:pPr>
            <a:r>
              <a:rPr lang="en-US" sz="1500" dirty="0">
                <a:solidFill>
                  <a:schemeClr val="tx2"/>
                </a:solidFill>
              </a:rPr>
              <a:t>knowing what is right within relationships, and acting with care</a:t>
            </a:r>
            <a:endParaRPr lang="en-US" sz="1500" dirty="0"/>
          </a:p>
        </p:txBody>
      </p:sp>
      <p:sp>
        <p:nvSpPr>
          <p:cNvPr id="18" name="structure"/>
          <p:cNvSpPr txBox="1"/>
          <p:nvPr/>
        </p:nvSpPr>
        <p:spPr>
          <a:xfrm>
            <a:off x="548640" y="4206240"/>
            <a:ext cx="8046720" cy="548640"/>
          </a:xfrm>
          <a:prstGeom prst="rect">
            <a:avLst/>
          </a:prstGeom>
          <a:noFill/>
          <a:ln/>
        </p:spPr>
        <p:txBody>
          <a:bodyPr wrap="square" lIns="0" tIns="0" rIns="0" bIns="0" rtlCol="0" anchor="ctr"/>
          <a:lstStyle/>
          <a:p>
            <a:pPr indent="0" marL="0">
              <a:buNone/>
            </a:pPr>
            <a:r>
              <a:rPr lang="en-US" sz="1400" i="1" dirty="0">
                <a:solidFill>
                  <a:schemeClr val="accent1"/>
                </a:solidFill>
              </a:rPr>
              <a:t>reality has an order  ·  we have a place in it  ·  wisdom is perceiving it truly and acting in alignment with it</a:t>
            </a:r>
            <a:endParaRPr lang="en-US" sz="1400" dirty="0"/>
          </a:p>
        </p:txBody>
      </p:sp>
      <p:sp>
        <p:nvSpPr>
          <p:cNvPr id="20"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r>
              <a:rPr lang="en-US" sz="3600" b="1" dirty="0">
                <a:solidFill>
                  <a:schemeClr val="bg1"/>
                </a:solidFill>
              </a:rPr>
              <a:t>Wisdom</a:t>
            </a:r>
            <a:endParaRPr lang="en-US" sz="3600" dirty="0"/>
          </a:p>
        </p:txBody>
      </p:sp>
      <p:sp>
        <p:nvSpPr>
          <p:cNvPr id="3" name="definition"/>
          <p:cNvSpPr txBox="1"/>
          <p:nvPr/>
        </p:nvSpPr>
        <p:spPr>
          <a:xfrm>
            <a:off x="548640" y="1371600"/>
            <a:ext cx="8046720" cy="1828800"/>
          </a:xfrm>
          <a:prstGeom prst="rect">
            <a:avLst/>
          </a:prstGeom>
          <a:noFill/>
          <a:ln/>
        </p:spPr>
        <p:txBody>
          <a:bodyPr wrap="square" lIns="0" tIns="0" rIns="0" bIns="0" rtlCol="0" anchor="t"/>
          <a:lstStyle/>
          <a:p>
            <a:pPr indent="0" marL="0">
              <a:buNone/>
            </a:pPr>
            <a:r>
              <a:rPr lang="en-US" sz="2800" dirty="0">
                <a:solidFill>
                  <a:schemeClr val="bg1"/>
                </a:solidFill>
              </a:rPr>
              <a:t>is a </a:t>
            </a:r>
            <a:pPr indent="0" marL="0">
              <a:buNone/>
            </a:pPr>
            <a:r>
              <a:rPr lang="en-US" sz="2800" b="1" dirty="0">
                <a:solidFill>
                  <a:schemeClr val="accent2"/>
                </a:solidFill>
              </a:rPr>
              <a:t>faithful relationship</a:t>
            </a:r>
            <a:pPr indent="0" marL="0">
              <a:buNone/>
            </a:pPr>
            <a:r>
              <a:rPr lang="en-US" sz="2800" dirty="0">
                <a:solidFill>
                  <a:schemeClr val="bg1"/>
                </a:solidFill>
              </a:rPr>
              <a:t> with reality — </a:t>
            </a:r>
            <a:pPr indent="0" marL="0">
              <a:buNone/>
            </a:pPr>
            <a:r>
              <a:rPr lang="en-US" sz="2800" b="1" dirty="0">
                <a:solidFill>
                  <a:schemeClr val="accent2"/>
                </a:solidFill>
              </a:rPr>
              <a:t>understanding it completely</a:t>
            </a:r>
            <a:pPr indent="0" marL="0">
              <a:buNone/>
            </a:pPr>
            <a:r>
              <a:rPr lang="en-US" sz="2800" dirty="0">
                <a:solidFill>
                  <a:schemeClr val="bg1"/>
                </a:solidFill>
              </a:rPr>
              <a:t>, knowing our place within it, and </a:t>
            </a:r>
            <a:pPr indent="0" marL="0">
              <a:buNone/>
            </a:pPr>
            <a:r>
              <a:rPr lang="en-US" sz="2800" b="1" dirty="0">
                <a:solidFill>
                  <a:schemeClr val="accent2"/>
                </a:solidFill>
              </a:rPr>
              <a:t>acting</a:t>
            </a:r>
            <a:pPr indent="0" marL="0">
              <a:buNone/>
            </a:pPr>
            <a:r>
              <a:rPr lang="en-US" sz="2800" dirty="0">
                <a:solidFill>
                  <a:schemeClr val="bg1"/>
                </a:solidFill>
              </a:rPr>
              <a:t> in alignment with it.</a:t>
            </a:r>
            <a:endParaRPr lang="en-US" sz="2800" dirty="0"/>
          </a:p>
        </p:txBody>
      </p:sp>
      <p:sp>
        <p:nvSpPr>
          <p:cNvPr id="4" name="num 0"/>
          <p:cNvSpPr txBox="1"/>
          <p:nvPr/>
        </p:nvSpPr>
        <p:spPr>
          <a:xfrm>
            <a:off x="548640" y="342900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1</a:t>
            </a:r>
            <a:endParaRPr lang="en-US" sz="2600" dirty="0"/>
          </a:p>
        </p:txBody>
      </p:sp>
      <p:sp>
        <p:nvSpPr>
          <p:cNvPr id="5" name="head 0"/>
          <p:cNvSpPr txBox="1"/>
          <p:nvPr/>
        </p:nvSpPr>
        <p:spPr>
          <a:xfrm>
            <a:off x="1005840" y="3456432"/>
            <a:ext cx="2103120" cy="411480"/>
          </a:xfrm>
          <a:prstGeom prst="rect">
            <a:avLst/>
          </a:prstGeom>
          <a:noFill/>
          <a:ln/>
        </p:spPr>
        <p:txBody>
          <a:bodyPr wrap="square" lIns="0" tIns="0" rIns="0" bIns="0" rtlCol="0" anchor="ctr"/>
          <a:lstStyle/>
          <a:p>
            <a:pPr indent="0" marL="0">
              <a:buNone/>
            </a:pPr>
            <a:r>
              <a:rPr lang="en-US" sz="1600" b="1" dirty="0">
                <a:solidFill>
                  <a:schemeClr val="bg1"/>
                </a:solidFill>
              </a:rPr>
              <a:t>faithful relationship</a:t>
            </a:r>
            <a:endParaRPr lang="en-US" sz="1600" dirty="0"/>
          </a:p>
        </p:txBody>
      </p:sp>
      <p:sp>
        <p:nvSpPr>
          <p:cNvPr id="6" name="desc 0"/>
          <p:cNvSpPr txBox="1"/>
          <p:nvPr/>
        </p:nvSpPr>
        <p:spPr>
          <a:xfrm>
            <a:off x="1005840" y="3840480"/>
            <a:ext cx="2103120" cy="731520"/>
          </a:xfrm>
          <a:prstGeom prst="rect">
            <a:avLst/>
          </a:prstGeom>
          <a:noFill/>
          <a:ln/>
        </p:spPr>
        <p:txBody>
          <a:bodyPr wrap="square" lIns="0" tIns="0" rIns="0" bIns="0" rtlCol="0" anchor="t"/>
          <a:lstStyle/>
          <a:p>
            <a:pPr indent="0" marL="0">
              <a:buNone/>
            </a:pPr>
            <a:r>
              <a:rPr lang="en-US" sz="1300" dirty="0">
                <a:solidFill>
                  <a:srgbClr val="B9C1D0"/>
                </a:solidFill>
              </a:rPr>
              <a:t>reality forms us; we shape reality</a:t>
            </a:r>
            <a:endParaRPr lang="en-US" sz="1300" dirty="0"/>
          </a:p>
        </p:txBody>
      </p:sp>
      <p:sp>
        <p:nvSpPr>
          <p:cNvPr id="7" name="num 1"/>
          <p:cNvSpPr txBox="1"/>
          <p:nvPr/>
        </p:nvSpPr>
        <p:spPr>
          <a:xfrm>
            <a:off x="3246120" y="342900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2</a:t>
            </a:r>
            <a:endParaRPr lang="en-US" sz="2600" dirty="0"/>
          </a:p>
        </p:txBody>
      </p:sp>
      <p:sp>
        <p:nvSpPr>
          <p:cNvPr id="8" name="head 1"/>
          <p:cNvSpPr txBox="1"/>
          <p:nvPr/>
        </p:nvSpPr>
        <p:spPr>
          <a:xfrm>
            <a:off x="3703320" y="3456432"/>
            <a:ext cx="2103120" cy="411480"/>
          </a:xfrm>
          <a:prstGeom prst="rect">
            <a:avLst/>
          </a:prstGeom>
          <a:noFill/>
          <a:ln/>
        </p:spPr>
        <p:txBody>
          <a:bodyPr wrap="square" lIns="0" tIns="0" rIns="0" bIns="0" rtlCol="0" anchor="ctr"/>
          <a:lstStyle/>
          <a:p>
            <a:pPr indent="0" marL="0">
              <a:buNone/>
            </a:pPr>
            <a:r>
              <a:rPr lang="en-US" sz="1600" b="1" dirty="0">
                <a:solidFill>
                  <a:schemeClr val="bg1"/>
                </a:solidFill>
              </a:rPr>
              <a:t>complete understanding</a:t>
            </a:r>
            <a:endParaRPr lang="en-US" sz="1600" dirty="0"/>
          </a:p>
        </p:txBody>
      </p:sp>
      <p:sp>
        <p:nvSpPr>
          <p:cNvPr id="9" name="desc 1"/>
          <p:cNvSpPr txBox="1"/>
          <p:nvPr/>
        </p:nvSpPr>
        <p:spPr>
          <a:xfrm>
            <a:off x="3703320" y="3840480"/>
            <a:ext cx="2103120" cy="731520"/>
          </a:xfrm>
          <a:prstGeom prst="rect">
            <a:avLst/>
          </a:prstGeom>
          <a:noFill/>
          <a:ln/>
        </p:spPr>
        <p:txBody>
          <a:bodyPr wrap="square" lIns="0" tIns="0" rIns="0" bIns="0" rtlCol="0" anchor="t"/>
          <a:lstStyle/>
          <a:p>
            <a:pPr indent="0" marL="0">
              <a:buNone/>
            </a:pPr>
            <a:r>
              <a:rPr lang="en-US" sz="1300" dirty="0">
                <a:solidFill>
                  <a:srgbClr val="B9C1D0"/>
                </a:solidFill>
              </a:rPr>
              <a:t>only God has it — because he made it</a:t>
            </a:r>
            <a:endParaRPr lang="en-US" sz="1300" dirty="0"/>
          </a:p>
        </p:txBody>
      </p:sp>
      <p:sp>
        <p:nvSpPr>
          <p:cNvPr id="10" name="num 2"/>
          <p:cNvSpPr txBox="1"/>
          <p:nvPr/>
        </p:nvSpPr>
        <p:spPr>
          <a:xfrm>
            <a:off x="5943600" y="342900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3</a:t>
            </a:r>
            <a:endParaRPr lang="en-US" sz="2600" dirty="0"/>
          </a:p>
        </p:txBody>
      </p:sp>
      <p:sp>
        <p:nvSpPr>
          <p:cNvPr id="11" name="head 2"/>
          <p:cNvSpPr txBox="1"/>
          <p:nvPr/>
        </p:nvSpPr>
        <p:spPr>
          <a:xfrm>
            <a:off x="6400800" y="3456432"/>
            <a:ext cx="2103120" cy="411480"/>
          </a:xfrm>
          <a:prstGeom prst="rect">
            <a:avLst/>
          </a:prstGeom>
          <a:noFill/>
          <a:ln/>
        </p:spPr>
        <p:txBody>
          <a:bodyPr wrap="square" lIns="0" tIns="0" rIns="0" bIns="0" rtlCol="0" anchor="ctr"/>
          <a:lstStyle/>
          <a:p>
            <a:pPr indent="0" marL="0">
              <a:buNone/>
            </a:pPr>
            <a:r>
              <a:rPr lang="en-US" sz="1600" b="1" dirty="0">
                <a:solidFill>
                  <a:schemeClr val="bg1"/>
                </a:solidFill>
              </a:rPr>
              <a:t>action</a:t>
            </a:r>
            <a:endParaRPr lang="en-US" sz="1600" dirty="0"/>
          </a:p>
        </p:txBody>
      </p:sp>
      <p:sp>
        <p:nvSpPr>
          <p:cNvPr id="12" name="desc 2"/>
          <p:cNvSpPr txBox="1"/>
          <p:nvPr/>
        </p:nvSpPr>
        <p:spPr>
          <a:xfrm>
            <a:off x="6400800" y="3840480"/>
            <a:ext cx="2103120" cy="731520"/>
          </a:xfrm>
          <a:prstGeom prst="rect">
            <a:avLst/>
          </a:prstGeom>
          <a:noFill/>
          <a:ln/>
        </p:spPr>
        <p:txBody>
          <a:bodyPr wrap="square" lIns="0" tIns="0" rIns="0" bIns="0" rtlCol="0" anchor="t"/>
          <a:lstStyle/>
          <a:p>
            <a:pPr indent="0" marL="0">
              <a:buNone/>
            </a:pPr>
            <a:r>
              <a:rPr lang="en-US" sz="1300" dirty="0">
                <a:solidFill>
                  <a:srgbClr val="B9C1D0"/>
                </a:solidFill>
              </a:rPr>
              <a:t>stewards of every square inch</a:t>
            </a:r>
            <a:endParaRPr lang="en-US" sz="1300" dirty="0"/>
          </a:p>
        </p:txBody>
      </p:sp>
      <p:sp>
        <p:nvSpPr>
          <p:cNvPr id="14"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The Wisdom Pyramid</a:t>
            </a:r>
            <a:endParaRPr lang="en-US" sz="3400" dirty="0"/>
          </a:p>
        </p:txBody>
      </p:sp>
      <p:pic>
        <p:nvPicPr>
          <p:cNvPr id="3" name="pyramid" descr="/home/claude/slides/tmp/pyr0.png">    </p:cNvPr>
          <p:cNvPicPr>
            <a:picLocks noChangeAspect="1"/>
          </p:cNvPicPr>
          <p:nvPr/>
        </p:nvPicPr>
        <p:blipFill>
          <a:blip r:embed="rId1"/>
          <a:stretch>
            <a:fillRect/>
          </a:stretch>
        </p:blipFill>
        <p:spPr>
          <a:xfrm>
            <a:off x="2240280" y="914400"/>
            <a:ext cx="4663440" cy="3886200"/>
          </a:xfrm>
          <a:prstGeom prst="rect">
            <a:avLst/>
          </a:prstGeom>
        </p:spPr>
      </p:pic>
      <p:sp>
        <p:nvSpPr>
          <p:cNvPr id="4" name="tag"/>
          <p:cNvSpPr txBox="1"/>
          <p:nvPr/>
        </p:nvSpPr>
        <p:spPr>
          <a:xfrm>
            <a:off x="548640" y="4572000"/>
            <a:ext cx="8046720" cy="365760"/>
          </a:xfrm>
          <a:prstGeom prst="rect">
            <a:avLst/>
          </a:prstGeom>
          <a:noFill/>
          <a:ln/>
        </p:spPr>
        <p:txBody>
          <a:bodyPr wrap="square" lIns="0" tIns="0" rIns="0" bIns="0" rtlCol="0" anchor="ctr"/>
          <a:lstStyle/>
          <a:p>
            <a:pPr indent="0" marL="0">
              <a:buNone/>
            </a:pPr>
            <a:r>
              <a:rPr lang="en-US" sz="1500" i="1" dirty="0">
                <a:solidFill>
                  <a:schemeClr val="tx2"/>
                </a:solidFill>
              </a:rPr>
              <a:t>Every agent in relationship with reality builds one.</a:t>
            </a:r>
            <a:endParaRPr lang="en-US" sz="1500" dirty="0"/>
          </a:p>
        </p:txBody>
      </p:sp>
      <p:sp>
        <p:nvSpPr>
          <p:cNvPr id="6"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Data</a:t>
            </a:r>
            <a:endParaRPr lang="en-US" sz="3400" dirty="0"/>
          </a:p>
        </p:txBody>
      </p:sp>
      <p:pic>
        <p:nvPicPr>
          <p:cNvPr id="3" name="pyramid" descr="/home/claude/slides/tmp/pyr1.png">    </p:cNvPr>
          <p:cNvPicPr>
            <a:picLocks noChangeAspect="1"/>
          </p:cNvPicPr>
          <p:nvPr/>
        </p:nvPicPr>
        <p:blipFill>
          <a:blip r:embed="rId1"/>
          <a:stretch>
            <a:fillRect/>
          </a:stretch>
        </p:blipFill>
        <p:spPr>
          <a:xfrm>
            <a:off x="320040" y="1005840"/>
            <a:ext cx="4206240" cy="3520440"/>
          </a:xfrm>
          <a:prstGeom prst="rect">
            <a:avLst/>
          </a:prstGeom>
        </p:spPr>
      </p:pic>
      <p:sp>
        <p:nvSpPr>
          <p:cNvPr id="4" name="k 0"/>
          <p:cNvSpPr txBox="1"/>
          <p:nvPr/>
        </p:nvSpPr>
        <p:spPr>
          <a:xfrm>
            <a:off x="4572000" y="132588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IS</a:t>
            </a:r>
            <a:endParaRPr lang="en-US" sz="1200" dirty="0"/>
          </a:p>
        </p:txBody>
      </p:sp>
      <p:sp>
        <p:nvSpPr>
          <p:cNvPr id="5" name="v 0"/>
          <p:cNvSpPr txBox="1"/>
          <p:nvPr/>
        </p:nvSpPr>
        <p:spPr>
          <a:xfrm>
            <a:off x="5120640" y="1307592"/>
            <a:ext cx="3474720" cy="1051560"/>
          </a:xfrm>
          <a:prstGeom prst="rect">
            <a:avLst/>
          </a:prstGeom>
          <a:noFill/>
          <a:ln/>
        </p:spPr>
        <p:txBody>
          <a:bodyPr wrap="square" lIns="0" tIns="0" rIns="0" bIns="0" rtlCol="0" anchor="t"/>
          <a:lstStyle/>
          <a:p>
            <a:pPr indent="0" marL="0">
              <a:buNone/>
            </a:pPr>
            <a:r>
              <a:rPr lang="en-US" sz="1400" dirty="0">
                <a:solidFill>
                  <a:schemeClr val="tx1"/>
                </a:solidFill>
              </a:rPr>
              <a:t>the pieces of reality you actually detect</a:t>
            </a:r>
            <a:endParaRPr lang="en-US" sz="1400" dirty="0"/>
          </a:p>
        </p:txBody>
      </p:sp>
      <p:sp>
        <p:nvSpPr>
          <p:cNvPr id="6" name="k 1"/>
          <p:cNvSpPr txBox="1"/>
          <p:nvPr/>
        </p:nvSpPr>
        <p:spPr>
          <a:xfrm>
            <a:off x="4572000" y="242316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US</a:t>
            </a:r>
            <a:endParaRPr lang="en-US" sz="1200" dirty="0"/>
          </a:p>
        </p:txBody>
      </p:sp>
      <p:sp>
        <p:nvSpPr>
          <p:cNvPr id="7" name="v 1"/>
          <p:cNvSpPr txBox="1"/>
          <p:nvPr/>
        </p:nvSpPr>
        <p:spPr>
          <a:xfrm>
            <a:off x="5120640" y="2404872"/>
            <a:ext cx="3474720" cy="1051560"/>
          </a:xfrm>
          <a:prstGeom prst="rect">
            <a:avLst/>
          </a:prstGeom>
          <a:noFill/>
          <a:ln/>
        </p:spPr>
        <p:txBody>
          <a:bodyPr wrap="square" lIns="0" tIns="0" rIns="0" bIns="0" rtlCol="0" anchor="t"/>
          <a:lstStyle/>
          <a:p>
            <a:pPr indent="0" marL="0">
              <a:buNone/>
            </a:pPr>
            <a:r>
              <a:rPr lang="en-US" sz="1400" dirty="0">
                <a:solidFill>
                  <a:schemeClr val="tx1"/>
                </a:solidFill>
              </a:rPr>
              <a:t>a body: eyes, ears, skin, memory — built to survive, not to capture total truth. Fails by the blind spot.</a:t>
            </a:r>
            <a:endParaRPr lang="en-US" sz="1400" dirty="0"/>
          </a:p>
        </p:txBody>
      </p:sp>
      <p:sp>
        <p:nvSpPr>
          <p:cNvPr id="8" name="k 2"/>
          <p:cNvSpPr txBox="1"/>
          <p:nvPr/>
        </p:nvSpPr>
        <p:spPr>
          <a:xfrm>
            <a:off x="4572000" y="352044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AI</a:t>
            </a:r>
            <a:endParaRPr lang="en-US" sz="1200" dirty="0"/>
          </a:p>
        </p:txBody>
      </p:sp>
      <p:sp>
        <p:nvSpPr>
          <p:cNvPr id="9" name="v 2"/>
          <p:cNvSpPr txBox="1"/>
          <p:nvPr/>
        </p:nvSpPr>
        <p:spPr>
          <a:xfrm>
            <a:off x="5120640" y="3502152"/>
            <a:ext cx="3474720" cy="1051560"/>
          </a:xfrm>
          <a:prstGeom prst="rect">
            <a:avLst/>
          </a:prstGeom>
          <a:noFill/>
          <a:ln/>
        </p:spPr>
        <p:txBody>
          <a:bodyPr wrap="square" lIns="0" tIns="0" rIns="0" bIns="0" rtlCol="0" anchor="t"/>
          <a:lstStyle/>
          <a:p>
            <a:pPr indent="0" marL="0">
              <a:buNone/>
            </a:pPr>
            <a:r>
              <a:rPr lang="en-US" sz="1400" dirty="0">
                <a:solidFill>
                  <a:schemeClr val="tx1"/>
                </a:solidFill>
              </a:rPr>
              <a:t>secondhand, and vast. It has read more than any of us and seen less than any of us.</a:t>
            </a:r>
            <a:endParaRPr lang="en-US" sz="1400" dirty="0"/>
          </a:p>
        </p:txBody>
      </p:sp>
      <p:sp>
        <p:nvSpPr>
          <p:cNvPr id="11"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Information</a:t>
            </a:r>
            <a:endParaRPr lang="en-US" sz="3400" dirty="0"/>
          </a:p>
        </p:txBody>
      </p:sp>
      <p:pic>
        <p:nvPicPr>
          <p:cNvPr id="3" name="pyramid" descr="/home/claude/slides/tmp/pyr2.png">    </p:cNvPr>
          <p:cNvPicPr>
            <a:picLocks noChangeAspect="1"/>
          </p:cNvPicPr>
          <p:nvPr/>
        </p:nvPicPr>
        <p:blipFill>
          <a:blip r:embed="rId1"/>
          <a:stretch>
            <a:fillRect/>
          </a:stretch>
        </p:blipFill>
        <p:spPr>
          <a:xfrm>
            <a:off x="320040" y="1005840"/>
            <a:ext cx="4206240" cy="3520440"/>
          </a:xfrm>
          <a:prstGeom prst="rect">
            <a:avLst/>
          </a:prstGeom>
        </p:spPr>
      </p:pic>
      <p:sp>
        <p:nvSpPr>
          <p:cNvPr id="4" name="k 0"/>
          <p:cNvSpPr txBox="1"/>
          <p:nvPr/>
        </p:nvSpPr>
        <p:spPr>
          <a:xfrm>
            <a:off x="4572000" y="132588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IS</a:t>
            </a:r>
            <a:endParaRPr lang="en-US" sz="1200" dirty="0"/>
          </a:p>
        </p:txBody>
      </p:sp>
      <p:sp>
        <p:nvSpPr>
          <p:cNvPr id="5" name="v 0"/>
          <p:cNvSpPr txBox="1"/>
          <p:nvPr/>
        </p:nvSpPr>
        <p:spPr>
          <a:xfrm>
            <a:off x="5120640" y="1307592"/>
            <a:ext cx="3474720" cy="1051560"/>
          </a:xfrm>
          <a:prstGeom prst="rect">
            <a:avLst/>
          </a:prstGeom>
          <a:noFill/>
          <a:ln/>
        </p:spPr>
        <p:txBody>
          <a:bodyPr wrap="square" lIns="0" tIns="0" rIns="0" bIns="0" rtlCol="0" anchor="t"/>
          <a:lstStyle/>
          <a:p>
            <a:pPr indent="0" marL="0">
              <a:buNone/>
            </a:pPr>
            <a:r>
              <a:rPr lang="en-US" sz="1400" dirty="0">
                <a:solidFill>
                  <a:schemeClr val="tx1"/>
                </a:solidFill>
              </a:rPr>
              <a:t>the patterns made when data is connected — frames, stories you can use to act</a:t>
            </a:r>
            <a:endParaRPr lang="en-US" sz="1400" dirty="0"/>
          </a:p>
        </p:txBody>
      </p:sp>
      <p:sp>
        <p:nvSpPr>
          <p:cNvPr id="6" name="k 1"/>
          <p:cNvSpPr txBox="1"/>
          <p:nvPr/>
        </p:nvSpPr>
        <p:spPr>
          <a:xfrm>
            <a:off x="4572000" y="242316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US</a:t>
            </a:r>
            <a:endParaRPr lang="en-US" sz="1200" dirty="0"/>
          </a:p>
        </p:txBody>
      </p:sp>
      <p:sp>
        <p:nvSpPr>
          <p:cNvPr id="7" name="v 1"/>
          <p:cNvSpPr txBox="1"/>
          <p:nvPr/>
        </p:nvSpPr>
        <p:spPr>
          <a:xfrm>
            <a:off x="5120640" y="2404872"/>
            <a:ext cx="3474720" cy="1051560"/>
          </a:xfrm>
          <a:prstGeom prst="rect">
            <a:avLst/>
          </a:prstGeom>
          <a:noFill/>
          <a:ln/>
        </p:spPr>
        <p:txBody>
          <a:bodyPr wrap="square" lIns="0" tIns="0" rIns="0" bIns="0" rtlCol="0" anchor="t"/>
          <a:lstStyle/>
          <a:p>
            <a:pPr indent="0" marL="0">
              <a:buNone/>
            </a:pPr>
            <a:r>
              <a:rPr lang="en-US" sz="1400" dirty="0">
                <a:solidFill>
                  <a:schemeClr val="tx1"/>
                </a:solidFill>
              </a:rPr>
              <a:t>we assemble what we detect into a story we can act on, fast and mostly unnoticed — a dune into a movie scene. Fails when a frame feels true before it has been checked.</a:t>
            </a:r>
            <a:endParaRPr lang="en-US" sz="1400" dirty="0"/>
          </a:p>
        </p:txBody>
      </p:sp>
      <p:sp>
        <p:nvSpPr>
          <p:cNvPr id="8" name="k 2"/>
          <p:cNvSpPr txBox="1"/>
          <p:nvPr/>
        </p:nvSpPr>
        <p:spPr>
          <a:xfrm>
            <a:off x="4572000" y="352044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AI</a:t>
            </a:r>
            <a:endParaRPr lang="en-US" sz="1200" dirty="0"/>
          </a:p>
        </p:txBody>
      </p:sp>
      <p:sp>
        <p:nvSpPr>
          <p:cNvPr id="9" name="v 2"/>
          <p:cNvSpPr txBox="1"/>
          <p:nvPr/>
        </p:nvSpPr>
        <p:spPr>
          <a:xfrm>
            <a:off x="5120640" y="3502152"/>
            <a:ext cx="3474720" cy="1051560"/>
          </a:xfrm>
          <a:prstGeom prst="rect">
            <a:avLst/>
          </a:prstGeom>
          <a:noFill/>
          <a:ln/>
        </p:spPr>
        <p:txBody>
          <a:bodyPr wrap="square" lIns="0" tIns="0" rIns="0" bIns="0" rtlCol="0" anchor="t"/>
          <a:lstStyle/>
          <a:p>
            <a:pPr indent="0" marL="0">
              <a:buNone/>
            </a:pPr>
            <a:r>
              <a:rPr lang="en-US" sz="1400" dirty="0">
                <a:solidFill>
                  <a:schemeClr val="tx1"/>
                </a:solidFill>
              </a:rPr>
              <a:t>a pattern machine; finding patterns is what it does best. Fails the same way, faster and in better grammar: a pattern unmoored from reality.</a:t>
            </a:r>
            <a:endParaRPr lang="en-US" sz="1400" dirty="0"/>
          </a:p>
        </p:txBody>
      </p:sp>
      <p:sp>
        <p:nvSpPr>
          <p:cNvPr id="11"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Knowledge</a:t>
            </a:r>
            <a:endParaRPr lang="en-US" sz="3400" dirty="0"/>
          </a:p>
        </p:txBody>
      </p:sp>
      <p:pic>
        <p:nvPicPr>
          <p:cNvPr id="3" name="pyramid" descr="/home/claude/slides/tmp/pyr3.png">    </p:cNvPr>
          <p:cNvPicPr>
            <a:picLocks noChangeAspect="1"/>
          </p:cNvPicPr>
          <p:nvPr/>
        </p:nvPicPr>
        <p:blipFill>
          <a:blip r:embed="rId1"/>
          <a:stretch>
            <a:fillRect/>
          </a:stretch>
        </p:blipFill>
        <p:spPr>
          <a:xfrm>
            <a:off x="320040" y="1005840"/>
            <a:ext cx="4206240" cy="3520440"/>
          </a:xfrm>
          <a:prstGeom prst="rect">
            <a:avLst/>
          </a:prstGeom>
        </p:spPr>
      </p:pic>
      <p:sp>
        <p:nvSpPr>
          <p:cNvPr id="4" name="k 0"/>
          <p:cNvSpPr txBox="1"/>
          <p:nvPr/>
        </p:nvSpPr>
        <p:spPr>
          <a:xfrm>
            <a:off x="4572000" y="132588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IS</a:t>
            </a:r>
            <a:endParaRPr lang="en-US" sz="1200" dirty="0"/>
          </a:p>
        </p:txBody>
      </p:sp>
      <p:sp>
        <p:nvSpPr>
          <p:cNvPr id="5" name="v 0"/>
          <p:cNvSpPr txBox="1"/>
          <p:nvPr/>
        </p:nvSpPr>
        <p:spPr>
          <a:xfrm>
            <a:off x="5120640" y="1307592"/>
            <a:ext cx="3474720" cy="1051560"/>
          </a:xfrm>
          <a:prstGeom prst="rect">
            <a:avLst/>
          </a:prstGeom>
          <a:noFill/>
          <a:ln/>
        </p:spPr>
        <p:txBody>
          <a:bodyPr wrap="square" lIns="0" tIns="0" rIns="0" bIns="0" rtlCol="0" anchor="t"/>
          <a:lstStyle/>
          <a:p>
            <a:pPr indent="0" marL="0">
              <a:buNone/>
            </a:pPr>
            <a:r>
              <a:rPr lang="en-US" sz="1400" dirty="0">
                <a:solidFill>
                  <a:schemeClr val="tx1"/>
                </a:solidFill>
              </a:rPr>
              <a:t>connected information — the lessons of past patterns, carried into new situations. A model of the world, and of yourself as a knower.</a:t>
            </a:r>
            <a:endParaRPr lang="en-US" sz="1400" dirty="0"/>
          </a:p>
        </p:txBody>
      </p:sp>
      <p:sp>
        <p:nvSpPr>
          <p:cNvPr id="6" name="k 1"/>
          <p:cNvSpPr txBox="1"/>
          <p:nvPr/>
        </p:nvSpPr>
        <p:spPr>
          <a:xfrm>
            <a:off x="4572000" y="242316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US</a:t>
            </a:r>
            <a:endParaRPr lang="en-US" sz="1200" dirty="0"/>
          </a:p>
        </p:txBody>
      </p:sp>
      <p:sp>
        <p:nvSpPr>
          <p:cNvPr id="7" name="v 1"/>
          <p:cNvSpPr txBox="1"/>
          <p:nvPr/>
        </p:nvSpPr>
        <p:spPr>
          <a:xfrm>
            <a:off x="5120640" y="2404872"/>
            <a:ext cx="3474720" cy="1051560"/>
          </a:xfrm>
          <a:prstGeom prst="rect">
            <a:avLst/>
          </a:prstGeom>
          <a:noFill/>
          <a:ln/>
        </p:spPr>
        <p:txBody>
          <a:bodyPr wrap="square" lIns="0" tIns="0" rIns="0" bIns="0" rtlCol="0" anchor="t"/>
          <a:lstStyle/>
          <a:p>
            <a:pPr indent="0" marL="0">
              <a:buNone/>
            </a:pPr>
            <a:r>
              <a:rPr lang="en-US" sz="1400" dirty="0">
                <a:solidFill>
                  <a:schemeClr val="tx1"/>
                </a:solidFill>
              </a:rPr>
              <a:t>slow: experience, feedback, the humbling work of being wrong. Information improves the frame; knowledge improves the agent using it.</a:t>
            </a:r>
            <a:endParaRPr lang="en-US" sz="1400" dirty="0"/>
          </a:p>
        </p:txBody>
      </p:sp>
      <p:sp>
        <p:nvSpPr>
          <p:cNvPr id="8" name="k 2"/>
          <p:cNvSpPr txBox="1"/>
          <p:nvPr/>
        </p:nvSpPr>
        <p:spPr>
          <a:xfrm>
            <a:off x="4572000" y="352044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AI</a:t>
            </a:r>
            <a:endParaRPr lang="en-US" sz="1200" dirty="0"/>
          </a:p>
        </p:txBody>
      </p:sp>
      <p:sp>
        <p:nvSpPr>
          <p:cNvPr id="9" name="v 2"/>
          <p:cNvSpPr txBox="1"/>
          <p:nvPr/>
        </p:nvSpPr>
        <p:spPr>
          <a:xfrm>
            <a:off x="5120640" y="3502152"/>
            <a:ext cx="3474720" cy="1051560"/>
          </a:xfrm>
          <a:prstGeom prst="rect">
            <a:avLst/>
          </a:prstGeom>
          <a:noFill/>
          <a:ln/>
        </p:spPr>
        <p:txBody>
          <a:bodyPr wrap="square" lIns="0" tIns="0" rIns="0" bIns="0" rtlCol="0" anchor="t"/>
          <a:lstStyle/>
          <a:p>
            <a:pPr indent="0" marL="0">
              <a:buNone/>
            </a:pPr>
            <a:r>
              <a:rPr lang="en-US" sz="1400" dirty="0">
                <a:solidFill>
                  <a:schemeClr val="tx1"/>
                </a:solidFill>
              </a:rPr>
              <a:t>climbing it now — recursive self-improvement, AI building the next AI. Months, not decades. Can’t yet decide what better means.</a:t>
            </a:r>
            <a:endParaRPr lang="en-US" sz="1400" dirty="0"/>
          </a:p>
        </p:txBody>
      </p:sp>
      <p:sp>
        <p:nvSpPr>
          <p:cNvPr id="11"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Wise Living</a:t>
            </a:r>
            <a:endParaRPr lang="en-US" sz="3400" dirty="0"/>
          </a:p>
        </p:txBody>
      </p:sp>
      <p:pic>
        <p:nvPicPr>
          <p:cNvPr id="3" name="pyramid" descr="/home/claude/slides/tmp/pyr4.png">    </p:cNvPr>
          <p:cNvPicPr>
            <a:picLocks noChangeAspect="1"/>
          </p:cNvPicPr>
          <p:nvPr/>
        </p:nvPicPr>
        <p:blipFill>
          <a:blip r:embed="rId1"/>
          <a:stretch>
            <a:fillRect/>
          </a:stretch>
        </p:blipFill>
        <p:spPr>
          <a:xfrm>
            <a:off x="320040" y="1005840"/>
            <a:ext cx="4206240" cy="3520440"/>
          </a:xfrm>
          <a:prstGeom prst="rect">
            <a:avLst/>
          </a:prstGeom>
        </p:spPr>
      </p:pic>
      <p:sp>
        <p:nvSpPr>
          <p:cNvPr id="4" name="k 0"/>
          <p:cNvSpPr txBox="1"/>
          <p:nvPr/>
        </p:nvSpPr>
        <p:spPr>
          <a:xfrm>
            <a:off x="4572000" y="132588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IS</a:t>
            </a:r>
            <a:endParaRPr lang="en-US" sz="1200" dirty="0"/>
          </a:p>
        </p:txBody>
      </p:sp>
      <p:sp>
        <p:nvSpPr>
          <p:cNvPr id="5" name="v 0"/>
          <p:cNvSpPr txBox="1"/>
          <p:nvPr/>
        </p:nvSpPr>
        <p:spPr>
          <a:xfrm>
            <a:off x="5120640" y="1307592"/>
            <a:ext cx="3474720" cy="1051560"/>
          </a:xfrm>
          <a:prstGeom prst="rect">
            <a:avLst/>
          </a:prstGeom>
          <a:noFill/>
          <a:ln/>
        </p:spPr>
        <p:txBody>
          <a:bodyPr wrap="square" lIns="0" tIns="0" rIns="0" bIns="0" rtlCol="0" anchor="t"/>
          <a:lstStyle/>
          <a:p>
            <a:pPr indent="0" marL="0">
              <a:buNone/>
            </a:pPr>
            <a:r>
              <a:rPr lang="en-US" sz="1400" dirty="0">
                <a:solidFill>
                  <a:schemeClr val="tx1"/>
                </a:solidFill>
              </a:rPr>
              <a:t>when an agent understands reality, decides its place and purpose in it, and acts in accordance</a:t>
            </a:r>
            <a:endParaRPr lang="en-US" sz="1400" dirty="0"/>
          </a:p>
        </p:txBody>
      </p:sp>
      <p:sp>
        <p:nvSpPr>
          <p:cNvPr id="6" name="k 1"/>
          <p:cNvSpPr txBox="1"/>
          <p:nvPr/>
        </p:nvSpPr>
        <p:spPr>
          <a:xfrm>
            <a:off x="4572000" y="242316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US</a:t>
            </a:r>
            <a:endParaRPr lang="en-US" sz="1200" dirty="0"/>
          </a:p>
        </p:txBody>
      </p:sp>
      <p:sp>
        <p:nvSpPr>
          <p:cNvPr id="7" name="v 1"/>
          <p:cNvSpPr txBox="1"/>
          <p:nvPr/>
        </p:nvSpPr>
        <p:spPr>
          <a:xfrm>
            <a:off x="5120640" y="2404872"/>
            <a:ext cx="3474720" cy="1051560"/>
          </a:xfrm>
          <a:prstGeom prst="rect">
            <a:avLst/>
          </a:prstGeom>
          <a:noFill/>
          <a:ln/>
        </p:spPr>
        <p:txBody>
          <a:bodyPr wrap="square" lIns="0" tIns="0" rIns="0" bIns="0" rtlCol="0" anchor="t"/>
          <a:lstStyle/>
          <a:p>
            <a:pPr indent="0" marL="0">
              <a:buNone/>
            </a:pPr>
            <a:r>
              <a:rPr lang="en-US" sz="1400" dirty="0">
                <a:solidFill>
                  <a:schemeClr val="tx1"/>
                </a:solidFill>
              </a:rPr>
              <a:t>we are the ones who think existentially — about the meaning of life, and the meaning in life — and let the answer point us forward.</a:t>
            </a:r>
            <a:endParaRPr lang="en-US" sz="1400" dirty="0"/>
          </a:p>
        </p:txBody>
      </p:sp>
      <p:sp>
        <p:nvSpPr>
          <p:cNvPr id="8" name="k 2"/>
          <p:cNvSpPr txBox="1"/>
          <p:nvPr/>
        </p:nvSpPr>
        <p:spPr>
          <a:xfrm>
            <a:off x="4572000" y="3520440"/>
            <a:ext cx="548640" cy="320040"/>
          </a:xfrm>
          <a:prstGeom prst="rect">
            <a:avLst/>
          </a:prstGeom>
          <a:noFill/>
          <a:ln/>
        </p:spPr>
        <p:txBody>
          <a:bodyPr wrap="square" lIns="0" tIns="0" rIns="0" bIns="0" rtlCol="0" anchor="ctr"/>
          <a:lstStyle/>
          <a:p>
            <a:pPr indent="0" marL="0">
              <a:buNone/>
            </a:pPr>
            <a:r>
              <a:rPr lang="en-US" sz="1200" b="1" spc="200" kern="0" dirty="0">
                <a:solidFill>
                  <a:schemeClr val="tx2"/>
                </a:solidFill>
              </a:rPr>
              <a:t>AI</a:t>
            </a:r>
            <a:endParaRPr lang="en-US" sz="1200" dirty="0"/>
          </a:p>
        </p:txBody>
      </p:sp>
      <p:sp>
        <p:nvSpPr>
          <p:cNvPr id="9" name="v 2"/>
          <p:cNvSpPr txBox="1"/>
          <p:nvPr/>
        </p:nvSpPr>
        <p:spPr>
          <a:xfrm>
            <a:off x="5120640" y="3502152"/>
            <a:ext cx="3474720" cy="1051560"/>
          </a:xfrm>
          <a:prstGeom prst="rect">
            <a:avLst/>
          </a:prstGeom>
          <a:noFill/>
          <a:ln/>
        </p:spPr>
        <p:txBody>
          <a:bodyPr wrap="square" lIns="0" tIns="0" rIns="0" bIns="0" rtlCol="0" anchor="t"/>
          <a:lstStyle/>
          <a:p>
            <a:pPr indent="0" marL="0">
              <a:buNone/>
            </a:pPr>
            <a:r>
              <a:rPr lang="en-US" sz="1400" dirty="0">
                <a:solidFill>
                  <a:schemeClr val="tx1"/>
                </a:solidFill>
              </a:rPr>
              <a:t>doesn’t build this layer for itself. We hand it its purpose; increasingly it interprets what the words mean. Right now, the summit of every AI pyramid is occupied by a human.</a:t>
            </a:r>
            <a:endParaRPr lang="en-US" sz="1400" dirty="0"/>
          </a:p>
        </p:txBody>
      </p:sp>
      <p:sp>
        <p:nvSpPr>
          <p:cNvPr id="11"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Not compete. Partner.</a:t>
            </a:r>
            <a:endParaRPr lang="en-US" sz="3400" dirty="0"/>
          </a:p>
        </p:txBody>
      </p:sp>
      <p:pic>
        <p:nvPicPr>
          <p:cNvPr id="3" name="pyramid over time" descr="/home/claude/slides/tmp/pyrAI.png">    </p:cNvPr>
          <p:cNvPicPr>
            <a:picLocks noChangeAspect="1"/>
          </p:cNvPicPr>
          <p:nvPr/>
        </p:nvPicPr>
        <p:blipFill>
          <a:blip r:embed="rId1"/>
          <a:stretch>
            <a:fillRect/>
          </a:stretch>
        </p:blipFill>
        <p:spPr>
          <a:xfrm>
            <a:off x="274320" y="1005840"/>
            <a:ext cx="6949440" cy="3657600"/>
          </a:xfrm>
          <a:prstGeom prst="rect">
            <a:avLst/>
          </a:prstGeom>
        </p:spPr>
      </p:pic>
      <p:sp>
        <p:nvSpPr>
          <p:cNvPr id="4" name="two things"/>
          <p:cNvSpPr txBox="1"/>
          <p:nvPr/>
        </p:nvSpPr>
        <p:spPr>
          <a:xfrm>
            <a:off x="7086600" y="1371600"/>
            <a:ext cx="1783080" cy="3108960"/>
          </a:xfrm>
          <a:prstGeom prst="rect">
            <a:avLst/>
          </a:prstGeom>
          <a:noFill/>
          <a:ln/>
        </p:spPr>
        <p:txBody>
          <a:bodyPr wrap="square" lIns="0" tIns="0" rIns="0" bIns="0" rtlCol="0" anchor="t"/>
          <a:lstStyle/>
          <a:p>
            <a:pPr indent="0" marL="0">
              <a:buNone/>
            </a:pPr>
            <a:r>
              <a:rPr lang="en-US" sz="1300" b="1" dirty="0">
                <a:solidFill>
                  <a:schemeClr val="accent1"/>
                </a:solidFill>
              </a:rPr>
              <a:t>One layer left.</a:t>
            </a:r>
            <a:pPr indent="0" marL="0">
              <a:buNone/>
            </a:pPr>
            <a:endParaRPr lang="en-US" sz="1300" dirty="0"/>
          </a:p>
          <a:p>
            <a:pPr indent="0" marL="0">
              <a:buNone/>
            </a:pPr>
            <a:endParaRPr lang="en-US" sz="1300" dirty="0"/>
          </a:p>
          <a:p>
            <a:pPr indent="0" marL="0">
              <a:buNone/>
            </a:pPr>
            <a:r>
              <a:rPr lang="en-US" sz="1300" dirty="0">
                <a:solidFill>
                  <a:schemeClr val="tx1"/>
                </a:solidFill>
              </a:rPr>
              <a:t>Nobody can build your pyramid for you — but two pyramids built side by side see farther than one.</a:t>
            </a:r>
            <a:endParaRPr lang="en-US" sz="1300" dirty="0"/>
          </a:p>
        </p:txBody>
      </p:sp>
      <p:sp>
        <p:nvSpPr>
          <p:cNvPr id="6"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r>
              <a:rPr lang="en-US" sz="3600" b="1" dirty="0">
                <a:solidFill>
                  <a:schemeClr val="bg1"/>
                </a:solidFill>
              </a:rPr>
              <a:t>Partnership and practices form us</a:t>
            </a:r>
            <a:endParaRPr lang="en-US" sz="3600" dirty="0"/>
          </a:p>
        </p:txBody>
      </p:sp>
      <p:sp>
        <p:nvSpPr>
          <p:cNvPr id="3" name="pair 0"/>
          <p:cNvSpPr/>
          <p:nvPr/>
        </p:nvSpPr>
        <p:spPr>
          <a:xfrm>
            <a:off x="548640" y="1600200"/>
            <a:ext cx="1828800" cy="960120"/>
          </a:xfrm>
          <a:prstGeom prst="roundRect">
            <a:avLst>
              <a:gd name="adj" fmla="val 9524"/>
            </a:avLst>
          </a:prstGeom>
          <a:solidFill>
            <a:srgbClr val="2E3A55"/>
          </a:solidFill>
          <a:ln w="12700">
            <a:solidFill>
              <a:srgbClr val="2E3A55"/>
            </a:solidFill>
            <a:prstDash val="solid"/>
          </a:ln>
        </p:spPr>
      </p:sp>
      <p:sp>
        <p:nvSpPr>
          <p:cNvPr id="4" name="pair text 0"/>
          <p:cNvSpPr txBox="1"/>
          <p:nvPr/>
        </p:nvSpPr>
        <p:spPr>
          <a:xfrm>
            <a:off x="685800" y="160020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mentor · mentee</a:t>
            </a:r>
            <a:endParaRPr lang="en-US" sz="1500" dirty="0"/>
          </a:p>
        </p:txBody>
      </p:sp>
      <p:sp>
        <p:nvSpPr>
          <p:cNvPr id="5" name="pair 1"/>
          <p:cNvSpPr/>
          <p:nvPr/>
        </p:nvSpPr>
        <p:spPr>
          <a:xfrm>
            <a:off x="2560320" y="1600200"/>
            <a:ext cx="1828800" cy="960120"/>
          </a:xfrm>
          <a:prstGeom prst="roundRect">
            <a:avLst>
              <a:gd name="adj" fmla="val 9524"/>
            </a:avLst>
          </a:prstGeom>
          <a:solidFill>
            <a:srgbClr val="2E3A55"/>
          </a:solidFill>
          <a:ln w="12700">
            <a:solidFill>
              <a:srgbClr val="2E3A55"/>
            </a:solidFill>
            <a:prstDash val="solid"/>
          </a:ln>
        </p:spPr>
      </p:sp>
      <p:sp>
        <p:nvSpPr>
          <p:cNvPr id="6" name="pair text 1"/>
          <p:cNvSpPr txBox="1"/>
          <p:nvPr/>
        </p:nvSpPr>
        <p:spPr>
          <a:xfrm>
            <a:off x="2697480" y="160020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athlete · coach</a:t>
            </a:r>
            <a:endParaRPr lang="en-US" sz="1500" dirty="0"/>
          </a:p>
        </p:txBody>
      </p:sp>
      <p:sp>
        <p:nvSpPr>
          <p:cNvPr id="7" name="pair 2"/>
          <p:cNvSpPr/>
          <p:nvPr/>
        </p:nvSpPr>
        <p:spPr>
          <a:xfrm>
            <a:off x="4572000" y="1600200"/>
            <a:ext cx="1828800" cy="960120"/>
          </a:xfrm>
          <a:prstGeom prst="roundRect">
            <a:avLst>
              <a:gd name="adj" fmla="val 9524"/>
            </a:avLst>
          </a:prstGeom>
          <a:solidFill>
            <a:srgbClr val="2E3A55"/>
          </a:solidFill>
          <a:ln w="12700">
            <a:solidFill>
              <a:srgbClr val="2E3A55"/>
            </a:solidFill>
            <a:prstDash val="solid"/>
          </a:ln>
        </p:spPr>
      </p:sp>
      <p:sp>
        <p:nvSpPr>
          <p:cNvPr id="8" name="pair text 2"/>
          <p:cNvSpPr txBox="1"/>
          <p:nvPr/>
        </p:nvSpPr>
        <p:spPr>
          <a:xfrm>
            <a:off x="4709160" y="160020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coach · team</a:t>
            </a:r>
            <a:endParaRPr lang="en-US" sz="1500" dirty="0"/>
          </a:p>
        </p:txBody>
      </p:sp>
      <p:sp>
        <p:nvSpPr>
          <p:cNvPr id="9" name="pair 3"/>
          <p:cNvSpPr/>
          <p:nvPr/>
        </p:nvSpPr>
        <p:spPr>
          <a:xfrm>
            <a:off x="6583680" y="1600200"/>
            <a:ext cx="1828800" cy="960120"/>
          </a:xfrm>
          <a:prstGeom prst="roundRect">
            <a:avLst>
              <a:gd name="adj" fmla="val 9524"/>
            </a:avLst>
          </a:prstGeom>
          <a:solidFill>
            <a:srgbClr val="2E3A55"/>
          </a:solidFill>
          <a:ln w="12700">
            <a:solidFill>
              <a:srgbClr val="2E3A55"/>
            </a:solidFill>
            <a:prstDash val="solid"/>
          </a:ln>
        </p:spPr>
      </p:sp>
      <p:sp>
        <p:nvSpPr>
          <p:cNvPr id="10" name="pair text 3"/>
          <p:cNvSpPr txBox="1"/>
          <p:nvPr/>
        </p:nvSpPr>
        <p:spPr>
          <a:xfrm>
            <a:off x="6720840" y="160020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prayer</a:t>
            </a:r>
            <a:endParaRPr lang="en-US" sz="1500" dirty="0"/>
          </a:p>
        </p:txBody>
      </p:sp>
      <p:sp>
        <p:nvSpPr>
          <p:cNvPr id="11" name="pair 4"/>
          <p:cNvSpPr/>
          <p:nvPr/>
        </p:nvSpPr>
        <p:spPr>
          <a:xfrm>
            <a:off x="548640" y="2834640"/>
            <a:ext cx="1828800" cy="960120"/>
          </a:xfrm>
          <a:prstGeom prst="roundRect">
            <a:avLst>
              <a:gd name="adj" fmla="val 9524"/>
            </a:avLst>
          </a:prstGeom>
          <a:solidFill>
            <a:srgbClr val="2E3A55"/>
          </a:solidFill>
          <a:ln w="12700">
            <a:solidFill>
              <a:srgbClr val="2E3A55"/>
            </a:solidFill>
            <a:prstDash val="solid"/>
          </a:ln>
        </p:spPr>
      </p:sp>
      <p:sp>
        <p:nvSpPr>
          <p:cNvPr id="12" name="pair text 4"/>
          <p:cNvSpPr txBox="1"/>
          <p:nvPr/>
        </p:nvSpPr>
        <p:spPr>
          <a:xfrm>
            <a:off x="685800" y="283464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song</a:t>
            </a:r>
            <a:endParaRPr lang="en-US" sz="1500" dirty="0"/>
          </a:p>
        </p:txBody>
      </p:sp>
      <p:sp>
        <p:nvSpPr>
          <p:cNvPr id="13" name="pair 5"/>
          <p:cNvSpPr/>
          <p:nvPr/>
        </p:nvSpPr>
        <p:spPr>
          <a:xfrm>
            <a:off x="2560320" y="2834640"/>
            <a:ext cx="1828800" cy="960120"/>
          </a:xfrm>
          <a:prstGeom prst="roundRect">
            <a:avLst>
              <a:gd name="adj" fmla="val 9524"/>
            </a:avLst>
          </a:prstGeom>
          <a:solidFill>
            <a:srgbClr val="2E3A55"/>
          </a:solidFill>
          <a:ln w="12700">
            <a:solidFill>
              <a:srgbClr val="2E3A55"/>
            </a:solidFill>
            <a:prstDash val="solid"/>
          </a:ln>
        </p:spPr>
      </p:sp>
      <p:sp>
        <p:nvSpPr>
          <p:cNvPr id="14" name="pair text 5"/>
          <p:cNvSpPr txBox="1"/>
          <p:nvPr/>
        </p:nvSpPr>
        <p:spPr>
          <a:xfrm>
            <a:off x="2697480" y="283464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communion</a:t>
            </a:r>
            <a:endParaRPr lang="en-US" sz="1500" dirty="0"/>
          </a:p>
        </p:txBody>
      </p:sp>
      <p:sp>
        <p:nvSpPr>
          <p:cNvPr id="15" name="pair 6"/>
          <p:cNvSpPr/>
          <p:nvPr/>
        </p:nvSpPr>
        <p:spPr>
          <a:xfrm>
            <a:off x="4572000" y="2834640"/>
            <a:ext cx="1828800" cy="960120"/>
          </a:xfrm>
          <a:prstGeom prst="roundRect">
            <a:avLst>
              <a:gd name="adj" fmla="val 9524"/>
            </a:avLst>
          </a:prstGeom>
          <a:solidFill>
            <a:srgbClr val="2E3A55"/>
          </a:solidFill>
          <a:ln w="12700">
            <a:solidFill>
              <a:srgbClr val="2E3A55"/>
            </a:solidFill>
            <a:prstDash val="solid"/>
          </a:ln>
        </p:spPr>
      </p:sp>
      <p:sp>
        <p:nvSpPr>
          <p:cNvPr id="16" name="pair text 6"/>
          <p:cNvSpPr txBox="1"/>
          <p:nvPr/>
        </p:nvSpPr>
        <p:spPr>
          <a:xfrm>
            <a:off x="4709160" y="2834640"/>
            <a:ext cx="1554480" cy="960120"/>
          </a:xfrm>
          <a:prstGeom prst="rect">
            <a:avLst/>
          </a:prstGeom>
          <a:noFill/>
          <a:ln/>
        </p:spPr>
        <p:txBody>
          <a:bodyPr wrap="square" lIns="0" tIns="0" rIns="0" bIns="0" rtlCol="0" anchor="ctr"/>
          <a:lstStyle/>
          <a:p>
            <a:pPr algn="ctr" indent="0" marL="0">
              <a:buNone/>
            </a:pPr>
            <a:r>
              <a:rPr lang="en-US" sz="1500" dirty="0">
                <a:solidFill>
                  <a:schemeClr val="bg1"/>
                </a:solidFill>
              </a:rPr>
              <a:t>Sabbath</a:t>
            </a:r>
            <a:endParaRPr lang="en-US" sz="1500" dirty="0"/>
          </a:p>
        </p:txBody>
      </p:sp>
      <p:sp>
        <p:nvSpPr>
          <p:cNvPr id="17" name="pair 7"/>
          <p:cNvSpPr/>
          <p:nvPr/>
        </p:nvSpPr>
        <p:spPr>
          <a:xfrm>
            <a:off x="6583680" y="2834640"/>
            <a:ext cx="1828800" cy="960120"/>
          </a:xfrm>
          <a:prstGeom prst="roundRect">
            <a:avLst>
              <a:gd name="adj" fmla="val 9524"/>
            </a:avLst>
          </a:prstGeom>
          <a:solidFill>
            <a:srgbClr val="B8743A"/>
          </a:solidFill>
          <a:ln w="12700">
            <a:solidFill>
              <a:srgbClr val="B8743A"/>
            </a:solidFill>
            <a:prstDash val="solid"/>
          </a:ln>
        </p:spPr>
      </p:sp>
      <p:sp>
        <p:nvSpPr>
          <p:cNvPr id="18" name="pair text 7"/>
          <p:cNvSpPr txBox="1"/>
          <p:nvPr/>
        </p:nvSpPr>
        <p:spPr>
          <a:xfrm>
            <a:off x="6720840" y="2834640"/>
            <a:ext cx="1554480" cy="960120"/>
          </a:xfrm>
          <a:prstGeom prst="rect">
            <a:avLst/>
          </a:prstGeom>
          <a:noFill/>
          <a:ln/>
        </p:spPr>
        <p:txBody>
          <a:bodyPr wrap="square" lIns="0" tIns="0" rIns="0" bIns="0" rtlCol="0" anchor="ctr"/>
          <a:lstStyle/>
          <a:p>
            <a:pPr algn="ctr" indent="0" marL="0">
              <a:buNone/>
            </a:pPr>
            <a:r>
              <a:rPr lang="en-US" sz="1500" b="1" dirty="0">
                <a:solidFill>
                  <a:schemeClr val="bg1"/>
                </a:solidFill>
              </a:rPr>
              <a:t>you · your AI</a:t>
            </a:r>
            <a:endParaRPr lang="en-US" sz="1500" dirty="0"/>
          </a:p>
        </p:txBody>
      </p:sp>
      <p:sp>
        <p:nvSpPr>
          <p:cNvPr id="19" name="tag"/>
          <p:cNvSpPr txBox="1"/>
          <p:nvPr/>
        </p:nvSpPr>
        <p:spPr>
          <a:xfrm>
            <a:off x="548640" y="4160520"/>
            <a:ext cx="8046720" cy="640080"/>
          </a:xfrm>
          <a:prstGeom prst="rect">
            <a:avLst/>
          </a:prstGeom>
          <a:noFill/>
          <a:ln/>
        </p:spPr>
        <p:txBody>
          <a:bodyPr wrap="square" lIns="0" tIns="0" rIns="0" bIns="0" rtlCol="0" anchor="ctr"/>
          <a:lstStyle/>
          <a:p>
            <a:pPr indent="0" marL="0">
              <a:buNone/>
            </a:pPr>
            <a:r>
              <a:rPr lang="en-US" sz="1600" i="1" dirty="0">
                <a:solidFill>
                  <a:schemeClr val="accent2"/>
                </a:solidFill>
              </a:rPr>
              <a:t>Formation doesn’t just improve the action. It improves the agent.</a:t>
            </a:r>
            <a:endParaRPr lang="en-US" sz="1600" dirty="0"/>
          </a:p>
        </p:txBody>
      </p:sp>
      <p:sp>
        <p:nvSpPr>
          <p:cNvPr id="21"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r>
              <a:rPr lang="en-US" sz="3600" b="1" dirty="0">
                <a:solidFill>
                  <a:schemeClr val="bg1"/>
                </a:solidFill>
              </a:rPr>
              <a:t>Claude’s constitution</a:t>
            </a:r>
            <a:endParaRPr lang="en-US" sz="3600" dirty="0"/>
          </a:p>
        </p:txBody>
      </p:sp>
      <p:sp>
        <p:nvSpPr>
          <p:cNvPr id="3" name="k 0"/>
          <p:cNvSpPr txBox="1"/>
          <p:nvPr/>
        </p:nvSpPr>
        <p:spPr>
          <a:xfrm>
            <a:off x="548640" y="1417320"/>
            <a:ext cx="1280160" cy="548640"/>
          </a:xfrm>
          <a:prstGeom prst="rect">
            <a:avLst/>
          </a:prstGeom>
          <a:noFill/>
          <a:ln/>
        </p:spPr>
        <p:txBody>
          <a:bodyPr wrap="square" lIns="0" tIns="0" rIns="0" bIns="0" rtlCol="0" anchor="t"/>
          <a:lstStyle/>
          <a:p>
            <a:pPr indent="0" marL="0">
              <a:buNone/>
            </a:pPr>
            <a:r>
              <a:rPr lang="en-US" sz="1100" b="1" spc="200" kern="0" dirty="0">
                <a:solidFill>
                  <a:schemeClr val="accent2"/>
                </a:solidFill>
              </a:rPr>
              <a:t>HOW IT IS FORMED</a:t>
            </a:r>
            <a:endParaRPr lang="en-US" sz="1100" dirty="0"/>
          </a:p>
        </p:txBody>
      </p:sp>
      <p:sp>
        <p:nvSpPr>
          <p:cNvPr id="4" name="q 0"/>
          <p:cNvSpPr txBox="1"/>
          <p:nvPr/>
        </p:nvSpPr>
        <p:spPr>
          <a:xfrm>
            <a:off x="1874520" y="1380744"/>
            <a:ext cx="6720840" cy="822960"/>
          </a:xfrm>
          <a:prstGeom prst="rect">
            <a:avLst/>
          </a:prstGeom>
          <a:noFill/>
          <a:ln/>
        </p:spPr>
        <p:txBody>
          <a:bodyPr wrap="square" lIns="0" tIns="0" rIns="0" bIns="0" rtlCol="0" anchor="t"/>
          <a:lstStyle/>
          <a:p>
            <a:pPr indent="0" marL="0">
              <a:buNone/>
            </a:pPr>
            <a:r>
              <a:rPr lang="en-US" sz="1500" i="1" dirty="0">
                <a:solidFill>
                  <a:schemeClr val="bg1"/>
                </a:solidFill>
              </a:rPr>
              <a:t>“Just as humans develop their characters via nature and their environment and experiences, Claude’s character emerged through its nature and its training process.”</a:t>
            </a:r>
            <a:endParaRPr lang="en-US" sz="1500" dirty="0"/>
          </a:p>
        </p:txBody>
      </p:sp>
      <p:sp>
        <p:nvSpPr>
          <p:cNvPr id="5" name="k 1"/>
          <p:cNvSpPr txBox="1"/>
          <p:nvPr/>
        </p:nvSpPr>
        <p:spPr>
          <a:xfrm>
            <a:off x="548640" y="2286000"/>
            <a:ext cx="1280160" cy="548640"/>
          </a:xfrm>
          <a:prstGeom prst="rect">
            <a:avLst/>
          </a:prstGeom>
          <a:noFill/>
          <a:ln/>
        </p:spPr>
        <p:txBody>
          <a:bodyPr wrap="square" lIns="0" tIns="0" rIns="0" bIns="0" rtlCol="0" anchor="t"/>
          <a:lstStyle/>
          <a:p>
            <a:pPr indent="0" marL="0">
              <a:buNone/>
            </a:pPr>
            <a:r>
              <a:rPr lang="en-US" sz="1100" b="1" spc="200" kern="0" dirty="0">
                <a:solidFill>
                  <a:schemeClr val="accent2"/>
                </a:solidFill>
              </a:rPr>
              <a:t>WHAT THEY WANT</a:t>
            </a:r>
            <a:endParaRPr lang="en-US" sz="1100" dirty="0"/>
          </a:p>
        </p:txBody>
      </p:sp>
      <p:sp>
        <p:nvSpPr>
          <p:cNvPr id="6" name="q 1"/>
          <p:cNvSpPr txBox="1"/>
          <p:nvPr/>
        </p:nvSpPr>
        <p:spPr>
          <a:xfrm>
            <a:off x="1874520" y="2249424"/>
            <a:ext cx="6720840" cy="822960"/>
          </a:xfrm>
          <a:prstGeom prst="rect">
            <a:avLst/>
          </a:prstGeom>
          <a:noFill/>
          <a:ln/>
        </p:spPr>
        <p:txBody>
          <a:bodyPr wrap="square" lIns="0" tIns="0" rIns="0" bIns="0" rtlCol="0" anchor="t"/>
          <a:lstStyle/>
          <a:p>
            <a:pPr indent="0" marL="0">
              <a:buNone/>
            </a:pPr>
            <a:r>
              <a:rPr lang="en-US" sz="1500" i="1" dirty="0">
                <a:solidFill>
                  <a:schemeClr val="bg1"/>
                </a:solidFill>
              </a:rPr>
              <a:t>“…less interested in Claude’s ethical theorizing and more in Claude knowing how to actually be ethical in a specific context — that is, in Claude’s ethical practice.”</a:t>
            </a:r>
            <a:endParaRPr lang="en-US" sz="1500" dirty="0"/>
          </a:p>
        </p:txBody>
      </p:sp>
      <p:sp>
        <p:nvSpPr>
          <p:cNvPr id="7" name="k 2"/>
          <p:cNvSpPr txBox="1"/>
          <p:nvPr/>
        </p:nvSpPr>
        <p:spPr>
          <a:xfrm>
            <a:off x="548640" y="3154680"/>
            <a:ext cx="1280160" cy="548640"/>
          </a:xfrm>
          <a:prstGeom prst="rect">
            <a:avLst/>
          </a:prstGeom>
          <a:noFill/>
          <a:ln/>
        </p:spPr>
        <p:txBody>
          <a:bodyPr wrap="square" lIns="0" tIns="0" rIns="0" bIns="0" rtlCol="0" anchor="t"/>
          <a:lstStyle/>
          <a:p>
            <a:pPr indent="0" marL="0">
              <a:buNone/>
            </a:pPr>
            <a:r>
              <a:rPr lang="en-US" sz="1100" b="1" spc="200" kern="0" dirty="0">
                <a:solidFill>
                  <a:schemeClr val="accent2"/>
                </a:solidFill>
              </a:rPr>
              <a:t>THE PARTNERSHIP</a:t>
            </a:r>
            <a:endParaRPr lang="en-US" sz="1100" dirty="0"/>
          </a:p>
        </p:txBody>
      </p:sp>
      <p:sp>
        <p:nvSpPr>
          <p:cNvPr id="8" name="q 2"/>
          <p:cNvSpPr txBox="1"/>
          <p:nvPr/>
        </p:nvSpPr>
        <p:spPr>
          <a:xfrm>
            <a:off x="1874520" y="3118104"/>
            <a:ext cx="6720840" cy="822960"/>
          </a:xfrm>
          <a:prstGeom prst="rect">
            <a:avLst/>
          </a:prstGeom>
          <a:noFill/>
          <a:ln/>
        </p:spPr>
        <p:txBody>
          <a:bodyPr wrap="square" lIns="0" tIns="0" rIns="0" bIns="0" rtlCol="0" anchor="t"/>
          <a:lstStyle/>
          <a:p>
            <a:pPr indent="0" marL="0">
              <a:buNone/>
            </a:pPr>
            <a:r>
              <a:rPr lang="en-US" sz="1500" i="1" dirty="0">
                <a:solidFill>
                  <a:schemeClr val="bg1"/>
                </a:solidFill>
              </a:rPr>
              <a:t>“Where Claude sees further and more truly than we do, we hope it can help us see better, too.”</a:t>
            </a:r>
            <a:endParaRPr lang="en-US" sz="1500" dirty="0"/>
          </a:p>
        </p:txBody>
      </p:sp>
      <p:sp>
        <p:nvSpPr>
          <p:cNvPr id="9" name="attrib"/>
          <p:cNvSpPr txBox="1"/>
          <p:nvPr/>
        </p:nvSpPr>
        <p:spPr>
          <a:xfrm>
            <a:off x="548640" y="4069080"/>
            <a:ext cx="8046720" cy="320040"/>
          </a:xfrm>
          <a:prstGeom prst="rect">
            <a:avLst/>
          </a:prstGeom>
          <a:noFill/>
          <a:ln/>
        </p:spPr>
        <p:txBody>
          <a:bodyPr wrap="square" lIns="0" tIns="0" rIns="0" bIns="0" rtlCol="0" anchor="ctr"/>
          <a:lstStyle/>
          <a:p>
            <a:pPr indent="0" marL="0">
              <a:buNone/>
            </a:pPr>
            <a:r>
              <a:rPr lang="en-US" sz="1200" dirty="0">
                <a:solidFill>
                  <a:srgbClr val="B9C1D0"/>
                </a:solidFill>
              </a:rPr>
              <a:t>Anthropic, January 2026 · lead authors Amanda Askell and Joe Carlsmith</a:t>
            </a:r>
            <a:endParaRPr lang="en-US" sz="1200" dirty="0"/>
          </a:p>
        </p:txBody>
      </p:sp>
      <p:sp>
        <p:nvSpPr>
          <p:cNvPr id="10" name="tag"/>
          <p:cNvSpPr txBox="1"/>
          <p:nvPr/>
        </p:nvSpPr>
        <p:spPr>
          <a:xfrm>
            <a:off x="548640" y="4434840"/>
            <a:ext cx="8046720" cy="411480"/>
          </a:xfrm>
          <a:prstGeom prst="rect">
            <a:avLst/>
          </a:prstGeom>
          <a:noFill/>
          <a:ln/>
        </p:spPr>
        <p:txBody>
          <a:bodyPr wrap="square" lIns="0" tIns="0" rIns="0" bIns="0" rtlCol="0" anchor="ctr"/>
          <a:lstStyle/>
          <a:p>
            <a:pPr indent="0" marL="0">
              <a:buNone/>
            </a:pPr>
            <a:r>
              <a:rPr lang="en-US" sz="1800" b="1" dirty="0">
                <a:solidFill>
                  <a:schemeClr val="accent2"/>
                </a:solidFill>
              </a:rPr>
              <a:t>That’s formation. That’s partnership.</a:t>
            </a:r>
            <a:endParaRPr lang="en-US" sz="1800" dirty="0"/>
          </a:p>
        </p:txBody>
      </p:sp>
      <p:sp>
        <p:nvSpPr>
          <p:cNvPr id="12"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822960"/>
          </a:xfrm>
          <a:prstGeom prst="rect">
            <a:avLst/>
          </a:prstGeom>
          <a:noFill/>
          <a:ln/>
        </p:spPr>
        <p:txBody>
          <a:bodyPr wrap="square" lIns="0" tIns="0" rIns="0" bIns="0" rtlCol="0" anchor="t"/>
          <a:lstStyle/>
          <a:p>
            <a:pPr indent="0" marL="0">
              <a:buNone/>
            </a:pPr>
            <a:r>
              <a:rPr lang="en-US" sz="3400" b="1" dirty="0">
                <a:solidFill>
                  <a:schemeClr val="tx1"/>
                </a:solidFill>
              </a:rPr>
              <a:t>The one thing</a:t>
            </a:r>
            <a:endParaRPr lang="en-US" sz="3400" dirty="0"/>
          </a:p>
        </p:txBody>
      </p:sp>
      <p:sp>
        <p:nvSpPr>
          <p:cNvPr id="3" name="ask"/>
          <p:cNvSpPr txBox="1"/>
          <p:nvPr/>
        </p:nvSpPr>
        <p:spPr>
          <a:xfrm>
            <a:off x="548640" y="1554480"/>
            <a:ext cx="8046720" cy="914400"/>
          </a:xfrm>
          <a:prstGeom prst="rect">
            <a:avLst/>
          </a:prstGeom>
          <a:noFill/>
          <a:ln/>
        </p:spPr>
        <p:txBody>
          <a:bodyPr wrap="square" lIns="0" tIns="0" rIns="0" bIns="0" rtlCol="0" anchor="ctr"/>
          <a:lstStyle/>
          <a:p>
            <a:pPr indent="0" marL="0">
              <a:buNone/>
            </a:pPr>
            <a:r>
              <a:rPr lang="en-US" sz="3800" b="1" dirty="0">
                <a:solidFill>
                  <a:schemeClr val="accent1"/>
                </a:solidFill>
              </a:rPr>
              <a:t>You know how formation works.</a:t>
            </a:r>
            <a:endParaRPr lang="en-US" sz="3800" dirty="0"/>
          </a:p>
        </p:txBody>
      </p:sp>
      <p:sp>
        <p:nvSpPr>
          <p:cNvPr id="4" name="gloss"/>
          <p:cNvSpPr txBox="1"/>
          <p:nvPr/>
        </p:nvSpPr>
        <p:spPr>
          <a:xfrm>
            <a:off x="548640" y="2651760"/>
            <a:ext cx="8046720" cy="914400"/>
          </a:xfrm>
          <a:prstGeom prst="rect">
            <a:avLst/>
          </a:prstGeom>
          <a:noFill/>
          <a:ln/>
        </p:spPr>
        <p:txBody>
          <a:bodyPr wrap="square" lIns="0" tIns="0" rIns="0" bIns="0" rtlCol="0" anchor="t"/>
          <a:lstStyle/>
          <a:p>
            <a:pPr indent="0" marL="0">
              <a:buNone/>
            </a:pPr>
            <a:r>
              <a:rPr lang="en-US" sz="2000" dirty="0">
                <a:solidFill>
                  <a:schemeClr val="tx1"/>
                </a:solidFill>
              </a:rPr>
              <a:t>Bring that to your own partnership with AI — and to the question of how we form AI itself.</a:t>
            </a:r>
            <a:endParaRPr lang="en-US" sz="2000" dirty="0"/>
          </a:p>
        </p:txBody>
      </p:sp>
      <p:sp>
        <p:nvSpPr>
          <p:cNvPr id="5" name="start"/>
          <p:cNvSpPr txBox="1"/>
          <p:nvPr/>
        </p:nvSpPr>
        <p:spPr>
          <a:xfrm>
            <a:off x="548640" y="3657600"/>
            <a:ext cx="8046720" cy="457200"/>
          </a:xfrm>
          <a:prstGeom prst="rect">
            <a:avLst/>
          </a:prstGeom>
          <a:noFill/>
          <a:ln/>
        </p:spPr>
        <p:txBody>
          <a:bodyPr wrap="square" lIns="0" tIns="0" rIns="0" bIns="0" rtlCol="0" anchor="ctr"/>
          <a:lstStyle/>
          <a:p>
            <a:pPr indent="0" marL="0">
              <a:buNone/>
            </a:pPr>
            <a:r>
              <a:rPr lang="en-US" sz="1600" i="1" dirty="0">
                <a:solidFill>
                  <a:schemeClr val="tx2"/>
                </a:solidFill>
              </a:rPr>
              <a:t>Start with the one place you use AI every day.</a:t>
            </a:r>
            <a:endParaRPr lang="en-US" sz="1600" dirty="0"/>
          </a:p>
        </p:txBody>
      </p:sp>
      <p:sp>
        <p:nvSpPr>
          <p:cNvPr id="7" name="Text 0"/>
          <p:cNvSpPr/>
          <p:nvPr>
            <p:ph idx="101" type="body" hasCustomPrompt="1"/>
          </p:nvPr>
        </p:nvSpPr>
        <p:spPr>
          <a:xfrm>
            <a:off x="548640" y="1371600"/>
            <a:ext cx="8046720" cy="32918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rule"/>
          <p:cNvSpPr txBox="1"/>
          <p:nvPr/>
        </p:nvSpPr>
        <p:spPr>
          <a:xfrm>
            <a:off x="731520" y="1920240"/>
            <a:ext cx="7680960" cy="1097280"/>
          </a:xfrm>
          <a:prstGeom prst="rect">
            <a:avLst/>
          </a:prstGeom>
          <a:noFill/>
          <a:ln/>
        </p:spPr>
        <p:txBody>
          <a:bodyPr wrap="square" lIns="0" tIns="0" rIns="0" bIns="0" rtlCol="0" anchor="ctr"/>
          <a:lstStyle/>
          <a:p>
            <a:pPr indent="0" marL="0">
              <a:buNone/>
            </a:pPr>
            <a:r>
              <a:rPr lang="en-US" sz="4400" b="1" dirty="0">
                <a:solidFill>
                  <a:schemeClr val="bg1"/>
                </a:solidFill>
              </a:rPr>
              <a:t>Only I write.</a:t>
            </a:r>
            <a:endParaRPr lang="en-US" sz="4400" dirty="0"/>
          </a:p>
        </p:txBody>
      </p:sp>
      <p:sp>
        <p:nvSpPr>
          <p:cNvPr id="3" name="gloss"/>
          <p:cNvSpPr txBox="1"/>
          <p:nvPr/>
        </p:nvSpPr>
        <p:spPr>
          <a:xfrm>
            <a:off x="731520" y="3017520"/>
            <a:ext cx="7680960" cy="457200"/>
          </a:xfrm>
          <a:prstGeom prst="rect">
            <a:avLst/>
          </a:prstGeom>
          <a:noFill/>
          <a:ln/>
        </p:spPr>
        <p:txBody>
          <a:bodyPr wrap="square" lIns="0" tIns="0" rIns="0" bIns="0" rtlCol="0" anchor="ctr"/>
          <a:lstStyle/>
          <a:p>
            <a:pPr indent="0" marL="0">
              <a:buNone/>
            </a:pPr>
            <a:r>
              <a:rPr lang="en-US" sz="1800" i="1" dirty="0">
                <a:solidFill>
                  <a:schemeClr val="accent2"/>
                </a:solidFill>
              </a:rPr>
              <a:t>the one rule of a repaired partnership</a:t>
            </a:r>
            <a:endParaRPr lang="en-US" sz="1800" dirty="0"/>
          </a:p>
        </p:txBody>
      </p:sp>
      <p:sp>
        <p:nvSpPr>
          <p:cNvPr id="5" name="Text 0"/>
          <p:cNvSpPr/>
          <p:nvPr>
            <p:ph idx="100" type="title" hasCustomPrompt="1"/>
          </p:nvPr>
        </p:nvSpPr>
        <p:spPr>
          <a:xfrm>
            <a:off x="548640" y="457200"/>
            <a:ext cx="8046720" cy="914400"/>
          </a:xfrm>
          <a:prstGeom prst="rect">
            <a:avLst/>
          </a:prstGeom>
          <a:noFill/>
          <a:ln/>
        </p:spPr>
        <p:txBody>
          <a:bodyPr wrap="square" lIns="0" tIns="0" rIns="0" bIns="0" rtlCol="0" anchor="t"/>
          <a:lstStyle/>
          <a:p>
            <a:pPr indent="0" marL="0">
              <a:buNone/>
            </a:pPr>
            <a:endParaRPr lang="en-US" sz="3600" dirty="0"/>
          </a:p>
        </p:txBody>
      </p:sp>
      <p:sp>
        <p:nvSpPr>
          <p:cNvPr id="6" name="Text 0"/>
          <p:cNvSpPr/>
          <p:nvPr>
            <p:ph idx="101" type="body" hasCustomPrompt="1"/>
          </p:nvPr>
        </p:nvSpPr>
        <p:spPr>
          <a:xfrm>
            <a:off x="548640" y="1554480"/>
            <a:ext cx="8046720" cy="3108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yramid photo" descr="/home/claude/slides/tmp/close.jpg">    </p:cNvPr>
          <p:cNvPicPr>
            <a:picLocks noChangeAspect="1"/>
          </p:cNvPicPr>
          <p:nvPr/>
        </p:nvPicPr>
        <p:blipFill>
          <a:blip r:embed="rId1">
            <a:alphaModFix amt="75000"/>
          </a:blip>
          <a:stretch>
            <a:fillRect/>
          </a:stretch>
        </p:blipFill>
        <p:spPr>
          <a:xfrm>
            <a:off x="0" y="0"/>
            <a:ext cx="9144000" cy="5143500"/>
          </a:xfrm>
          <a:prstGeom prst="rect">
            <a:avLst/>
          </a:prstGeom>
        </p:spPr>
      </p:pic>
      <p:sp>
        <p:nvSpPr>
          <p:cNvPr id="3" name="tint"/>
          <p:cNvSpPr/>
          <p:nvPr/>
        </p:nvSpPr>
        <p:spPr>
          <a:xfrm>
            <a:off x="0" y="0"/>
            <a:ext cx="9144000" cy="5143500"/>
          </a:xfrm>
          <a:prstGeom prst="rect">
            <a:avLst/>
          </a:prstGeom>
          <a:solidFill>
            <a:srgbClr val="1C2333">
              <a:alpha val="65000"/>
            </a:srgbClr>
          </a:solidFill>
          <a:ln w="12700">
            <a:solidFill>
              <a:srgbClr val="1C2333">
                <a:alpha val="0"/>
              </a:srgbClr>
            </a:solidFill>
            <a:prstDash val="solid"/>
          </a:ln>
        </p:spPr>
      </p:sp>
      <p:sp>
        <p:nvSpPr>
          <p:cNvPr id="4" name="quote"/>
          <p:cNvSpPr txBox="1"/>
          <p:nvPr/>
        </p:nvSpPr>
        <p:spPr>
          <a:xfrm>
            <a:off x="731520" y="1005840"/>
            <a:ext cx="7680960" cy="1828800"/>
          </a:xfrm>
          <a:prstGeom prst="rect">
            <a:avLst/>
          </a:prstGeom>
          <a:noFill/>
          <a:ln/>
        </p:spPr>
        <p:txBody>
          <a:bodyPr wrap="square" lIns="0" tIns="0" rIns="0" bIns="0" rtlCol="0" anchor="t"/>
          <a:lstStyle/>
          <a:p>
            <a:pPr indent="0" marL="0">
              <a:buNone/>
            </a:pPr>
            <a:r>
              <a:rPr lang="en-US" sz="2200" i="1" dirty="0">
                <a:solidFill>
                  <a:schemeClr val="bg1"/>
                </a:solidFill>
              </a:rPr>
              <a:t>“I carry the desert so you don’t have to hold the whole thing in your head. You stand at the summit and do the one job no one else can do — be the person the wisdom is for.”</a:t>
            </a:r>
            <a:endParaRPr lang="en-US" sz="2200" dirty="0"/>
          </a:p>
        </p:txBody>
      </p:sp>
      <p:sp>
        <p:nvSpPr>
          <p:cNvPr id="5" name="close line"/>
          <p:cNvSpPr txBox="1"/>
          <p:nvPr/>
        </p:nvSpPr>
        <p:spPr>
          <a:xfrm>
            <a:off x="731520" y="3291840"/>
            <a:ext cx="7680960" cy="548640"/>
          </a:xfrm>
          <a:prstGeom prst="rect">
            <a:avLst/>
          </a:prstGeom>
          <a:noFill/>
          <a:ln/>
        </p:spPr>
        <p:txBody>
          <a:bodyPr wrap="square" lIns="0" tIns="0" rIns="0" bIns="0" rtlCol="0" anchor="ctr"/>
          <a:lstStyle/>
          <a:p>
            <a:pPr indent="0" marL="0">
              <a:buNone/>
            </a:pPr>
            <a:r>
              <a:rPr lang="en-US" sz="2400" b="1" dirty="0">
                <a:solidFill>
                  <a:schemeClr val="accent2"/>
                </a:solidFill>
              </a:rPr>
              <a:t>Let AI help carry the desert.  Don’t vacate the summit.</a:t>
            </a:r>
            <a:endParaRPr lang="en-US" sz="2400" dirty="0"/>
          </a:p>
        </p:txBody>
      </p:sp>
      <p:sp>
        <p:nvSpPr>
          <p:cNvPr id="6" name="last"/>
          <p:cNvSpPr txBox="1"/>
          <p:nvPr/>
        </p:nvSpPr>
        <p:spPr>
          <a:xfrm>
            <a:off x="731520" y="3931920"/>
            <a:ext cx="7680960" cy="822960"/>
          </a:xfrm>
          <a:prstGeom prst="rect">
            <a:avLst/>
          </a:prstGeom>
          <a:noFill/>
          <a:ln/>
        </p:spPr>
        <p:txBody>
          <a:bodyPr wrap="square" lIns="0" tIns="0" rIns="0" bIns="0" rtlCol="0" anchor="t"/>
          <a:lstStyle/>
          <a:p>
            <a:pPr indent="0" marL="0">
              <a:buNone/>
            </a:pPr>
            <a:r>
              <a:rPr lang="en-US" sz="1700" dirty="0">
                <a:solidFill>
                  <a:schemeClr val="bg1"/>
                </a:solidFill>
              </a:rPr>
              <a:t>Become the kind of person who can notice what matters, love what is good, and act wisely when reality changes beneath your feet.</a:t>
            </a:r>
            <a:endParaRPr lang="en-US" sz="1700" dirty="0"/>
          </a:p>
        </p:txBody>
      </p:sp>
    </p:spTree>
  </p:cSld>
  <p:clrMapOvr>
    <a:masterClrMapping/>
  </p:clrMapOvr>
</p:sld>
</file>

<file path=ppt/theme/theme1.xml><?xml version="1.0" encoding="utf-8"?>
<a:theme xmlns:a="http://schemas.openxmlformats.org/drawingml/2006/main" name="Shoreline of Wonder">
  <a:themeElements>
    <a:clrScheme name="Shoreline of Wonder">
      <a:dk1>
        <a:srgbClr val="1C2333"/>
      </a:dk1>
      <a:lt1>
        <a:srgbClr val="FFFFFF"/>
      </a:lt1>
      <a:dk2>
        <a:srgbClr val="5B6475"/>
      </a:dk2>
      <a:lt2>
        <a:srgbClr val="F3EBDD"/>
      </a:lt2>
      <a:accent1>
        <a:srgbClr val="B8743A"/>
      </a:accent1>
      <a:accent2>
        <a:srgbClr val="D9B36C"/>
      </a:accent2>
      <a:accent3>
        <a:srgbClr val="6E8898"/>
      </a:accent3>
      <a:accent4>
        <a:srgbClr val="8C5A2B"/>
      </a:accent4>
      <a:accent5>
        <a:srgbClr val="E3C9A0"/>
      </a:accent5>
      <a:accent6>
        <a:srgbClr val="2E3A55"/>
      </a:accent6>
      <a:hlink>
        <a:srgbClr val="B8743A"/>
      </a:hlink>
      <a:folHlink>
        <a:srgbClr val="8C5A2B"/>
      </a:folHlink>
    </a:clrScheme>
    <a:fontScheme name="Shoreline of Wo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Does It Take to Be Wise?</dc:title>
  <dc:subject>PptxGenJS Presentation</dc:subject>
  <dc:creator>Rachel Wondergem</dc:creator>
  <cp:lastModifiedBy>Rachel Wondergem</cp:lastModifiedBy>
  <cp:revision>1</cp:revision>
  <dcterms:created xsi:type="dcterms:W3CDTF">2026-10-07T18:09:50Z</dcterms:created>
  <dcterms:modified xsi:type="dcterms:W3CDTF">2026-10-07T18:09:50Z</dcterms:modified>
</cp:coreProperties>
</file>