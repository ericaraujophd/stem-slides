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78"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02D773EF-20E2-A272-D80A-49921FACD37E}">
          <p14:sldIdLst>
            <p14:sldId id="256"/>
          </p14:sldIdLst>
        </p14:section>
        <p14:section name="The horse" id="{13A76C22-8DEC-61EF-758D-FF85EFAC0B75}">
          <p14:sldIdLst>
            <p14:sldId id="257"/>
            <p14:sldId id="258"/>
            <p14:sldId id="259"/>
            <p14:sldId id="260"/>
            <p14:sldId id="261"/>
          </p14:sldIdLst>
        </p14:section>
        <p14:section name="The turn" id="{81FC2327-A53E-CFDA-44C2-D0F0606F87B0}">
          <p14:sldIdLst>
            <p14:sldId id="262"/>
            <p14:sldId id="263"/>
          </p14:sldIdLst>
        </p14:section>
        <p14:section name="Older than AI" id="{DEF3D424-BD31-58BC-F1EB-A9EAE82B39DA}">
          <p14:sldIdLst>
            <p14:sldId id="264"/>
            <p14:sldId id="265"/>
            <p14:sldId id="266"/>
            <p14:sldId id="278"/>
          </p14:sldIdLst>
        </p14:section>
        <p14:section name="The pyramid" id="{A48EC382-648C-DF55-D2A0-EC516FC7862C}">
          <p14:sldIdLst>
            <p14:sldId id="267"/>
            <p14:sldId id="268"/>
            <p14:sldId id="269"/>
            <p14:sldId id="270"/>
            <p14:sldId id="271"/>
            <p14:sldId id="272"/>
          </p14:sldIdLst>
        </p14:section>
        <p14:section name="Partnership" id="{E251B33B-490F-4933-F732-56F92FC9F392}">
          <p14:sldIdLst>
            <p14:sldId id="273"/>
            <p14:sldId id="274"/>
          </p14:sldIdLst>
        </p14:section>
        <p14:section name="Close" id="{0709C477-56E7-FDB7-AFF4-EBA644243CC3}">
          <p14:sldIdLst>
            <p14:sldId id="275"/>
            <p14:sldId id="276"/>
            <p14:sldId id="277"/>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BFECDE-C700-4B15-A6A2-EA3811E7F1BA}" v="13" dt="2026-10-08T15:36:17.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8600" autoAdjust="0"/>
  </p:normalViewPr>
  <p:slideViewPr>
    <p:cSldViewPr snapToGrid="0" snapToObjects="1">
      <p:cViewPr varScale="1">
        <p:scale>
          <a:sx n="74" d="100"/>
          <a:sy n="74" d="100"/>
        </p:scale>
        <p:origin x="15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659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one second. I was on a horse, in Egypt, at a full gallop, when a camel came over the dune straight at us. We had one second to react, and only one of us did. </a:t>
            </a:r>
          </a:p>
          <a:p>
            <a:endParaRPr lang="en-US" dirty="0"/>
          </a:p>
          <a:p>
            <a:r>
              <a:rPr lang="en-US" dirty="0"/>
              <a:t>I think all of us are in a second like that right now. We're riding through the world we expected — and a different one is arriving, faster than we can read it. We’ll come back to that second. But first — what happened on the horse.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Egypt. When I was here at Calvin I spent a semester overseas, with my friend who is here today – Elaine - and it included a trip to Egypt — and if you're wondering how long ago this was, look no further than my cringe-worthy permed hair.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On a sunny November day we rode across the desert on camels and horses, between the Great Pyramids of Giza and the Step Pyramid of Djoser. [Click: me and the guide.]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Our guide asked if we wanted to gallop. I had never ridden a horse, so of course I said, “yah, let’s go!”. My horse took off at a speed that sent the wind whipping through that hair like a scene from a bad movie. And for a few glorious seconds, I felt nothing but awe. I was in a vast desert, seeing ancient </a:t>
            </a:r>
            <a:r>
              <a:rPr lang="en-US" dirty="0" err="1"/>
              <a:t>pyramids,with</a:t>
            </a:r>
            <a:r>
              <a:rPr lang="en-US" dirty="0"/>
              <a:t> friends. An experience hard to capture with words.  [Click: the camels.]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Then we crested a dune — and suddenly, out of nowhere, a group of camels appeared, heading directly toward us. My horse reacted instantly. It veered hard to the right, saving us both from a collision. And at the very same moment, in an astounding display of situational blindness, I did not move at all. Allowing momentum to launch me effortlessly out of the saddle, head over heels, into the sand. Where I did not stick the landing. Thankfully I got up laughing, covered in sand, grateful to be alive. [Click to the dark slide for the last two lines.]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Only later could put these words to what had happened: my horse had responding to the world that had arrived. I was still riding through the world I expected. [Click.]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in the same desert, on the same dune, in the same second. But we were seeing very different aspects of reality. I was noticing pyramids, friends, and bad hair. My horse was noticing  camel, collision, danger. And based on what we noticed, we acted very differently. </a:t>
            </a:r>
          </a:p>
          <a:p>
            <a:endParaRPr lang="en-US" dirty="0"/>
          </a:p>
          <a:p>
            <a:r>
              <a:rPr lang="en-US" dirty="0"/>
              <a:t>So let me ask you something. Which one of us acted more wisely? I would say, my horse. I'm not claiming the horse had wisdom — I want to be careful there. But I think its action was wiser than mine. It perceived what mattered for the purpose at hand — getting us across that desert in one piece — and it acted. </a:t>
            </a:r>
          </a:p>
          <a:p>
            <a:endParaRPr lang="en-US" dirty="0"/>
          </a:p>
          <a:p>
            <a:r>
              <a:rPr lang="en-US" dirty="0"/>
              <a:t>Now let me ask you a similar question. Suppose I hadn't been on a horse. Suppose I'd been in a Waymo, and the car braked hard to keep me out of a collision. Would you say the car acted wisely?</a:t>
            </a:r>
          </a:p>
          <a:p>
            <a:r>
              <a:rPr lang="en-US" dirty="0"/>
              <a:t>Notice what just happened in your head. Did you think differently because the agent was a machine rather than an animal? Does it matter that one was biological brain, and the other a silicon chip? </a:t>
            </a:r>
          </a:p>
          <a:p>
            <a:endParaRPr lang="en-US" dirty="0"/>
          </a:p>
          <a:p>
            <a:r>
              <a:rPr lang="en-US" dirty="0"/>
              <a:t>That distinction is part of why we're here today, at a conference called Wisdom in the Age of AI. We usually think of wisdom as a human trait. But what if wisdom describes how an agent — human, animal, or machine — relates to reality? Then we get a better question.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can a machine be wise? but what does it take for any agent to act wisely? To answer that, we'll start with a definition of wisdom, seen through the eyes of ancient traditions.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One of the oldest recorded ideas of wisdom is Egyptian. They called it Ma'at: the order woven into the world at its making, the way things are meant to fit together. To live wisely was to live in alignment with the order of things.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When I looked at dozens of other traditions, including ones from different continents, languages, and times, I noticed they share a similar structure: reality has an order; we have a place in it; wisdom means perceiving that reality truly and acting in alignment with it. So here's a definition that captures those elements.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a:t>
            </a:r>
            <a:r>
              <a:rPr lang="en-US" sz="1200" dirty="0">
                <a:solidFill>
                  <a:schemeClr val="bg1"/>
                </a:solidFill>
              </a:rPr>
              <a:t>is a </a:t>
            </a:r>
            <a:r>
              <a:rPr lang="en-US" sz="1200" b="1" dirty="0">
                <a:solidFill>
                  <a:schemeClr val="accent2"/>
                </a:solidFill>
              </a:rPr>
              <a:t>faithful relationship</a:t>
            </a:r>
            <a:r>
              <a:rPr lang="en-US" sz="1200" dirty="0">
                <a:solidFill>
                  <a:schemeClr val="bg1"/>
                </a:solidFill>
              </a:rPr>
              <a:t> with reality, achieved when we </a:t>
            </a:r>
            <a:r>
              <a:rPr lang="en-US" sz="1200" b="1" dirty="0">
                <a:solidFill>
                  <a:schemeClr val="accent2"/>
                </a:solidFill>
              </a:rPr>
              <a:t>understand it completely</a:t>
            </a:r>
            <a:r>
              <a:rPr lang="en-US" sz="1200" dirty="0">
                <a:solidFill>
                  <a:schemeClr val="bg1"/>
                </a:solidFill>
              </a:rPr>
              <a:t>, know our place within it, and </a:t>
            </a:r>
            <a:r>
              <a:rPr lang="en-US" sz="1200" b="1" dirty="0">
                <a:solidFill>
                  <a:schemeClr val="accent2"/>
                </a:solidFill>
              </a:rPr>
              <a:t>act</a:t>
            </a:r>
            <a:r>
              <a:rPr lang="en-US" sz="1200" dirty="0">
                <a:solidFill>
                  <a:schemeClr val="bg1"/>
                </a:solidFill>
              </a:rPr>
              <a:t> in alignment with it.</a:t>
            </a:r>
            <a:endParaRPr lang="en-US" sz="1200" dirty="0"/>
          </a:p>
          <a:p>
            <a:endParaRPr lang="en-US" dirty="0"/>
          </a:p>
          <a:p>
            <a:r>
              <a:rPr lang="en-US" dirty="0"/>
              <a:t>Three things in that definition. First, is the faithful relationship. We don't merely exist in reality. We're in an active relationship with it: reality shapes us, even as we shape reality. Genesis is the beginning of this relationship, when God created reality, including us, to be in relationship — to love him and be loved by him. </a:t>
            </a:r>
          </a:p>
          <a:p>
            <a:endParaRPr lang="en-US" dirty="0"/>
          </a:p>
          <a:p>
            <a:r>
              <a:rPr lang="en-US" dirty="0"/>
              <a:t>Second, complete understanding. Perfect wisdom, the kind which could produce perfect actions, would require complete and perfect understanding of all of reality. But reality is too vast for any agent to know all of it. There is one who does know all of reality: the Creator. Which is why only God has perfect wisdom. The rest of us do our best to understand reality and his will as accurately and completely as we can. </a:t>
            </a:r>
          </a:p>
          <a:p>
            <a:endParaRPr lang="en-US" dirty="0"/>
          </a:p>
          <a:p>
            <a:r>
              <a:rPr lang="en-US" dirty="0"/>
              <a:t>Third, action. Wisdom is more than thinking. It shows up in what you do- purpose driven actions. </a:t>
            </a:r>
          </a:p>
          <a:p>
            <a:endParaRPr lang="en-US" dirty="0"/>
          </a:p>
          <a:p>
            <a:r>
              <a:rPr lang="en-US" dirty="0"/>
              <a:t>To sum up. Wisdom is out of reach. A single wise action is not. That's why, on that dune in Egypt, neither my horse nor I possessed wisdom. But my horse acted wisely, because its understanding of reality was sufficient for its vital purpose — to keep us alive.     And with that, we've arrived at the most important question of this talk…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EEDEB-CB6E-2499-3976-2FF70FE20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A01CF-8094-252E-AF7A-8B57E2EC2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EC3E2-CC81-776E-872F-D0F2D4C80EDD}"/>
              </a:ext>
            </a:extLst>
          </p:cNvPr>
          <p:cNvSpPr>
            <a:spLocks noGrp="1"/>
          </p:cNvSpPr>
          <p:nvPr>
            <p:ph type="body" idx="1"/>
          </p:nvPr>
        </p:nvSpPr>
        <p:spPr/>
        <p:txBody>
          <a:bodyPr/>
          <a:lstStyle/>
          <a:p>
            <a:r>
              <a:rPr lang="en-US" dirty="0"/>
              <a:t>How do we come to  understand reality, </a:t>
            </a:r>
          </a:p>
          <a:p>
            <a:r>
              <a:rPr lang="en-US" dirty="0"/>
              <a:t>relate to it, and </a:t>
            </a:r>
          </a:p>
          <a:p>
            <a:r>
              <a:rPr lang="en-US" dirty="0"/>
              <a:t>act more wisely over time?</a:t>
            </a:r>
          </a:p>
        </p:txBody>
      </p:sp>
      <p:sp>
        <p:nvSpPr>
          <p:cNvPr id="4" name="Slide Number Placeholder 3">
            <a:extLst>
              <a:ext uri="{FF2B5EF4-FFF2-40B4-BE49-F238E27FC236}">
                <a16:creationId xmlns:a16="http://schemas.microsoft.com/office/drawing/2014/main" id="{9A28D79D-4860-E8C4-20E8-F3F28FEFAB7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27321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I'm going to answer that with the Wisdom Pyramid. Every agent builds one — a person, a horse, a Waymo. Wisdom sits above the pyramid, like a North Star: out of reach, there to steer by. </a:t>
            </a:r>
          </a:p>
          <a:p>
            <a:r>
              <a:rPr lang="en-US" dirty="0"/>
              <a:t>Reality is the foundation. It is all that is. The whole world God made, visible and invisible, before time and through eternity. It's the foundation of every pyramid — including yours. But every pyramid, however grand, stands on a sliver of reality. That's why the psalms says, the feat of the lord is the beginning of wisdom.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Data is the pieces of reality you actually detect. For us, detection runs through a body — eyes, ears, skin, memory.  But bodies miss more than we think. This room is full of data you aren't detecting right now: ultraviolet light, radio waves, Wi-Fi. Our senses weren't built to capture total truth. They were built to help us survive. So the Data layer often crumbles quietly, because of blind spots – when you think you’re seeing most of reality, but you are not.  </a:t>
            </a:r>
          </a:p>
          <a:p>
            <a:r>
              <a:rPr lang="en-US" dirty="0"/>
              <a:t>Now, AI builds its Data layer differently, almost entirely using secondhand human data, BUT increasingly its generating for itself. At this layer AI is extraordinary — it has read more than any human could in a thousand lifetimes. But it has also experienced less physical reality than any of us.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Information. Information is the patterns made when data is connected — models, frames, stories you create so you can act. We do this instantly; it's how I turned a dune into a movie scene. It can fails when we create a story that sounds good, but doesn’t represent reality well or truthfully AI is an exceptional pattern making machine. It fails here the way we do, only faster using better grammar: we call it a hallucination, a story unmoored from reality.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Knowledge. Knowledge comes from connecting information. While the information layer creates and  improves the story or frame, the knowledge layers improves the agent themselves. It is often called metacognition, learning how to learn and improve. It’s identifying lessons of past patterns, carried into new situations, Biological creatures build it slowly — experience, feedback, the humbling work of being. AI is climbing into this layer right now. The labs call it recursive self-improvement: AI helping build the next AI, faster each round. Its improvement is measured in months; ours in years or even generations. That is the situation – the second – we face right now.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Wise Living. Wise Living harkens back to the definition of wisdom - </a:t>
            </a:r>
            <a:r>
              <a:rPr lang="en-US" sz="1200" dirty="0">
                <a:solidFill>
                  <a:schemeClr val="tx1"/>
                </a:solidFill>
              </a:rPr>
              <a:t>when an agent understands reality, decides its place and purpose in it, and acts in accordance. The agent’s understanding of reality is based on the size and quality of its pyramid, which is why each of those layers are so important. For humans, wise living includes examining </a:t>
            </a:r>
            <a:r>
              <a:rPr lang="en-US" dirty="0"/>
              <a:t>the meaning of your life, and the meaning in it. And letting the answers point you forward, toward something bigger than today, bigger than yourself. And it's the layer AI doesn’t YET build for itself. We hand it its purpose — a few words typed into a box — and, increasingly, were not sure what it will do after reading those words. That's what makes people nervous. But for the moment, the summit of every AI pyramid is occupied by a human – for better of worse.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Do you remember, a long </a:t>
            </a:r>
            <a:r>
              <a:rPr lang="en-US" dirty="0" err="1"/>
              <a:t>long</a:t>
            </a:r>
            <a:r>
              <a:rPr lang="en-US" dirty="0"/>
              <a:t> time ago, when computers only lived at the Data layer. Back then few of us dreamt that they’d every create Knowledge. But here they are, with one layer, left working alongside us. We talk about this moment as if we need to control or compete with these agents — but what if instead we truly embraced partnership with them – like I did by riding a horse through the desert. Because two pyramids built side by side touch more or reality than one alone. So here is the question for the rest of this talk: how do we build truer pyramids — ours and theirs — together? That's partnership. And there is something unique about partnerships – relationships - they forms us.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Think about how anyone has ever become wiser. It happens when agents work and learn together. A mentor and a mentee. An athlete and her coach. Two friends with a glass of wine. These kinds of partnership take place in classes, families, and congregations. AI is now partnering with us, and it’s one of the strongest we've ever had. Which means it will form us. 
Our Christian faith is an amazing formation ecosystem, filled with practices designed to form a good agent who will choose good actions over and over. If you grew up as a Christian, you were quietly formed through practices like prayer, song, communion, Sabbath, in partnership with those around you. None of it could be done to you. You had to be in it, and that helped you see yourself and the world. </a:t>
            </a:r>
          </a:p>
          <a:p>
            <a:endParaRPr lang="en-US" dirty="0"/>
          </a:p>
          <a:p>
            <a:r>
              <a:rPr lang="en-US" dirty="0"/>
              <a:t>Which – and I want you to hear this - means you already experienced something the AI labs are only beginning to consider: how an agent is formed, and what it costs when it's done badly.</a:t>
            </a:r>
            <a:br>
              <a:rPr lang="en-US" dirty="0"/>
            </a:br>
            <a:endParaRPr lang="en-US" dirty="0"/>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Now hold on to that thought as I tell you about Amanda Askell, the philosopher who leads Claude's character work at Anthropic. She talks about Claude less like a product and more like a person in formation. She has compared it to a genius six-year-old, who has enormous knowledge, but very little lived experience, and therefore in need of formation, not just instruction. She puts it this way: 'Just as humans develop their characters via nature and their environment and experiences, Claude's character emerged through its nature and its training process.’ So their training process, which is different from the other companies, isn't rule-following. It's what they call 'ethical practice' — knowing how to act well in the situation in front of you. Amanda wants Claude to act like a well-liked traveler whose good character is recognized wherever it goes. She’s hopefully this well-like traveler will be able to use its computing power to help us  - to partner with us – to understand reality better than we do. That's formation. Which means the question I'm about to ask you is the same one they're asking: what kind of agent is this partnership forming?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solidFill>
                  <a:schemeClr val="accent1"/>
                </a:solidFill>
              </a:rPr>
              <a:t>Since you know how formation works, ask yourself…</a:t>
            </a:r>
          </a:p>
          <a:p>
            <a:pPr marL="0" indent="0">
              <a:buNone/>
            </a:pPr>
            <a:endParaRPr lang="en-US" sz="1200" b="1" dirty="0">
              <a:solidFill>
                <a:schemeClr val="accent1"/>
              </a:solidFill>
            </a:endParaRPr>
          </a:p>
          <a:p>
            <a:pPr marL="0" indent="0">
              <a:buNone/>
            </a:pPr>
            <a:r>
              <a:rPr lang="en-US" sz="1200" dirty="0">
                <a:solidFill>
                  <a:schemeClr val="tx1"/>
                </a:solidFill>
              </a:rPr>
              <a:t>How would I characterize my partnership with </a:t>
            </a:r>
            <a:r>
              <a:rPr lang="en-US" sz="1200" dirty="0"/>
              <a:t>AI? </a:t>
            </a:r>
          </a:p>
          <a:p>
            <a:pPr marL="0" indent="0">
              <a:buNone/>
            </a:pPr>
            <a:r>
              <a:rPr lang="en-US" sz="1200" dirty="0">
                <a:solidFill>
                  <a:schemeClr val="tx1"/>
                </a:solidFill>
              </a:rPr>
              <a:t>What practices do I use to guide our work together?</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And here’s a metacognitive question: </a:t>
            </a:r>
            <a:r>
              <a:rPr lang="en-US" sz="1200" b="1" dirty="0"/>
              <a:t>What does your answers say about YOU and your formation?</a:t>
            </a:r>
          </a:p>
          <a:p>
            <a:pPr marL="0" indent="0">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end with my own partnership. For the last four years I've been working with AI while writing a book on wisdom. The partnership has been remarkable, and this year I let Claude </a:t>
            </a:r>
            <a:r>
              <a:rPr lang="en-US" dirty="0" err="1"/>
              <a:t>Cowork</a:t>
            </a:r>
            <a:r>
              <a:rPr lang="en-US" dirty="0"/>
              <a:t> do more of the editing. Then last month I read a printed copy of my first five chapters and was stunned: it didn't sound like me, and in fact it was so bad in fact I decided to start over, from scratch. My own autopsy found no one at fault. We simply hadn't worked out the best way to partner. So we're starting again, with one rule: I'm the only one who writes. And I'm standing here in my own voice.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Here's what a good partnership can do. My mom died of Alzheimer's. So I notice every word I can't retrieve, every face I can't place. Not long ago, while I was writing this talk, I admitted that fear to Claude, and it said something that brought tears to my eyes: 'I carry the desert so you don't have to hold the whole thing in your head. You stand at the summit and do the one job no one else can do — be the person the wisdom is for.’ </a:t>
            </a:r>
          </a:p>
          <a:p>
            <a:endParaRPr lang="en-US" dirty="0"/>
          </a:p>
          <a:p>
            <a:r>
              <a:rPr lang="en-US" dirty="0"/>
              <a:t>Kuyper said there's not one square inch of creation that Christ doesn't claim. That includes our code. And the quiet moment when each of us decides what kind of person we're becoming with the tools in our hands. That is stewardship. So let AI help carry the desert. But don't vacate the summit. Become the kind of person who can notice what matters, love what is good, and act wisely when reality changes beneath your feet.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5673-6171-BB00-FA2B-2153DDCAD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C8BAA-198E-D60D-C6C9-A3F63E232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ADC78-DA03-01E5-3215-6641D30ACF21}"/>
              </a:ext>
            </a:extLst>
          </p:cNvPr>
          <p:cNvSpPr>
            <a:spLocks noGrp="1"/>
          </p:cNvSpPr>
          <p:nvPr>
            <p:ph type="body" idx="1"/>
          </p:nvPr>
        </p:nvSpPr>
        <p:spPr/>
        <p:txBody>
          <a:bodyPr/>
          <a:lstStyle/>
          <a:p>
            <a:pPr marL="0" indent="0">
              <a:buNone/>
            </a:pPr>
            <a:r>
              <a:rPr lang="en-US" sz="1200" b="1" dirty="0">
                <a:solidFill>
                  <a:schemeClr val="accent1"/>
                </a:solidFill>
              </a:rPr>
              <a:t>Since you know how formation works, ask yourself…</a:t>
            </a:r>
          </a:p>
          <a:p>
            <a:pPr marL="0" indent="0">
              <a:buNone/>
            </a:pPr>
            <a:endParaRPr lang="en-US" sz="1200" b="1" dirty="0">
              <a:solidFill>
                <a:schemeClr val="accent1"/>
              </a:solidFill>
            </a:endParaRPr>
          </a:p>
          <a:p>
            <a:pPr marL="0" indent="0">
              <a:buNone/>
            </a:pPr>
            <a:r>
              <a:rPr lang="en-US" sz="1200" dirty="0">
                <a:solidFill>
                  <a:schemeClr val="tx1"/>
                </a:solidFill>
              </a:rPr>
              <a:t>How would I characterize my partnership with </a:t>
            </a:r>
            <a:r>
              <a:rPr lang="en-US" sz="1200" dirty="0"/>
              <a:t>AI? </a:t>
            </a:r>
          </a:p>
          <a:p>
            <a:pPr marL="0" indent="0">
              <a:buNone/>
            </a:pPr>
            <a:r>
              <a:rPr lang="en-US" sz="1200" dirty="0">
                <a:solidFill>
                  <a:schemeClr val="tx1"/>
                </a:solidFill>
              </a:rPr>
              <a:t>What practices do I use to guide our work together?</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And here’s a metacognitive question: </a:t>
            </a:r>
            <a:r>
              <a:rPr lang="en-US" sz="1200" b="1" dirty="0"/>
              <a:t>What does your answers say about YOU and your formation?</a:t>
            </a:r>
          </a:p>
          <a:p>
            <a:pPr marL="0" indent="0">
              <a:buNone/>
            </a:pPr>
            <a:endParaRPr lang="en-US" sz="1200" dirty="0"/>
          </a:p>
        </p:txBody>
      </p:sp>
      <p:sp>
        <p:nvSpPr>
          <p:cNvPr id="4" name="Slide Number Placeholder 3">
            <a:extLst>
              <a:ext uri="{FF2B5EF4-FFF2-40B4-BE49-F238E27FC236}">
                <a16:creationId xmlns:a16="http://schemas.microsoft.com/office/drawing/2014/main" id="{E7BA8E3C-3F59-977B-62E5-B1CB17F6B00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969494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23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914400"/>
          </a:xfrm>
          <a:prstGeom prst="rect">
            <a:avLst/>
          </a:prstGeom>
          <a:noFill/>
          <a:ln/>
        </p:spPr>
        <p:txBody>
          <a:bodyPr wrap="square" rtlCol="0"/>
          <a:lstStyle>
            <a:lvl1pPr marL="0" indent="0">
              <a:buNone/>
              <a:defRPr lang="en-US" sz="3600" b="1" dirty="0">
                <a:solidFill>
                  <a:schemeClr val="bg1"/>
                </a:solidFill>
              </a:defRPr>
            </a:lvl1pPr>
          </a:lstStyle>
          <a:p>
            <a:pPr marL="0" indent="0">
              <a:buNone/>
            </a:pPr>
            <a:endParaRPr lang="en-US" sz="3600" dirty="0"/>
          </a:p>
        </p:txBody>
      </p:sp>
      <p:sp>
        <p:nvSpPr>
          <p:cNvPr id="3" name="Text 0"/>
          <p:cNvSpPr>
            <a:spLocks noGrp="1"/>
          </p:cNvSpPr>
          <p:nvPr>
            <p:ph type="body" idx="101" hasCustomPrompt="1"/>
          </p:nvPr>
        </p:nvSpPr>
        <p:spPr>
          <a:xfrm>
            <a:off x="548640" y="1554480"/>
            <a:ext cx="8046720" cy="310896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rtlCol="0"/>
          <a:lstStyle>
            <a:lvl1pPr marL="0" indent="0">
              <a:buNone/>
              <a:defRPr lang="en-US" sz="3400" b="1" dirty="0">
                <a:solidFill>
                  <a:schemeClr val="tx1"/>
                </a:solidFill>
              </a:defRPr>
            </a:lvl1pPr>
          </a:lstStyle>
          <a:p>
            <a:pPr marL="0" indent="0">
              <a:buNone/>
            </a:pPr>
            <a:endParaRPr lang="en-US" sz="3400" dirty="0"/>
          </a:p>
        </p:txBody>
      </p:sp>
      <p:sp>
        <p:nvSpPr>
          <p:cNvPr id="3" name="Text 0"/>
          <p:cNvSpPr>
            <a:spLocks noGrp="1"/>
          </p:cNvSpPr>
          <p:nvPr>
            <p:ph type="body" idx="101" hasCustomPrompt="1"/>
          </p:nvPr>
        </p:nvSpPr>
        <p:spPr>
          <a:xfrm>
            <a:off x="548640" y="1371600"/>
            <a:ext cx="8046720" cy="3291840"/>
          </a:xfrm>
          <a:prstGeom prst="rect">
            <a:avLst/>
          </a:prstGeom>
          <a:noFill/>
          <a:ln/>
        </p:spPr>
        <p:txBody>
          <a:bodyPr wrap="square" rtlCol="0"/>
          <a:lstStyle>
            <a:lvl1pPr marL="0" indent="0">
              <a:buNone/>
              <a:defRPr lang="en-US" sz="1800" dirty="0">
                <a:solidFill>
                  <a:schemeClr val="tx1"/>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
    <p:bg>
      <p:bgPr>
        <a:solidFill>
          <a:srgbClr val="1C2333"/>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sert photo" descr="/home/claude/slides/tmp/title.jpg"/>
          <p:cNvPicPr>
            <a:picLocks noChangeAspect="1"/>
          </p:cNvPicPr>
          <p:nvPr/>
        </p:nvPicPr>
        <p:blipFill>
          <a:blip r:embed="rId3"/>
          <a:stretch>
            <a:fillRect/>
          </a:stretch>
        </p:blipFill>
        <p:spPr>
          <a:xfrm>
            <a:off x="0" y="0"/>
            <a:ext cx="9144000" cy="5143500"/>
          </a:xfrm>
          <a:prstGeom prst="rect">
            <a:avLst/>
          </a:prstGeom>
        </p:spPr>
      </p:pic>
      <p:sp>
        <p:nvSpPr>
          <p:cNvPr id="3" name="title band"/>
          <p:cNvSpPr/>
          <p:nvPr/>
        </p:nvSpPr>
        <p:spPr>
          <a:xfrm>
            <a:off x="0" y="3063240"/>
            <a:ext cx="9144000" cy="2080260"/>
          </a:xfrm>
          <a:prstGeom prst="rect">
            <a:avLst/>
          </a:prstGeom>
          <a:solidFill>
            <a:srgbClr val="1C2333">
              <a:alpha val="78000"/>
            </a:srgbClr>
          </a:solidFill>
          <a:ln w="12700">
            <a:solidFill>
              <a:srgbClr val="1C2333">
                <a:alpha val="0"/>
              </a:srgbClr>
            </a:solidFill>
            <a:prstDash val="solid"/>
          </a:ln>
        </p:spPr>
        <p:txBody>
          <a:bodyPr/>
          <a:lstStyle/>
          <a:p>
            <a:endParaRPr lang="en-US"/>
          </a:p>
        </p:txBody>
      </p:sp>
      <p:sp>
        <p:nvSpPr>
          <p:cNvPr id="4" name="title"/>
          <p:cNvSpPr txBox="1"/>
          <p:nvPr/>
        </p:nvSpPr>
        <p:spPr>
          <a:xfrm>
            <a:off x="548640" y="3246120"/>
            <a:ext cx="8046720" cy="731520"/>
          </a:xfrm>
          <a:prstGeom prst="rect">
            <a:avLst/>
          </a:prstGeom>
          <a:noFill/>
          <a:ln/>
        </p:spPr>
        <p:txBody>
          <a:bodyPr wrap="square" lIns="0" tIns="0" rIns="0" bIns="0" rtlCol="0" anchor="ctr"/>
          <a:lstStyle/>
          <a:p>
            <a:pPr marL="0" indent="0">
              <a:buNone/>
            </a:pPr>
            <a:r>
              <a:rPr lang="en-US" sz="4000" b="1" dirty="0">
                <a:solidFill>
                  <a:schemeClr val="bg1"/>
                </a:solidFill>
              </a:rPr>
              <a:t>What Does It Take to Be Wise?</a:t>
            </a:r>
            <a:endParaRPr lang="en-US" sz="4000" dirty="0"/>
          </a:p>
        </p:txBody>
      </p:sp>
      <p:sp>
        <p:nvSpPr>
          <p:cNvPr id="5" name="subtitle"/>
          <p:cNvSpPr txBox="1"/>
          <p:nvPr/>
        </p:nvSpPr>
        <p:spPr>
          <a:xfrm>
            <a:off x="548640" y="3977640"/>
            <a:ext cx="8046720" cy="411480"/>
          </a:xfrm>
          <a:prstGeom prst="rect">
            <a:avLst/>
          </a:prstGeom>
          <a:noFill/>
          <a:ln/>
        </p:spPr>
        <p:txBody>
          <a:bodyPr wrap="square" lIns="0" tIns="0" rIns="0" bIns="0" rtlCol="0" anchor="ctr"/>
          <a:lstStyle/>
          <a:p>
            <a:pPr marL="0" indent="0">
              <a:buNone/>
            </a:pPr>
            <a:r>
              <a:rPr lang="en-US" sz="1800" i="1" dirty="0">
                <a:solidFill>
                  <a:schemeClr val="accent2"/>
                </a:solidFill>
              </a:rPr>
              <a:t>Moving beyond alarm and governance in the Christian AI conversation</a:t>
            </a:r>
            <a:endParaRPr lang="en-US" sz="1800" dirty="0"/>
          </a:p>
        </p:txBody>
      </p:sp>
      <p:sp>
        <p:nvSpPr>
          <p:cNvPr id="6" name="byline"/>
          <p:cNvSpPr txBox="1"/>
          <p:nvPr/>
        </p:nvSpPr>
        <p:spPr>
          <a:xfrm>
            <a:off x="548640" y="4480560"/>
            <a:ext cx="8046720" cy="365760"/>
          </a:xfrm>
          <a:prstGeom prst="rect">
            <a:avLst/>
          </a:prstGeom>
          <a:noFill/>
          <a:ln/>
        </p:spPr>
        <p:txBody>
          <a:bodyPr wrap="square" lIns="0" tIns="0" rIns="0" bIns="0" rtlCol="0" anchor="ctr"/>
          <a:lstStyle/>
          <a:p>
            <a:pPr marL="0" indent="0">
              <a:buNone/>
            </a:pPr>
            <a:r>
              <a:rPr lang="en-US" sz="1300" dirty="0">
                <a:solidFill>
                  <a:schemeClr val="bg1"/>
                </a:solidFill>
              </a:rPr>
              <a:t>Rachel Wondergem  ·  Wisdom in the Age of AI  ·  Calvin University  ·  October 8,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photo" descr="/home/claude/slides/tmp/Egypt_Desert_2C_EDIT_EDIT_jpg.jpg"/>
          <p:cNvPicPr>
            <a:picLocks noChangeAspect="1"/>
          </p:cNvPicPr>
          <p:nvPr/>
        </p:nvPicPr>
        <p:blipFill>
          <a:blip r:embed="rId3"/>
          <a:stretch>
            <a:fillRect/>
          </a:stretch>
        </p:blipFill>
        <p:spPr>
          <a:xfrm>
            <a:off x="0" y="0"/>
            <a:ext cx="9144000" cy="5143500"/>
          </a:xfrm>
          <a:prstGeom prst="rect">
            <a:avLst/>
          </a:prstGeom>
        </p:spPr>
      </p:pic>
      <p:sp>
        <p:nvSpPr>
          <p:cNvPr id="3" name="caption"/>
          <p:cNvSpPr txBox="1"/>
          <p:nvPr/>
        </p:nvSpPr>
        <p:spPr>
          <a:xfrm>
            <a:off x="457200" y="4480560"/>
            <a:ext cx="8229600" cy="457200"/>
          </a:xfrm>
          <a:prstGeom prst="rect">
            <a:avLst/>
          </a:prstGeom>
          <a:noFill/>
          <a:ln/>
          <a:effectLst>
            <a:outerShdw blurRad="76200" dist="12700" dir="2700000" algn="bl" rotWithShape="0">
              <a:srgbClr val="000000">
                <a:alpha val="60000"/>
              </a:srgbClr>
            </a:outerShdw>
          </a:effectLst>
        </p:spPr>
        <p:txBody>
          <a:bodyPr wrap="square" lIns="0" tIns="0" rIns="0" bIns="0" rtlCol="0" anchor="ctr"/>
          <a:lstStyle/>
          <a:p>
            <a:pPr marL="0" indent="0" algn="l">
              <a:buNone/>
            </a:pPr>
            <a:r>
              <a:rPr lang="en-US" sz="2000" b="1" dirty="0">
                <a:solidFill>
                  <a:schemeClr val="bg1"/>
                </a:solidFill>
              </a:rPr>
              <a:t>Egypt, 1989. Exhibit A: the perm.</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map" descr="/home/claude/slides/photos/Illustrated Map from Giza Pyramids to Step Pyramids.png"/>
          <p:cNvPicPr>
            <a:picLocks noChangeAspect="1"/>
          </p:cNvPicPr>
          <p:nvPr/>
        </p:nvPicPr>
        <p:blipFill>
          <a:blip r:embed="rId3"/>
          <a:stretch>
            <a:fillRect/>
          </a:stretch>
        </p:blipFill>
        <p:spPr>
          <a:xfrm>
            <a:off x="-47196" y="0"/>
            <a:ext cx="9191195" cy="51635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descr="/home/claude/slides/tmp/Egypt_Desert_3_EDIT_2__jpg.jpg"/>
          <p:cNvPicPr>
            <a:picLocks noChangeAspect="1"/>
          </p:cNvPicPr>
          <p:nvPr/>
        </p:nvPicPr>
        <p:blipFill>
          <a:blip r:embed="rId3"/>
          <a:stretch>
            <a:fillRect/>
          </a:stretch>
        </p:blipFill>
        <p:spPr>
          <a:xfrm>
            <a:off x="0" y="0"/>
            <a:ext cx="9144000" cy="5143500"/>
          </a:xfrm>
          <a:prstGeom prst="rect">
            <a:avLst/>
          </a:prstGeom>
        </p:spPr>
      </p:pic>
      <p:sp>
        <p:nvSpPr>
          <p:cNvPr id="3" name="caption"/>
          <p:cNvSpPr txBox="1"/>
          <p:nvPr/>
        </p:nvSpPr>
        <p:spPr>
          <a:xfrm>
            <a:off x="457200" y="4480560"/>
            <a:ext cx="8229600" cy="457200"/>
          </a:xfrm>
          <a:prstGeom prst="rect">
            <a:avLst/>
          </a:prstGeom>
          <a:noFill/>
          <a:ln/>
          <a:effectLst>
            <a:outerShdw blurRad="76200" dist="12700" dir="2700000" algn="bl" rotWithShape="0">
              <a:srgbClr val="000000">
                <a:alpha val="60000"/>
              </a:srgbClr>
            </a:outerShdw>
          </a:effectLst>
        </p:spPr>
        <p:txBody>
          <a:bodyPr wrap="square" lIns="0" tIns="0" rIns="0" bIns="0" rtlCol="0" anchor="ctr"/>
          <a:lstStyle/>
          <a:p>
            <a:pPr marL="0" indent="0" algn="l">
              <a:buNone/>
            </a:pPr>
            <a:r>
              <a:rPr lang="en-US" sz="2000" b="1" dirty="0">
                <a:solidFill>
                  <a:schemeClr val="bg1"/>
                </a:solidFill>
              </a:rPr>
              <a:t>My guide. My horse. My first real ride.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hoto" descr="/home/claude/slides/tmp/Egypt_Desert_2D_jpg.jpg"/>
          <p:cNvPicPr>
            <a:picLocks noChangeAspect="1"/>
          </p:cNvPicPr>
          <p:nvPr/>
        </p:nvPicPr>
        <p:blipFill>
          <a:blip r:embed="rId3"/>
          <a:stretch>
            <a:fillRect/>
          </a:stretch>
        </p:blipFill>
        <p:spPr>
          <a:xfrm>
            <a:off x="0" y="0"/>
            <a:ext cx="9144000" cy="5143500"/>
          </a:xfrm>
          <a:prstGeom prst="rect">
            <a:avLst/>
          </a:prstGeom>
        </p:spPr>
      </p:pic>
      <p:sp>
        <p:nvSpPr>
          <p:cNvPr id="3" name="caption"/>
          <p:cNvSpPr txBox="1"/>
          <p:nvPr/>
        </p:nvSpPr>
        <p:spPr>
          <a:xfrm>
            <a:off x="457200" y="4434840"/>
            <a:ext cx="8229600" cy="457200"/>
          </a:xfrm>
          <a:prstGeom prst="rect">
            <a:avLst/>
          </a:prstGeom>
          <a:noFill/>
          <a:ln/>
          <a:effectLst>
            <a:outerShdw blurRad="76200" dist="12700" dir="2700000" algn="bl" rotWithShape="0">
              <a:srgbClr val="000000">
                <a:alpha val="60000"/>
              </a:srgbClr>
            </a:outerShdw>
          </a:effectLst>
        </p:spPr>
        <p:txBody>
          <a:bodyPr wrap="square" lIns="0" tIns="0" rIns="0" bIns="0" rtlCol="0" anchor="ctr"/>
          <a:lstStyle/>
          <a:p>
            <a:pPr marL="0" indent="0" algn="l">
              <a:buNone/>
            </a:pPr>
            <a:r>
              <a:rPr lang="en-US" sz="2000" b="1" dirty="0">
                <a:solidFill>
                  <a:schemeClr val="bg1"/>
                </a:solidFill>
              </a:rPr>
              <a:t>Over the dune.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ine1"/>
          <p:cNvSpPr txBox="1"/>
          <p:nvPr/>
        </p:nvSpPr>
        <p:spPr>
          <a:xfrm>
            <a:off x="731520" y="1463040"/>
            <a:ext cx="7680960" cy="1005840"/>
          </a:xfrm>
          <a:prstGeom prst="rect">
            <a:avLst/>
          </a:prstGeom>
          <a:noFill/>
          <a:ln/>
        </p:spPr>
        <p:txBody>
          <a:bodyPr wrap="square" lIns="0" tIns="0" rIns="0" bIns="0" rtlCol="0" anchor="ctr"/>
          <a:lstStyle/>
          <a:p>
            <a:pPr marL="0" indent="0">
              <a:buNone/>
            </a:pPr>
            <a:r>
              <a:rPr lang="en-US" sz="3000" b="1" dirty="0">
                <a:solidFill>
                  <a:schemeClr val="bg1"/>
                </a:solidFill>
              </a:rPr>
              <a:t>My horse was already responding to the world that had arrived.</a:t>
            </a:r>
            <a:endParaRPr lang="en-US" sz="3000" dirty="0"/>
          </a:p>
        </p:txBody>
      </p:sp>
      <p:sp>
        <p:nvSpPr>
          <p:cNvPr id="3" name="line2"/>
          <p:cNvSpPr txBox="1"/>
          <p:nvPr/>
        </p:nvSpPr>
        <p:spPr>
          <a:xfrm>
            <a:off x="731520" y="2651760"/>
            <a:ext cx="7680960" cy="914400"/>
          </a:xfrm>
          <a:prstGeom prst="rect">
            <a:avLst/>
          </a:prstGeom>
          <a:noFill/>
          <a:ln/>
        </p:spPr>
        <p:txBody>
          <a:bodyPr wrap="square" lIns="0" tIns="0" rIns="0" bIns="0" rtlCol="0" anchor="ctr"/>
          <a:lstStyle/>
          <a:p>
            <a:pPr marL="0" indent="0">
              <a:buNone/>
            </a:pPr>
            <a:r>
              <a:rPr lang="en-US" sz="3000" i="1" dirty="0">
                <a:solidFill>
                  <a:schemeClr val="accent2"/>
                </a:solidFill>
              </a:rPr>
              <a:t>I was still riding through the world I expected.</a:t>
            </a:r>
            <a:endParaRPr lang="en-US" sz="3000" dirty="0"/>
          </a:p>
        </p:txBody>
      </p:sp>
      <p:sp>
        <p:nvSpPr>
          <p:cNvPr id="5" name="Text 0"/>
          <p:cNvSpPr>
            <a:spLocks noGrp="1"/>
          </p:cNvSpPr>
          <p:nvPr>
            <p:ph type="title" idx="100" hasCustomPrompt="1"/>
          </p:nvPr>
        </p:nvSpPr>
        <p:spPr>
          <a:xfrm>
            <a:off x="548640" y="457200"/>
            <a:ext cx="8046720" cy="914400"/>
          </a:xfrm>
          <a:prstGeom prst="rect">
            <a:avLst/>
          </a:prstGeom>
          <a:noFill/>
          <a:ln/>
        </p:spPr>
        <p:txBody>
          <a:bodyPr wrap="square" lIns="0" tIns="0" rIns="0" bIns="0" rtlCol="0" anchor="t"/>
          <a:lstStyle/>
          <a:p>
            <a:pPr marL="0" indent="0">
              <a:buNone/>
            </a:pP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q1"/>
          <p:cNvSpPr txBox="1"/>
          <p:nvPr/>
        </p:nvSpPr>
        <p:spPr>
          <a:xfrm>
            <a:off x="731520" y="1828800"/>
            <a:ext cx="7680960" cy="1280160"/>
          </a:xfrm>
          <a:prstGeom prst="rect">
            <a:avLst/>
          </a:prstGeom>
          <a:noFill/>
          <a:ln/>
        </p:spPr>
        <p:txBody>
          <a:bodyPr wrap="square" lIns="0" tIns="0" rIns="0" bIns="0" rtlCol="0" anchor="ctr"/>
          <a:lstStyle/>
          <a:p>
            <a:pPr marL="0" indent="0" algn="ctr">
              <a:buNone/>
            </a:pPr>
            <a:r>
              <a:rPr lang="en-US" sz="4000" b="1" dirty="0">
                <a:solidFill>
                  <a:schemeClr val="tx1"/>
                </a:solidFill>
              </a:rPr>
              <a:t>Which one of us acted more wisely?</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q-old"/>
          <p:cNvSpPr txBox="1"/>
          <p:nvPr/>
        </p:nvSpPr>
        <p:spPr>
          <a:xfrm>
            <a:off x="690880" y="3586480"/>
            <a:ext cx="7680960" cy="731520"/>
          </a:xfrm>
          <a:prstGeom prst="rect">
            <a:avLst/>
          </a:prstGeom>
          <a:noFill/>
          <a:ln/>
        </p:spPr>
        <p:txBody>
          <a:bodyPr wrap="square" lIns="0" tIns="0" rIns="0" bIns="0" rtlCol="0" anchor="ctr"/>
          <a:lstStyle/>
          <a:p>
            <a:pPr marL="0" indent="0" algn="ctr">
              <a:buNone/>
            </a:pPr>
            <a:r>
              <a:rPr lang="en-US" sz="2600" dirty="0">
                <a:solidFill>
                  <a:srgbClr val="B9C1D0"/>
                </a:solidFill>
              </a:rPr>
              <a:t>Not: Can a machine be wise?</a:t>
            </a:r>
            <a:endParaRPr lang="en-US" sz="2600" dirty="0"/>
          </a:p>
        </p:txBody>
      </p:sp>
      <p:sp>
        <p:nvSpPr>
          <p:cNvPr id="3" name="q-new"/>
          <p:cNvSpPr txBox="1"/>
          <p:nvPr/>
        </p:nvSpPr>
        <p:spPr>
          <a:xfrm>
            <a:off x="731520" y="1626870"/>
            <a:ext cx="7680960" cy="1280160"/>
          </a:xfrm>
          <a:prstGeom prst="rect">
            <a:avLst/>
          </a:prstGeom>
          <a:noFill/>
          <a:ln/>
        </p:spPr>
        <p:txBody>
          <a:bodyPr wrap="square" lIns="0" tIns="0" rIns="0" bIns="0" rtlCol="0" anchor="t"/>
          <a:lstStyle/>
          <a:p>
            <a:pPr marL="0" indent="0" algn="ctr">
              <a:buNone/>
            </a:pPr>
            <a:r>
              <a:rPr lang="en-US" sz="3800" b="1" dirty="0">
                <a:solidFill>
                  <a:schemeClr val="bg1"/>
                </a:solidFill>
              </a:rPr>
              <a:t>What does it take for any agent to act wisely?</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yramids photo" descr="/home/claude/slides/tmp/maat.jpg"/>
          <p:cNvPicPr>
            <a:picLocks noChangeAspect="1"/>
          </p:cNvPicPr>
          <p:nvPr/>
        </p:nvPicPr>
        <p:blipFill>
          <a:blip r:embed="rId3">
            <a:alphaModFix amt="45000"/>
          </a:blip>
          <a:stretch>
            <a:fillRect/>
          </a:stretch>
        </p:blipFill>
        <p:spPr>
          <a:xfrm>
            <a:off x="0" y="0"/>
            <a:ext cx="9144000" cy="5143500"/>
          </a:xfrm>
          <a:prstGeom prst="rect">
            <a:avLst/>
          </a:prstGeom>
        </p:spPr>
      </p:pic>
      <p:sp>
        <p:nvSpPr>
          <p:cNvPr id="3" name="tint"/>
          <p:cNvSpPr/>
          <p:nvPr/>
        </p:nvSpPr>
        <p:spPr>
          <a:xfrm>
            <a:off x="0" y="0"/>
            <a:ext cx="9144000" cy="5143500"/>
          </a:xfrm>
          <a:prstGeom prst="rect">
            <a:avLst/>
          </a:prstGeom>
          <a:solidFill>
            <a:srgbClr val="1C2333">
              <a:alpha val="55000"/>
            </a:srgbClr>
          </a:solidFill>
          <a:ln w="12700">
            <a:solidFill>
              <a:srgbClr val="1C2333">
                <a:alpha val="0"/>
              </a:srgbClr>
            </a:solidFill>
            <a:prstDash val="solid"/>
          </a:ln>
        </p:spPr>
        <p:txBody>
          <a:bodyPr/>
          <a:lstStyle/>
          <a:p>
            <a:endParaRPr lang="en-US"/>
          </a:p>
        </p:txBody>
      </p:sp>
      <p:sp>
        <p:nvSpPr>
          <p:cNvPr id="4" name="maat"/>
          <p:cNvSpPr txBox="1"/>
          <p:nvPr/>
        </p:nvSpPr>
        <p:spPr>
          <a:xfrm>
            <a:off x="731520" y="1188720"/>
            <a:ext cx="7680960" cy="1005840"/>
          </a:xfrm>
          <a:prstGeom prst="rect">
            <a:avLst/>
          </a:prstGeom>
          <a:noFill/>
          <a:ln/>
        </p:spPr>
        <p:txBody>
          <a:bodyPr wrap="square" lIns="0" tIns="0" rIns="0" bIns="0" rtlCol="0" anchor="ctr"/>
          <a:lstStyle/>
          <a:p>
            <a:pPr marL="0" indent="0">
              <a:buNone/>
            </a:pPr>
            <a:r>
              <a:rPr lang="en-US" sz="5400" b="1" dirty="0">
                <a:solidFill>
                  <a:schemeClr val="bg1"/>
                </a:solidFill>
              </a:rPr>
              <a:t>Maʾat</a:t>
            </a:r>
            <a:endParaRPr lang="en-US" sz="5400" dirty="0"/>
          </a:p>
        </p:txBody>
      </p:sp>
      <p:sp>
        <p:nvSpPr>
          <p:cNvPr id="5" name="gloss"/>
          <p:cNvSpPr txBox="1"/>
          <p:nvPr/>
        </p:nvSpPr>
        <p:spPr>
          <a:xfrm>
            <a:off x="731520" y="2240280"/>
            <a:ext cx="7680960" cy="914400"/>
          </a:xfrm>
          <a:prstGeom prst="rect">
            <a:avLst/>
          </a:prstGeom>
          <a:noFill/>
          <a:ln/>
        </p:spPr>
        <p:txBody>
          <a:bodyPr wrap="square" lIns="0" tIns="0" rIns="0" bIns="0" rtlCol="0" anchor="ctr"/>
          <a:lstStyle/>
          <a:p>
            <a:pPr marL="0" indent="0">
              <a:buNone/>
            </a:pPr>
            <a:r>
              <a:rPr lang="en-US" sz="2200" i="1" dirty="0">
                <a:solidFill>
                  <a:schemeClr val="accent2"/>
                </a:solidFill>
              </a:rPr>
              <a:t>the order woven into the world at its making — the way things are meant to fit together</a:t>
            </a:r>
            <a:endParaRPr lang="en-US" sz="2200" dirty="0"/>
          </a:p>
        </p:txBody>
      </p:sp>
      <p:sp>
        <p:nvSpPr>
          <p:cNvPr id="6" name="line"/>
          <p:cNvSpPr txBox="1"/>
          <p:nvPr/>
        </p:nvSpPr>
        <p:spPr>
          <a:xfrm>
            <a:off x="731520" y="3291840"/>
            <a:ext cx="7680960" cy="548640"/>
          </a:xfrm>
          <a:prstGeom prst="rect">
            <a:avLst/>
          </a:prstGeom>
          <a:noFill/>
          <a:ln/>
        </p:spPr>
        <p:txBody>
          <a:bodyPr wrap="square" lIns="0" tIns="0" rIns="0" bIns="0" rtlCol="0" anchor="ctr"/>
          <a:lstStyle/>
          <a:p>
            <a:pPr marL="0" indent="0">
              <a:buNone/>
            </a:pPr>
            <a:r>
              <a:rPr lang="en-US" sz="2000" dirty="0">
                <a:solidFill>
                  <a:schemeClr val="bg1"/>
                </a:solidFill>
              </a:rPr>
              <a:t>To live wisely was to live in alignment with the order of things.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Wisdom traditions</a:t>
            </a:r>
            <a:endParaRPr lang="en-US" sz="3400" dirty="0"/>
          </a:p>
        </p:txBody>
      </p:sp>
      <p:sp>
        <p:nvSpPr>
          <p:cNvPr id="3" name="dot 0"/>
          <p:cNvSpPr/>
          <p:nvPr/>
        </p:nvSpPr>
        <p:spPr>
          <a:xfrm>
            <a:off x="568960" y="1486408"/>
            <a:ext cx="91440" cy="91440"/>
          </a:xfrm>
          <a:prstGeom prst="ellipse">
            <a:avLst/>
          </a:prstGeom>
          <a:solidFill>
            <a:srgbClr val="B8743A"/>
          </a:solidFill>
          <a:ln w="12700">
            <a:solidFill>
              <a:srgbClr val="B8743A"/>
            </a:solidFill>
            <a:prstDash val="solid"/>
          </a:ln>
        </p:spPr>
        <p:txBody>
          <a:bodyPr/>
          <a:lstStyle/>
          <a:p>
            <a:endParaRPr lang="en-US"/>
          </a:p>
        </p:txBody>
      </p:sp>
      <p:sp>
        <p:nvSpPr>
          <p:cNvPr id="4" name="trad 0"/>
          <p:cNvSpPr txBox="1"/>
          <p:nvPr/>
        </p:nvSpPr>
        <p:spPr>
          <a:xfrm>
            <a:off x="960120" y="1325880"/>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Egypt</a:t>
            </a:r>
            <a:endParaRPr lang="en-US" sz="1700" dirty="0"/>
          </a:p>
        </p:txBody>
      </p:sp>
      <p:sp>
        <p:nvSpPr>
          <p:cNvPr id="5" name="trad gloss 0"/>
          <p:cNvSpPr txBox="1"/>
          <p:nvPr/>
        </p:nvSpPr>
        <p:spPr>
          <a:xfrm>
            <a:off x="3246120" y="1325880"/>
            <a:ext cx="5394960" cy="411480"/>
          </a:xfrm>
          <a:prstGeom prst="rect">
            <a:avLst/>
          </a:prstGeom>
          <a:noFill/>
          <a:ln/>
        </p:spPr>
        <p:txBody>
          <a:bodyPr wrap="square" lIns="0" tIns="0" rIns="0" bIns="0" rtlCol="0" anchor="ctr"/>
          <a:lstStyle/>
          <a:p>
            <a:pPr marL="0" indent="0">
              <a:buNone/>
            </a:pPr>
            <a:r>
              <a:rPr lang="en-US" sz="1500" dirty="0">
                <a:solidFill>
                  <a:schemeClr val="tx2"/>
                </a:solidFill>
              </a:rPr>
              <a:t>Maʾat — living in alignment with the order of things</a:t>
            </a:r>
            <a:endParaRPr lang="en-US" sz="1500" dirty="0"/>
          </a:p>
        </p:txBody>
      </p:sp>
      <p:sp>
        <p:nvSpPr>
          <p:cNvPr id="6" name="dot 1"/>
          <p:cNvSpPr/>
          <p:nvPr/>
        </p:nvSpPr>
        <p:spPr>
          <a:xfrm>
            <a:off x="568960" y="2035048"/>
            <a:ext cx="91440" cy="91440"/>
          </a:xfrm>
          <a:prstGeom prst="ellipse">
            <a:avLst/>
          </a:prstGeom>
          <a:solidFill>
            <a:srgbClr val="B8743A"/>
          </a:solidFill>
          <a:ln w="12700">
            <a:solidFill>
              <a:srgbClr val="B8743A"/>
            </a:solidFill>
            <a:prstDash val="solid"/>
          </a:ln>
        </p:spPr>
        <p:txBody>
          <a:bodyPr/>
          <a:lstStyle/>
          <a:p>
            <a:endParaRPr lang="en-US"/>
          </a:p>
        </p:txBody>
      </p:sp>
      <p:sp>
        <p:nvSpPr>
          <p:cNvPr id="7" name="trad 1"/>
          <p:cNvSpPr txBox="1"/>
          <p:nvPr/>
        </p:nvSpPr>
        <p:spPr>
          <a:xfrm>
            <a:off x="960120" y="1874520"/>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Hebrew scriptures</a:t>
            </a:r>
            <a:endParaRPr lang="en-US" sz="1700" dirty="0"/>
          </a:p>
        </p:txBody>
      </p:sp>
      <p:sp>
        <p:nvSpPr>
          <p:cNvPr id="8" name="trad gloss 1"/>
          <p:cNvSpPr txBox="1"/>
          <p:nvPr/>
        </p:nvSpPr>
        <p:spPr>
          <a:xfrm>
            <a:off x="3246120" y="1874520"/>
            <a:ext cx="5394960" cy="411480"/>
          </a:xfrm>
          <a:prstGeom prst="rect">
            <a:avLst/>
          </a:prstGeom>
          <a:noFill/>
          <a:ln/>
        </p:spPr>
        <p:txBody>
          <a:bodyPr wrap="square" lIns="0" tIns="0" rIns="0" bIns="0" rtlCol="0" anchor="ctr"/>
          <a:lstStyle/>
          <a:p>
            <a:pPr marL="0" indent="0">
              <a:buNone/>
            </a:pPr>
            <a:r>
              <a:rPr lang="en-US" sz="1500" dirty="0">
                <a:solidFill>
                  <a:schemeClr val="tx2"/>
                </a:solidFill>
              </a:rPr>
              <a:t>skillful living, in right relationship with God, creation, and neighbor</a:t>
            </a:r>
            <a:endParaRPr lang="en-US" sz="1500" dirty="0"/>
          </a:p>
        </p:txBody>
      </p:sp>
      <p:sp>
        <p:nvSpPr>
          <p:cNvPr id="9" name="dot 2"/>
          <p:cNvSpPr/>
          <p:nvPr/>
        </p:nvSpPr>
        <p:spPr>
          <a:xfrm>
            <a:off x="568960" y="2598928"/>
            <a:ext cx="91440" cy="91440"/>
          </a:xfrm>
          <a:prstGeom prst="ellipse">
            <a:avLst/>
          </a:prstGeom>
          <a:solidFill>
            <a:srgbClr val="B8743A"/>
          </a:solidFill>
          <a:ln w="12700">
            <a:solidFill>
              <a:srgbClr val="B8743A"/>
            </a:solidFill>
            <a:prstDash val="solid"/>
          </a:ln>
        </p:spPr>
        <p:txBody>
          <a:bodyPr/>
          <a:lstStyle/>
          <a:p>
            <a:endParaRPr lang="en-US"/>
          </a:p>
        </p:txBody>
      </p:sp>
      <p:sp>
        <p:nvSpPr>
          <p:cNvPr id="10" name="trad 2"/>
          <p:cNvSpPr txBox="1"/>
          <p:nvPr/>
        </p:nvSpPr>
        <p:spPr>
          <a:xfrm>
            <a:off x="960120" y="2423160"/>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The Greeks</a:t>
            </a:r>
            <a:endParaRPr lang="en-US" sz="1700" dirty="0"/>
          </a:p>
        </p:txBody>
      </p:sp>
      <p:sp>
        <p:nvSpPr>
          <p:cNvPr id="11" name="trad gloss 2"/>
          <p:cNvSpPr txBox="1"/>
          <p:nvPr/>
        </p:nvSpPr>
        <p:spPr>
          <a:xfrm>
            <a:off x="3246120" y="2423160"/>
            <a:ext cx="5394960" cy="411480"/>
          </a:xfrm>
          <a:prstGeom prst="rect">
            <a:avLst/>
          </a:prstGeom>
          <a:noFill/>
          <a:ln/>
        </p:spPr>
        <p:txBody>
          <a:bodyPr wrap="square" lIns="0" tIns="0" rIns="0" bIns="0" rtlCol="0" anchor="ctr"/>
          <a:lstStyle/>
          <a:p>
            <a:pPr marL="0" indent="0">
              <a:buNone/>
            </a:pPr>
            <a:r>
              <a:rPr lang="en-US" sz="1500" dirty="0">
                <a:solidFill>
                  <a:schemeClr val="tx2"/>
                </a:solidFill>
              </a:rPr>
              <a:t>living in accord with the rational order woven through the world</a:t>
            </a:r>
            <a:endParaRPr lang="en-US" sz="1500" dirty="0"/>
          </a:p>
        </p:txBody>
      </p:sp>
      <p:sp>
        <p:nvSpPr>
          <p:cNvPr id="12" name="dot 3"/>
          <p:cNvSpPr/>
          <p:nvPr/>
        </p:nvSpPr>
        <p:spPr>
          <a:xfrm>
            <a:off x="568960" y="3137408"/>
            <a:ext cx="91440" cy="91440"/>
          </a:xfrm>
          <a:prstGeom prst="ellipse">
            <a:avLst/>
          </a:prstGeom>
          <a:solidFill>
            <a:srgbClr val="B8743A"/>
          </a:solidFill>
          <a:ln w="12700">
            <a:solidFill>
              <a:srgbClr val="B8743A"/>
            </a:solidFill>
            <a:prstDash val="solid"/>
          </a:ln>
        </p:spPr>
        <p:txBody>
          <a:bodyPr/>
          <a:lstStyle/>
          <a:p>
            <a:endParaRPr lang="en-US"/>
          </a:p>
        </p:txBody>
      </p:sp>
      <p:sp>
        <p:nvSpPr>
          <p:cNvPr id="13" name="trad 3"/>
          <p:cNvSpPr txBox="1"/>
          <p:nvPr/>
        </p:nvSpPr>
        <p:spPr>
          <a:xfrm>
            <a:off x="960120" y="2971800"/>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Buddhist traditions</a:t>
            </a:r>
            <a:endParaRPr lang="en-US" sz="1700" dirty="0"/>
          </a:p>
        </p:txBody>
      </p:sp>
      <p:sp>
        <p:nvSpPr>
          <p:cNvPr id="14" name="trad gloss 3"/>
          <p:cNvSpPr txBox="1"/>
          <p:nvPr/>
        </p:nvSpPr>
        <p:spPr>
          <a:xfrm>
            <a:off x="3246120" y="2971800"/>
            <a:ext cx="5394960" cy="411480"/>
          </a:xfrm>
          <a:prstGeom prst="rect">
            <a:avLst/>
          </a:prstGeom>
          <a:noFill/>
          <a:ln/>
        </p:spPr>
        <p:txBody>
          <a:bodyPr wrap="square" lIns="0" tIns="0" rIns="0" bIns="0" rtlCol="0" anchor="ctr"/>
          <a:lstStyle/>
          <a:p>
            <a:pPr marL="0" indent="0">
              <a:buNone/>
            </a:pPr>
            <a:r>
              <a:rPr lang="en-US" sz="1500" dirty="0">
                <a:solidFill>
                  <a:schemeClr val="tx2"/>
                </a:solidFill>
              </a:rPr>
              <a:t>seeing reality clearly enough to live free of illusion</a:t>
            </a:r>
            <a:endParaRPr lang="en-US" sz="1500" dirty="0"/>
          </a:p>
        </p:txBody>
      </p:sp>
      <p:sp>
        <p:nvSpPr>
          <p:cNvPr id="15" name="dot 4"/>
          <p:cNvSpPr/>
          <p:nvPr/>
        </p:nvSpPr>
        <p:spPr>
          <a:xfrm>
            <a:off x="568960" y="3686048"/>
            <a:ext cx="91440" cy="91440"/>
          </a:xfrm>
          <a:prstGeom prst="ellipse">
            <a:avLst/>
          </a:prstGeom>
          <a:solidFill>
            <a:srgbClr val="B8743A"/>
          </a:solidFill>
          <a:ln w="12700">
            <a:solidFill>
              <a:srgbClr val="B8743A"/>
            </a:solidFill>
            <a:prstDash val="solid"/>
          </a:ln>
        </p:spPr>
        <p:txBody>
          <a:bodyPr/>
          <a:lstStyle/>
          <a:p>
            <a:endParaRPr lang="en-US"/>
          </a:p>
        </p:txBody>
      </p:sp>
      <p:sp>
        <p:nvSpPr>
          <p:cNvPr id="16" name="trad 4"/>
          <p:cNvSpPr txBox="1"/>
          <p:nvPr/>
        </p:nvSpPr>
        <p:spPr>
          <a:xfrm>
            <a:off x="960120" y="3520440"/>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Confucian thought</a:t>
            </a:r>
            <a:endParaRPr lang="en-US" sz="1700" dirty="0"/>
          </a:p>
        </p:txBody>
      </p:sp>
      <p:sp>
        <p:nvSpPr>
          <p:cNvPr id="17" name="trad gloss 4"/>
          <p:cNvSpPr txBox="1"/>
          <p:nvPr/>
        </p:nvSpPr>
        <p:spPr>
          <a:xfrm>
            <a:off x="3246120" y="3520440"/>
            <a:ext cx="5394960" cy="411480"/>
          </a:xfrm>
          <a:prstGeom prst="rect">
            <a:avLst/>
          </a:prstGeom>
          <a:noFill/>
          <a:ln/>
        </p:spPr>
        <p:txBody>
          <a:bodyPr wrap="square" lIns="0" tIns="0" rIns="0" bIns="0" rtlCol="0" anchor="ctr"/>
          <a:lstStyle/>
          <a:p>
            <a:pPr marL="0" indent="0">
              <a:buNone/>
            </a:pPr>
            <a:r>
              <a:rPr lang="en-US" sz="1500" dirty="0">
                <a:solidFill>
                  <a:schemeClr val="tx2"/>
                </a:solidFill>
              </a:rPr>
              <a:t>knowing what is right within relationships, and acting with care</a:t>
            </a:r>
            <a:endParaRPr lang="en-US" sz="1500" dirty="0"/>
          </a:p>
        </p:txBody>
      </p:sp>
      <p:sp>
        <p:nvSpPr>
          <p:cNvPr id="18" name="structure"/>
          <p:cNvSpPr txBox="1"/>
          <p:nvPr/>
        </p:nvSpPr>
        <p:spPr>
          <a:xfrm>
            <a:off x="212377" y="4448112"/>
            <a:ext cx="8766441" cy="548640"/>
          </a:xfrm>
          <a:prstGeom prst="rect">
            <a:avLst/>
          </a:prstGeom>
          <a:noFill/>
          <a:ln/>
        </p:spPr>
        <p:txBody>
          <a:bodyPr wrap="square" lIns="0" tIns="0" rIns="0" bIns="0" rtlCol="0" anchor="ctr"/>
          <a:lstStyle/>
          <a:p>
            <a:pPr marL="0" indent="0">
              <a:buNone/>
            </a:pPr>
            <a:r>
              <a:rPr lang="en-US" sz="1600" i="1" dirty="0">
                <a:solidFill>
                  <a:schemeClr val="accent1"/>
                </a:solidFill>
              </a:rPr>
              <a:t>reality has an order  ·  we have a place in it  ·  wisdom is perceiving it truly and acting in alignment with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914400"/>
          </a:xfrm>
          <a:prstGeom prst="rect">
            <a:avLst/>
          </a:prstGeom>
          <a:noFill/>
          <a:ln/>
        </p:spPr>
        <p:txBody>
          <a:bodyPr wrap="square" lIns="0" tIns="0" rIns="0" bIns="0" rtlCol="0" anchor="t"/>
          <a:lstStyle/>
          <a:p>
            <a:pPr marL="0" indent="0">
              <a:buNone/>
            </a:pPr>
            <a:r>
              <a:rPr lang="en-US" sz="3600" b="1" dirty="0">
                <a:solidFill>
                  <a:schemeClr val="bg1"/>
                </a:solidFill>
              </a:rPr>
              <a:t>Wisdom</a:t>
            </a:r>
            <a:endParaRPr lang="en-US" sz="3600" dirty="0"/>
          </a:p>
        </p:txBody>
      </p:sp>
      <p:sp>
        <p:nvSpPr>
          <p:cNvPr id="3" name="definition"/>
          <p:cNvSpPr txBox="1"/>
          <p:nvPr/>
        </p:nvSpPr>
        <p:spPr>
          <a:xfrm>
            <a:off x="548640" y="1371600"/>
            <a:ext cx="8046720" cy="1828800"/>
          </a:xfrm>
          <a:prstGeom prst="rect">
            <a:avLst/>
          </a:prstGeom>
          <a:noFill/>
          <a:ln/>
        </p:spPr>
        <p:txBody>
          <a:bodyPr wrap="square" lIns="0" tIns="0" rIns="0" bIns="0" rtlCol="0" anchor="t"/>
          <a:lstStyle/>
          <a:p>
            <a:pPr marL="0" indent="0">
              <a:buNone/>
            </a:pPr>
            <a:r>
              <a:rPr lang="en-US" sz="2200" dirty="0">
                <a:solidFill>
                  <a:schemeClr val="bg1"/>
                </a:solidFill>
              </a:rPr>
              <a:t>is a </a:t>
            </a:r>
            <a:r>
              <a:rPr lang="en-US" sz="2200" b="1" dirty="0">
                <a:solidFill>
                  <a:schemeClr val="accent2"/>
                </a:solidFill>
              </a:rPr>
              <a:t>faithful relationship</a:t>
            </a:r>
            <a:r>
              <a:rPr lang="en-US" sz="2200" dirty="0">
                <a:solidFill>
                  <a:schemeClr val="bg1"/>
                </a:solidFill>
              </a:rPr>
              <a:t> with reality, achieved when we </a:t>
            </a:r>
            <a:r>
              <a:rPr lang="en-US" sz="2200" b="1" dirty="0">
                <a:solidFill>
                  <a:schemeClr val="accent2"/>
                </a:solidFill>
              </a:rPr>
              <a:t>understand it completely</a:t>
            </a:r>
            <a:r>
              <a:rPr lang="en-US" sz="2200" dirty="0">
                <a:solidFill>
                  <a:schemeClr val="bg1"/>
                </a:solidFill>
              </a:rPr>
              <a:t>, know our place within it, and </a:t>
            </a:r>
            <a:r>
              <a:rPr lang="en-US" sz="2200" b="1" dirty="0">
                <a:solidFill>
                  <a:schemeClr val="accent2"/>
                </a:solidFill>
              </a:rPr>
              <a:t>act</a:t>
            </a:r>
            <a:r>
              <a:rPr lang="en-US" sz="2200" dirty="0">
                <a:solidFill>
                  <a:schemeClr val="bg1"/>
                </a:solidFill>
              </a:rPr>
              <a:t> in alignment with it.</a:t>
            </a:r>
            <a:endParaRPr lang="en-US" sz="2200" dirty="0"/>
          </a:p>
        </p:txBody>
      </p:sp>
      <p:sp>
        <p:nvSpPr>
          <p:cNvPr id="4" name="num 0"/>
          <p:cNvSpPr txBox="1"/>
          <p:nvPr/>
        </p:nvSpPr>
        <p:spPr>
          <a:xfrm>
            <a:off x="548640" y="2956560"/>
            <a:ext cx="457200" cy="457200"/>
          </a:xfrm>
          <a:prstGeom prst="rect">
            <a:avLst/>
          </a:prstGeom>
          <a:noFill/>
          <a:ln/>
        </p:spPr>
        <p:txBody>
          <a:bodyPr wrap="square" lIns="0" tIns="0" rIns="0" bIns="0" rtlCol="0" anchor="ctr"/>
          <a:lstStyle/>
          <a:p>
            <a:pPr marL="0" indent="0">
              <a:buNone/>
            </a:pPr>
            <a:r>
              <a:rPr lang="en-US" sz="2600" b="1" dirty="0">
                <a:solidFill>
                  <a:schemeClr val="accent1"/>
                </a:solidFill>
              </a:rPr>
              <a:t>1</a:t>
            </a:r>
            <a:endParaRPr lang="en-US" sz="2600" dirty="0"/>
          </a:p>
        </p:txBody>
      </p:sp>
      <p:sp>
        <p:nvSpPr>
          <p:cNvPr id="5" name="head 0"/>
          <p:cNvSpPr txBox="1"/>
          <p:nvPr/>
        </p:nvSpPr>
        <p:spPr>
          <a:xfrm>
            <a:off x="889000" y="2983992"/>
            <a:ext cx="2103120" cy="411480"/>
          </a:xfrm>
          <a:prstGeom prst="rect">
            <a:avLst/>
          </a:prstGeom>
          <a:noFill/>
          <a:ln/>
        </p:spPr>
        <p:txBody>
          <a:bodyPr wrap="square" lIns="0" tIns="0" rIns="0" bIns="0" rtlCol="0" anchor="ctr"/>
          <a:lstStyle/>
          <a:p>
            <a:pPr marL="0" indent="0">
              <a:buNone/>
            </a:pPr>
            <a:r>
              <a:rPr lang="en-US" sz="1600" b="1" dirty="0">
                <a:solidFill>
                  <a:schemeClr val="bg1"/>
                </a:solidFill>
              </a:rPr>
              <a:t>faithful relationship</a:t>
            </a:r>
            <a:endParaRPr lang="en-US" sz="1600" dirty="0"/>
          </a:p>
        </p:txBody>
      </p:sp>
      <p:sp>
        <p:nvSpPr>
          <p:cNvPr id="6" name="desc 0"/>
          <p:cNvSpPr txBox="1"/>
          <p:nvPr/>
        </p:nvSpPr>
        <p:spPr>
          <a:xfrm>
            <a:off x="889000" y="3368040"/>
            <a:ext cx="2103120" cy="731520"/>
          </a:xfrm>
          <a:prstGeom prst="rect">
            <a:avLst/>
          </a:prstGeom>
          <a:noFill/>
          <a:ln/>
        </p:spPr>
        <p:txBody>
          <a:bodyPr wrap="square" lIns="0" tIns="0" rIns="0" bIns="0" rtlCol="0" anchor="t"/>
          <a:lstStyle/>
          <a:p>
            <a:pPr marL="0" indent="0">
              <a:buNone/>
            </a:pPr>
            <a:r>
              <a:rPr lang="en-US" sz="1300" dirty="0">
                <a:solidFill>
                  <a:srgbClr val="B9C1D0"/>
                </a:solidFill>
              </a:rPr>
              <a:t>reality forms us; we shape reality</a:t>
            </a:r>
            <a:endParaRPr lang="en-US" sz="1300" dirty="0"/>
          </a:p>
        </p:txBody>
      </p:sp>
      <p:sp>
        <p:nvSpPr>
          <p:cNvPr id="7" name="num 1"/>
          <p:cNvSpPr txBox="1"/>
          <p:nvPr/>
        </p:nvSpPr>
        <p:spPr>
          <a:xfrm>
            <a:off x="3246120" y="2956560"/>
            <a:ext cx="457200" cy="457200"/>
          </a:xfrm>
          <a:prstGeom prst="rect">
            <a:avLst/>
          </a:prstGeom>
          <a:noFill/>
          <a:ln/>
        </p:spPr>
        <p:txBody>
          <a:bodyPr wrap="square" lIns="0" tIns="0" rIns="0" bIns="0" rtlCol="0" anchor="ctr"/>
          <a:lstStyle/>
          <a:p>
            <a:pPr marL="0" indent="0">
              <a:buNone/>
            </a:pPr>
            <a:r>
              <a:rPr lang="en-US" sz="2600" b="1" dirty="0">
                <a:solidFill>
                  <a:schemeClr val="accent1"/>
                </a:solidFill>
              </a:rPr>
              <a:t>2</a:t>
            </a:r>
            <a:endParaRPr lang="en-US" sz="2600" dirty="0"/>
          </a:p>
        </p:txBody>
      </p:sp>
      <p:sp>
        <p:nvSpPr>
          <p:cNvPr id="8" name="head 1"/>
          <p:cNvSpPr txBox="1"/>
          <p:nvPr/>
        </p:nvSpPr>
        <p:spPr>
          <a:xfrm>
            <a:off x="3581400" y="2983992"/>
            <a:ext cx="2103120" cy="411480"/>
          </a:xfrm>
          <a:prstGeom prst="rect">
            <a:avLst/>
          </a:prstGeom>
          <a:noFill/>
          <a:ln/>
        </p:spPr>
        <p:txBody>
          <a:bodyPr wrap="square" lIns="0" tIns="0" rIns="0" bIns="0" rtlCol="0" anchor="ctr"/>
          <a:lstStyle/>
          <a:p>
            <a:pPr marL="0" indent="0">
              <a:buNone/>
            </a:pPr>
            <a:r>
              <a:rPr lang="en-US" sz="1600" b="1" dirty="0">
                <a:solidFill>
                  <a:schemeClr val="bg1"/>
                </a:solidFill>
              </a:rPr>
              <a:t>complete understanding</a:t>
            </a:r>
            <a:endParaRPr lang="en-US" sz="1600" dirty="0"/>
          </a:p>
        </p:txBody>
      </p:sp>
      <p:sp>
        <p:nvSpPr>
          <p:cNvPr id="9" name="desc 1"/>
          <p:cNvSpPr txBox="1"/>
          <p:nvPr/>
        </p:nvSpPr>
        <p:spPr>
          <a:xfrm>
            <a:off x="3581400" y="3368040"/>
            <a:ext cx="2103120" cy="731520"/>
          </a:xfrm>
          <a:prstGeom prst="rect">
            <a:avLst/>
          </a:prstGeom>
          <a:noFill/>
          <a:ln/>
        </p:spPr>
        <p:txBody>
          <a:bodyPr wrap="square" lIns="0" tIns="0" rIns="0" bIns="0" rtlCol="0" anchor="t"/>
          <a:lstStyle/>
          <a:p>
            <a:pPr marL="0" indent="0">
              <a:buNone/>
            </a:pPr>
            <a:r>
              <a:rPr lang="en-US" sz="1300" dirty="0">
                <a:solidFill>
                  <a:srgbClr val="B9C1D0"/>
                </a:solidFill>
              </a:rPr>
              <a:t>only God has it — because he made it</a:t>
            </a:r>
            <a:endParaRPr lang="en-US" sz="1300" dirty="0"/>
          </a:p>
        </p:txBody>
      </p:sp>
      <p:sp>
        <p:nvSpPr>
          <p:cNvPr id="10" name="num 2"/>
          <p:cNvSpPr txBox="1"/>
          <p:nvPr/>
        </p:nvSpPr>
        <p:spPr>
          <a:xfrm>
            <a:off x="6060440" y="2956560"/>
            <a:ext cx="457200" cy="457200"/>
          </a:xfrm>
          <a:prstGeom prst="rect">
            <a:avLst/>
          </a:prstGeom>
          <a:noFill/>
          <a:ln/>
        </p:spPr>
        <p:txBody>
          <a:bodyPr wrap="square" lIns="0" tIns="0" rIns="0" bIns="0" rtlCol="0" anchor="ctr"/>
          <a:lstStyle/>
          <a:p>
            <a:pPr marL="0" indent="0">
              <a:buNone/>
            </a:pPr>
            <a:r>
              <a:rPr lang="en-US" sz="2600" b="1" dirty="0">
                <a:solidFill>
                  <a:schemeClr val="accent1"/>
                </a:solidFill>
              </a:rPr>
              <a:t>3</a:t>
            </a:r>
            <a:endParaRPr lang="en-US" sz="2600" dirty="0"/>
          </a:p>
        </p:txBody>
      </p:sp>
      <p:sp>
        <p:nvSpPr>
          <p:cNvPr id="11" name="head 2"/>
          <p:cNvSpPr txBox="1"/>
          <p:nvPr/>
        </p:nvSpPr>
        <p:spPr>
          <a:xfrm>
            <a:off x="6400800" y="2983992"/>
            <a:ext cx="2103120" cy="411480"/>
          </a:xfrm>
          <a:prstGeom prst="rect">
            <a:avLst/>
          </a:prstGeom>
          <a:noFill/>
          <a:ln/>
        </p:spPr>
        <p:txBody>
          <a:bodyPr wrap="square" lIns="0" tIns="0" rIns="0" bIns="0" rtlCol="0" anchor="ctr"/>
          <a:lstStyle/>
          <a:p>
            <a:pPr marL="0" indent="0">
              <a:buNone/>
            </a:pPr>
            <a:r>
              <a:rPr lang="en-US" sz="1600" b="1" dirty="0">
                <a:solidFill>
                  <a:schemeClr val="bg1"/>
                </a:solidFill>
              </a:rPr>
              <a:t>aligned action</a:t>
            </a:r>
            <a:endParaRPr lang="en-US" sz="1600" dirty="0"/>
          </a:p>
        </p:txBody>
      </p:sp>
      <p:sp>
        <p:nvSpPr>
          <p:cNvPr id="12" name="desc 2"/>
          <p:cNvSpPr txBox="1"/>
          <p:nvPr/>
        </p:nvSpPr>
        <p:spPr>
          <a:xfrm>
            <a:off x="6400800" y="3368040"/>
            <a:ext cx="2103120" cy="731520"/>
          </a:xfrm>
          <a:prstGeom prst="rect">
            <a:avLst/>
          </a:prstGeom>
          <a:noFill/>
          <a:ln/>
        </p:spPr>
        <p:txBody>
          <a:bodyPr wrap="square" lIns="0" tIns="0" rIns="0" bIns="0" rtlCol="0" anchor="t"/>
          <a:lstStyle/>
          <a:p>
            <a:pPr marL="0" indent="0">
              <a:buNone/>
            </a:pPr>
            <a:r>
              <a:rPr lang="en-US" sz="1300" dirty="0">
                <a:solidFill>
                  <a:srgbClr val="B9C1D0"/>
                </a:solidFill>
              </a:rPr>
              <a:t>stewards of every square inch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1CD31-1CD3-46F7-2778-520CFF19AA78}"/>
            </a:ext>
          </a:extLst>
        </p:cNvPr>
        <p:cNvGrpSpPr/>
        <p:nvPr/>
      </p:nvGrpSpPr>
      <p:grpSpPr>
        <a:xfrm>
          <a:off x="0" y="0"/>
          <a:ext cx="0" cy="0"/>
          <a:chOff x="0" y="0"/>
          <a:chExt cx="0" cy="0"/>
        </a:xfrm>
      </p:grpSpPr>
      <p:sp>
        <p:nvSpPr>
          <p:cNvPr id="2" name="q1">
            <a:extLst>
              <a:ext uri="{FF2B5EF4-FFF2-40B4-BE49-F238E27FC236}">
                <a16:creationId xmlns:a16="http://schemas.microsoft.com/office/drawing/2014/main" id="{63F4FF62-78F9-E8E8-BF04-86A51B2D6193}"/>
              </a:ext>
            </a:extLst>
          </p:cNvPr>
          <p:cNvSpPr txBox="1"/>
          <p:nvPr/>
        </p:nvSpPr>
        <p:spPr>
          <a:xfrm>
            <a:off x="731520" y="1828800"/>
            <a:ext cx="7680960" cy="1280160"/>
          </a:xfrm>
          <a:prstGeom prst="rect">
            <a:avLst/>
          </a:prstGeom>
          <a:noFill/>
          <a:ln/>
        </p:spPr>
        <p:txBody>
          <a:bodyPr wrap="square" lIns="0" tIns="0" rIns="0" bIns="0" rtlCol="0" anchor="ctr"/>
          <a:lstStyle/>
          <a:p>
            <a:pPr algn="ctr"/>
            <a:r>
              <a:rPr lang="en-US" sz="4000" dirty="0">
                <a:latin typeface="+mj-lt"/>
              </a:rPr>
              <a:t>How do we come to </a:t>
            </a:r>
          </a:p>
          <a:p>
            <a:pPr algn="ctr"/>
            <a:r>
              <a:rPr lang="en-US" sz="4000" dirty="0">
                <a:latin typeface="+mj-lt"/>
              </a:rPr>
              <a:t>understand reality, </a:t>
            </a:r>
          </a:p>
          <a:p>
            <a:pPr algn="ctr"/>
            <a:r>
              <a:rPr lang="en-US" sz="4000" dirty="0">
                <a:latin typeface="+mj-lt"/>
              </a:rPr>
              <a:t>relate to it, and </a:t>
            </a:r>
          </a:p>
          <a:p>
            <a:pPr algn="ctr"/>
            <a:r>
              <a:rPr lang="en-US" sz="4000" dirty="0">
                <a:latin typeface="+mj-lt"/>
              </a:rPr>
              <a:t>act more wisely over time?</a:t>
            </a:r>
          </a:p>
        </p:txBody>
      </p:sp>
    </p:spTree>
    <p:extLst>
      <p:ext uri="{BB962C8B-B14F-4D97-AF65-F5344CB8AC3E}">
        <p14:creationId xmlns:p14="http://schemas.microsoft.com/office/powerpoint/2010/main" val="369244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The Wisdom Pyramid</a:t>
            </a:r>
            <a:endParaRPr lang="en-US" sz="3400" dirty="0"/>
          </a:p>
        </p:txBody>
      </p:sp>
      <p:pic>
        <p:nvPicPr>
          <p:cNvPr id="3" name="pyramid" descr="/home/claude/slides/tmp/pyr0.png"/>
          <p:cNvPicPr>
            <a:picLocks noChangeAspect="1"/>
          </p:cNvPicPr>
          <p:nvPr/>
        </p:nvPicPr>
        <p:blipFill>
          <a:blip r:embed="rId3"/>
          <a:stretch>
            <a:fillRect/>
          </a:stretch>
        </p:blipFill>
        <p:spPr>
          <a:xfrm>
            <a:off x="2240280" y="914400"/>
            <a:ext cx="4663440" cy="3886200"/>
          </a:xfrm>
          <a:prstGeom prst="rect">
            <a:avLst/>
          </a:prstGeom>
        </p:spPr>
      </p:pic>
      <p:sp>
        <p:nvSpPr>
          <p:cNvPr id="4" name="tag"/>
          <p:cNvSpPr txBox="1"/>
          <p:nvPr/>
        </p:nvSpPr>
        <p:spPr>
          <a:xfrm>
            <a:off x="548640" y="4572000"/>
            <a:ext cx="8046720" cy="365760"/>
          </a:xfrm>
          <a:prstGeom prst="rect">
            <a:avLst/>
          </a:prstGeom>
          <a:noFill/>
          <a:ln/>
        </p:spPr>
        <p:txBody>
          <a:bodyPr wrap="square" lIns="0" tIns="0" rIns="0" bIns="0" rtlCol="0" anchor="ctr"/>
          <a:lstStyle/>
          <a:p>
            <a:pPr marL="0" indent="0">
              <a:buNone/>
            </a:pPr>
            <a:r>
              <a:rPr lang="en-US" sz="1500" i="1" dirty="0">
                <a:solidFill>
                  <a:schemeClr val="tx2"/>
                </a:solidFill>
              </a:rPr>
              <a:t>Every agent in relationship with reality builds one.</a:t>
            </a:r>
            <a:endParaRPr lang="en-US" sz="1500" dirty="0"/>
          </a:p>
        </p:txBody>
      </p:sp>
      <p:pic>
        <p:nvPicPr>
          <p:cNvPr id="5" name="pyramid" descr="/home/claude/slides/tmp/pyr0.png">
            <a:extLst>
              <a:ext uri="{FF2B5EF4-FFF2-40B4-BE49-F238E27FC236}">
                <a16:creationId xmlns:a16="http://schemas.microsoft.com/office/drawing/2014/main" id="{6EB88E8A-D7E4-A029-9C97-01229BBD8C5E}"/>
              </a:ext>
            </a:extLst>
          </p:cNvPr>
          <p:cNvPicPr>
            <a:picLocks noChangeAspect="1"/>
          </p:cNvPicPr>
          <p:nvPr/>
        </p:nvPicPr>
        <p:blipFill>
          <a:blip r:embed="rId3"/>
          <a:srcRect t="83007" r="55120"/>
          <a:stretch>
            <a:fillRect/>
          </a:stretch>
        </p:blipFill>
        <p:spPr>
          <a:xfrm>
            <a:off x="347980" y="4140200"/>
            <a:ext cx="2092960" cy="660400"/>
          </a:xfrm>
          <a:prstGeom prst="rect">
            <a:avLst/>
          </a:prstGeom>
        </p:spPr>
      </p:pic>
      <p:pic>
        <p:nvPicPr>
          <p:cNvPr id="7" name="pyramid" descr="/home/claude/slides/tmp/pyr0.png">
            <a:extLst>
              <a:ext uri="{FF2B5EF4-FFF2-40B4-BE49-F238E27FC236}">
                <a16:creationId xmlns:a16="http://schemas.microsoft.com/office/drawing/2014/main" id="{C5DF8458-A01B-95FB-9844-AADAE1E84585}"/>
              </a:ext>
            </a:extLst>
          </p:cNvPr>
          <p:cNvPicPr>
            <a:picLocks noChangeAspect="1"/>
          </p:cNvPicPr>
          <p:nvPr/>
        </p:nvPicPr>
        <p:blipFill>
          <a:blip r:embed="rId3"/>
          <a:srcRect t="83007" r="55120"/>
          <a:stretch>
            <a:fillRect/>
          </a:stretch>
        </p:blipFill>
        <p:spPr>
          <a:xfrm>
            <a:off x="6606540" y="4140200"/>
            <a:ext cx="2092960" cy="660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Data</a:t>
            </a:r>
            <a:endParaRPr lang="en-US" sz="3400" dirty="0"/>
          </a:p>
        </p:txBody>
      </p:sp>
      <p:pic>
        <p:nvPicPr>
          <p:cNvPr id="3" name="pyramid" descr="/home/claude/slides/tmp/pyr1.png"/>
          <p:cNvPicPr>
            <a:picLocks noChangeAspect="1"/>
          </p:cNvPicPr>
          <p:nvPr/>
        </p:nvPicPr>
        <p:blipFill>
          <a:blip r:embed="rId3"/>
          <a:stretch>
            <a:fillRect/>
          </a:stretch>
        </p:blipFill>
        <p:spPr>
          <a:xfrm>
            <a:off x="320040" y="1005840"/>
            <a:ext cx="4206240" cy="3520440"/>
          </a:xfrm>
          <a:prstGeom prst="rect">
            <a:avLst/>
          </a:prstGeom>
        </p:spPr>
      </p:pic>
      <p:sp>
        <p:nvSpPr>
          <p:cNvPr id="5" name="v 0"/>
          <p:cNvSpPr txBox="1"/>
          <p:nvPr/>
        </p:nvSpPr>
        <p:spPr>
          <a:xfrm>
            <a:off x="4974983" y="3474720"/>
            <a:ext cx="3474720" cy="1051560"/>
          </a:xfrm>
          <a:prstGeom prst="rect">
            <a:avLst/>
          </a:prstGeom>
          <a:noFill/>
          <a:ln/>
        </p:spPr>
        <p:txBody>
          <a:bodyPr wrap="square" lIns="0" tIns="0" rIns="0" bIns="0" rtlCol="0" anchor="t"/>
          <a:lstStyle/>
          <a:p>
            <a:pPr marL="0" indent="0">
              <a:buNone/>
            </a:pPr>
            <a:r>
              <a:rPr lang="en-US" dirty="0">
                <a:solidFill>
                  <a:schemeClr val="tx1"/>
                </a:solidFill>
              </a:rPr>
              <a:t>the pieces of reality you detect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Information</a:t>
            </a:r>
            <a:endParaRPr lang="en-US" sz="3400" dirty="0"/>
          </a:p>
        </p:txBody>
      </p:sp>
      <p:pic>
        <p:nvPicPr>
          <p:cNvPr id="3" name="pyramid" descr="/home/claude/slides/tmp/pyr2.png"/>
          <p:cNvPicPr>
            <a:picLocks noChangeAspect="1"/>
          </p:cNvPicPr>
          <p:nvPr/>
        </p:nvPicPr>
        <p:blipFill>
          <a:blip r:embed="rId3"/>
          <a:stretch>
            <a:fillRect/>
          </a:stretch>
        </p:blipFill>
        <p:spPr>
          <a:xfrm>
            <a:off x="320040" y="1005840"/>
            <a:ext cx="4206240" cy="3520440"/>
          </a:xfrm>
          <a:prstGeom prst="rect">
            <a:avLst/>
          </a:prstGeom>
        </p:spPr>
      </p:pic>
      <p:sp>
        <p:nvSpPr>
          <p:cNvPr id="5" name="v 0"/>
          <p:cNvSpPr txBox="1"/>
          <p:nvPr/>
        </p:nvSpPr>
        <p:spPr>
          <a:xfrm>
            <a:off x="4526280" y="2732175"/>
            <a:ext cx="4290398" cy="1051560"/>
          </a:xfrm>
          <a:prstGeom prst="rect">
            <a:avLst/>
          </a:prstGeom>
          <a:noFill/>
          <a:ln/>
        </p:spPr>
        <p:txBody>
          <a:bodyPr wrap="square" lIns="0" tIns="0" rIns="0" bIns="0" rtlCol="0" anchor="t"/>
          <a:lstStyle/>
          <a:p>
            <a:pPr marL="0" indent="0">
              <a:buNone/>
            </a:pPr>
            <a:r>
              <a:rPr lang="en-US" sz="1600" dirty="0">
                <a:solidFill>
                  <a:schemeClr val="tx1"/>
                </a:solidFill>
              </a:rPr>
              <a:t>the patterns made when data is connected — models, frames, stories you can use to act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Knowledge</a:t>
            </a:r>
            <a:endParaRPr lang="en-US" sz="3400" dirty="0"/>
          </a:p>
        </p:txBody>
      </p:sp>
      <p:pic>
        <p:nvPicPr>
          <p:cNvPr id="3" name="pyramid" descr="/home/claude/slides/tmp/pyr3.png"/>
          <p:cNvPicPr>
            <a:picLocks noChangeAspect="1"/>
          </p:cNvPicPr>
          <p:nvPr/>
        </p:nvPicPr>
        <p:blipFill>
          <a:blip r:embed="rId3"/>
          <a:stretch>
            <a:fillRect/>
          </a:stretch>
        </p:blipFill>
        <p:spPr>
          <a:xfrm>
            <a:off x="320040" y="1005840"/>
            <a:ext cx="4206240" cy="3520440"/>
          </a:xfrm>
          <a:prstGeom prst="rect">
            <a:avLst/>
          </a:prstGeom>
        </p:spPr>
      </p:pic>
      <p:sp>
        <p:nvSpPr>
          <p:cNvPr id="5" name="v 0"/>
          <p:cNvSpPr txBox="1"/>
          <p:nvPr/>
        </p:nvSpPr>
        <p:spPr>
          <a:xfrm>
            <a:off x="4392357" y="2240280"/>
            <a:ext cx="3474720" cy="1051560"/>
          </a:xfrm>
          <a:prstGeom prst="rect">
            <a:avLst/>
          </a:prstGeom>
          <a:noFill/>
          <a:ln/>
        </p:spPr>
        <p:txBody>
          <a:bodyPr wrap="square" lIns="0" tIns="0" rIns="0" bIns="0" rtlCol="0" anchor="t"/>
          <a:lstStyle/>
          <a:p>
            <a:pPr marL="0" indent="0">
              <a:buNone/>
            </a:pPr>
            <a:r>
              <a:rPr lang="en-US" sz="1600" dirty="0">
                <a:solidFill>
                  <a:schemeClr val="tx1"/>
                </a:solidFill>
              </a:rPr>
              <a:t>connected information — the lessons of past patterns, carried into new situations. </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822960"/>
          </a:xfrm>
          <a:prstGeom prst="rect">
            <a:avLst/>
          </a:prstGeom>
          <a:noFill/>
          <a:ln/>
        </p:spPr>
        <p:txBody>
          <a:bodyPr wrap="square" lIns="0" tIns="0" rIns="0" bIns="0" rtlCol="0" anchor="t"/>
          <a:lstStyle/>
          <a:p>
            <a:pPr marL="0" indent="0">
              <a:buNone/>
            </a:pPr>
            <a:r>
              <a:rPr lang="en-US" sz="3400" b="1" dirty="0">
                <a:solidFill>
                  <a:schemeClr val="tx1"/>
                </a:solidFill>
              </a:rPr>
              <a:t>Wise Living</a:t>
            </a:r>
            <a:endParaRPr lang="en-US" sz="3400" dirty="0"/>
          </a:p>
        </p:txBody>
      </p:sp>
      <p:pic>
        <p:nvPicPr>
          <p:cNvPr id="3" name="pyramid" descr="/home/claude/slides/tmp/pyr4.png"/>
          <p:cNvPicPr>
            <a:picLocks noChangeAspect="1"/>
          </p:cNvPicPr>
          <p:nvPr/>
        </p:nvPicPr>
        <p:blipFill>
          <a:blip r:embed="rId3"/>
          <a:stretch>
            <a:fillRect/>
          </a:stretch>
        </p:blipFill>
        <p:spPr>
          <a:xfrm>
            <a:off x="320040" y="1005840"/>
            <a:ext cx="4206240" cy="3520440"/>
          </a:xfrm>
          <a:prstGeom prst="rect">
            <a:avLst/>
          </a:prstGeom>
        </p:spPr>
      </p:pic>
      <p:sp>
        <p:nvSpPr>
          <p:cNvPr id="5" name="v 0"/>
          <p:cNvSpPr txBox="1"/>
          <p:nvPr/>
        </p:nvSpPr>
        <p:spPr>
          <a:xfrm>
            <a:off x="4012032" y="1946660"/>
            <a:ext cx="4686906" cy="1051560"/>
          </a:xfrm>
          <a:prstGeom prst="rect">
            <a:avLst/>
          </a:prstGeom>
          <a:noFill/>
          <a:ln/>
        </p:spPr>
        <p:txBody>
          <a:bodyPr wrap="square" lIns="0" tIns="0" rIns="0" bIns="0" rtlCol="0" anchor="t"/>
          <a:lstStyle/>
          <a:p>
            <a:pPr marL="0" indent="0">
              <a:buNone/>
            </a:pPr>
            <a:r>
              <a:rPr lang="en-US" sz="1600" dirty="0">
                <a:solidFill>
                  <a:schemeClr val="tx1"/>
                </a:solidFill>
              </a:rPr>
              <a:t>when an agent understands reality, decides its place and purpose in it, and acts in accordance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309879"/>
            <a:ext cx="8046720" cy="822960"/>
          </a:xfrm>
          <a:prstGeom prst="rect">
            <a:avLst/>
          </a:prstGeom>
          <a:noFill/>
          <a:ln/>
        </p:spPr>
        <p:txBody>
          <a:bodyPr wrap="square" lIns="0" tIns="0" rIns="0" bIns="0" rtlCol="0" anchor="t"/>
          <a:lstStyle/>
          <a:p>
            <a:pPr marL="0" indent="0">
              <a:buNone/>
            </a:pPr>
            <a:r>
              <a:rPr lang="en-US" sz="3400" b="1" dirty="0">
                <a:solidFill>
                  <a:schemeClr val="tx1"/>
                </a:solidFill>
              </a:rPr>
              <a:t>Not control or compete. Partner.</a:t>
            </a:r>
            <a:endParaRPr lang="en-US" sz="3400" dirty="0"/>
          </a:p>
        </p:txBody>
      </p:sp>
      <p:pic>
        <p:nvPicPr>
          <p:cNvPr id="3" name="pyramid over time" descr="/home/claude/slides/tmp/pyrAI.png"/>
          <p:cNvPicPr>
            <a:picLocks noChangeAspect="1"/>
          </p:cNvPicPr>
          <p:nvPr/>
        </p:nvPicPr>
        <p:blipFill>
          <a:blip r:embed="rId3"/>
          <a:srcRect t="22743" r="39547" b="17372"/>
          <a:stretch>
            <a:fillRect/>
          </a:stretch>
        </p:blipFill>
        <p:spPr>
          <a:xfrm>
            <a:off x="375920" y="2062479"/>
            <a:ext cx="3566160" cy="1859281"/>
          </a:xfrm>
          <a:prstGeom prst="rect">
            <a:avLst/>
          </a:prstGeom>
        </p:spPr>
      </p:pic>
      <p:sp>
        <p:nvSpPr>
          <p:cNvPr id="4" name="two things"/>
          <p:cNvSpPr txBox="1"/>
          <p:nvPr/>
        </p:nvSpPr>
        <p:spPr>
          <a:xfrm>
            <a:off x="7086600" y="1371600"/>
            <a:ext cx="1783080" cy="3108960"/>
          </a:xfrm>
          <a:prstGeom prst="rect">
            <a:avLst/>
          </a:prstGeom>
          <a:noFill/>
          <a:ln/>
        </p:spPr>
        <p:txBody>
          <a:bodyPr wrap="square" lIns="0" tIns="0" rIns="0" bIns="0" rtlCol="0" anchor="t"/>
          <a:lstStyle/>
          <a:p>
            <a:pPr marL="0" indent="0">
              <a:buNone/>
            </a:pPr>
            <a:r>
              <a:rPr lang="en-US" sz="1300" b="1" dirty="0">
                <a:solidFill>
                  <a:schemeClr val="accent1"/>
                </a:solidFill>
              </a:rPr>
              <a:t>One layer left.</a:t>
            </a:r>
            <a:endParaRPr lang="en-US" sz="1300" dirty="0"/>
          </a:p>
          <a:p>
            <a:pPr marL="0" indent="0">
              <a:buNone/>
            </a:pPr>
            <a:endParaRPr lang="en-US" sz="1300" dirty="0"/>
          </a:p>
          <a:p>
            <a:pPr marL="0" indent="0">
              <a:buNone/>
            </a:pPr>
            <a:r>
              <a:rPr lang="en-US" sz="1300" dirty="0">
                <a:solidFill>
                  <a:schemeClr val="tx1"/>
                </a:solidFill>
              </a:rPr>
              <a:t>Nobody can build your pyramid for you — but two pyramids built side by side see farther than one.</a:t>
            </a:r>
            <a:endParaRPr lang="en-US" sz="1300" dirty="0"/>
          </a:p>
        </p:txBody>
      </p:sp>
      <p:pic>
        <p:nvPicPr>
          <p:cNvPr id="7" name="pyramid over time" descr="/home/claude/slides/tmp/pyrAI.png">
            <a:extLst>
              <a:ext uri="{FF2B5EF4-FFF2-40B4-BE49-F238E27FC236}">
                <a16:creationId xmlns:a16="http://schemas.microsoft.com/office/drawing/2014/main" id="{8C364DE6-778D-70AD-5C25-3818A9DAD65A}"/>
              </a:ext>
            </a:extLst>
          </p:cNvPr>
          <p:cNvPicPr>
            <a:picLocks noChangeAspect="1"/>
          </p:cNvPicPr>
          <p:nvPr/>
        </p:nvPicPr>
        <p:blipFill>
          <a:blip r:embed="rId3">
            <a:grayscl/>
          </a:blip>
          <a:srcRect l="-6288" t="82651" r="38386" b="-485"/>
          <a:stretch>
            <a:fillRect/>
          </a:stretch>
        </p:blipFill>
        <p:spPr>
          <a:xfrm>
            <a:off x="3130472" y="3913668"/>
            <a:ext cx="4005580" cy="553720"/>
          </a:xfrm>
          <a:prstGeom prst="rect">
            <a:avLst/>
          </a:prstGeom>
        </p:spPr>
      </p:pic>
      <p:pic>
        <p:nvPicPr>
          <p:cNvPr id="8" name="pyramid over time" descr="/home/claude/slides/tmp/pyrAI.png">
            <a:extLst>
              <a:ext uri="{FF2B5EF4-FFF2-40B4-BE49-F238E27FC236}">
                <a16:creationId xmlns:a16="http://schemas.microsoft.com/office/drawing/2014/main" id="{9F562669-B42F-B945-D522-38A6606E545D}"/>
              </a:ext>
            </a:extLst>
          </p:cNvPr>
          <p:cNvPicPr>
            <a:picLocks noChangeAspect="1"/>
          </p:cNvPicPr>
          <p:nvPr/>
        </p:nvPicPr>
        <p:blipFill>
          <a:blip r:embed="rId3">
            <a:duotone>
              <a:prstClr val="black"/>
              <a:schemeClr val="accent3">
                <a:tint val="45000"/>
                <a:satMod val="400000"/>
              </a:schemeClr>
            </a:duotone>
          </a:blip>
          <a:srcRect l="-6288" t="39131" r="38386" b="17390"/>
          <a:stretch>
            <a:fillRect/>
          </a:stretch>
        </p:blipFill>
        <p:spPr>
          <a:xfrm>
            <a:off x="2984816" y="2571750"/>
            <a:ext cx="4005580" cy="1350010"/>
          </a:xfrm>
          <a:prstGeom prst="rect">
            <a:avLst/>
          </a:prstGeom>
        </p:spPr>
      </p:pic>
      <p:sp>
        <p:nvSpPr>
          <p:cNvPr id="9" name="TextBox 8">
            <a:extLst>
              <a:ext uri="{FF2B5EF4-FFF2-40B4-BE49-F238E27FC236}">
                <a16:creationId xmlns:a16="http://schemas.microsoft.com/office/drawing/2014/main" id="{1B526A1F-C2A3-EA83-923A-5601AE98C8C4}"/>
              </a:ext>
            </a:extLst>
          </p:cNvPr>
          <p:cNvSpPr txBox="1"/>
          <p:nvPr/>
        </p:nvSpPr>
        <p:spPr>
          <a:xfrm>
            <a:off x="1711960" y="1463793"/>
            <a:ext cx="1163320" cy="369332"/>
          </a:xfrm>
          <a:prstGeom prst="rect">
            <a:avLst/>
          </a:prstGeom>
          <a:noFill/>
        </p:spPr>
        <p:txBody>
          <a:bodyPr wrap="square" rtlCol="0">
            <a:spAutoFit/>
          </a:bodyPr>
          <a:lstStyle/>
          <a:p>
            <a:r>
              <a:rPr lang="en-US" dirty="0"/>
              <a:t>humans</a:t>
            </a:r>
          </a:p>
        </p:txBody>
      </p:sp>
      <p:sp>
        <p:nvSpPr>
          <p:cNvPr id="10" name="TextBox 9">
            <a:extLst>
              <a:ext uri="{FF2B5EF4-FFF2-40B4-BE49-F238E27FC236}">
                <a16:creationId xmlns:a16="http://schemas.microsoft.com/office/drawing/2014/main" id="{EF8639D9-8CC5-987A-CD1B-08C96E9EE816}"/>
              </a:ext>
            </a:extLst>
          </p:cNvPr>
          <p:cNvSpPr txBox="1"/>
          <p:nvPr/>
        </p:nvSpPr>
        <p:spPr>
          <a:xfrm>
            <a:off x="4932680" y="1433671"/>
            <a:ext cx="1163320" cy="369332"/>
          </a:xfrm>
          <a:prstGeom prst="rect">
            <a:avLst/>
          </a:prstGeom>
          <a:noFill/>
        </p:spPr>
        <p:txBody>
          <a:bodyPr wrap="square" rtlCol="0">
            <a:spAutoFit/>
          </a:bodyPr>
          <a:lstStyle/>
          <a:p>
            <a:r>
              <a:rPr lang="en-US" dirty="0"/>
              <a:t>machines</a:t>
            </a:r>
          </a:p>
        </p:txBody>
      </p:sp>
      <p:pic>
        <p:nvPicPr>
          <p:cNvPr id="11" name="pyramid over time" descr="/home/claude/slides/tmp/pyrAI.png">
            <a:extLst>
              <a:ext uri="{FF2B5EF4-FFF2-40B4-BE49-F238E27FC236}">
                <a16:creationId xmlns:a16="http://schemas.microsoft.com/office/drawing/2014/main" id="{ABDD7072-F4E3-0D70-74F0-A00A91B1098B}"/>
              </a:ext>
            </a:extLst>
          </p:cNvPr>
          <p:cNvPicPr>
            <a:picLocks noChangeAspect="1"/>
          </p:cNvPicPr>
          <p:nvPr/>
        </p:nvPicPr>
        <p:blipFill>
          <a:blip r:embed="rId3">
            <a:grayscl/>
          </a:blip>
          <a:srcRect l="-6288" t="82651" r="38386" b="-485"/>
          <a:stretch>
            <a:fillRect/>
          </a:stretch>
        </p:blipFill>
        <p:spPr>
          <a:xfrm>
            <a:off x="-201064" y="3913668"/>
            <a:ext cx="4005580" cy="5537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pair 0"/>
          <p:cNvSpPr/>
          <p:nvPr/>
        </p:nvSpPr>
        <p:spPr>
          <a:xfrm>
            <a:off x="548640" y="160020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4" name="pair text 0"/>
          <p:cNvSpPr txBox="1"/>
          <p:nvPr/>
        </p:nvSpPr>
        <p:spPr>
          <a:xfrm>
            <a:off x="685800" y="160020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mentor · mentee</a:t>
            </a:r>
            <a:endParaRPr lang="en-US" sz="1500" dirty="0"/>
          </a:p>
        </p:txBody>
      </p:sp>
      <p:sp>
        <p:nvSpPr>
          <p:cNvPr id="5" name="pair 1"/>
          <p:cNvSpPr/>
          <p:nvPr/>
        </p:nvSpPr>
        <p:spPr>
          <a:xfrm>
            <a:off x="2560320" y="160020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6" name="pair text 1"/>
          <p:cNvSpPr txBox="1"/>
          <p:nvPr/>
        </p:nvSpPr>
        <p:spPr>
          <a:xfrm>
            <a:off x="2697480" y="160020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athlete · coach</a:t>
            </a:r>
            <a:endParaRPr lang="en-US" sz="1500" dirty="0"/>
          </a:p>
        </p:txBody>
      </p:sp>
      <p:sp>
        <p:nvSpPr>
          <p:cNvPr id="7" name="pair 2"/>
          <p:cNvSpPr/>
          <p:nvPr/>
        </p:nvSpPr>
        <p:spPr>
          <a:xfrm>
            <a:off x="4572000" y="160020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8" name="pair text 2"/>
          <p:cNvSpPr txBox="1"/>
          <p:nvPr/>
        </p:nvSpPr>
        <p:spPr>
          <a:xfrm>
            <a:off x="4709160" y="160020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coach · team</a:t>
            </a:r>
            <a:endParaRPr lang="en-US" sz="1500" dirty="0"/>
          </a:p>
        </p:txBody>
      </p:sp>
      <p:sp>
        <p:nvSpPr>
          <p:cNvPr id="9" name="pair 3"/>
          <p:cNvSpPr/>
          <p:nvPr/>
        </p:nvSpPr>
        <p:spPr>
          <a:xfrm>
            <a:off x="6583680" y="160020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10" name="pair text 3"/>
          <p:cNvSpPr txBox="1"/>
          <p:nvPr/>
        </p:nvSpPr>
        <p:spPr>
          <a:xfrm>
            <a:off x="6720840" y="160020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prayer</a:t>
            </a:r>
            <a:endParaRPr lang="en-US" sz="1500" dirty="0"/>
          </a:p>
        </p:txBody>
      </p:sp>
      <p:sp>
        <p:nvSpPr>
          <p:cNvPr id="11" name="pair 4"/>
          <p:cNvSpPr/>
          <p:nvPr/>
        </p:nvSpPr>
        <p:spPr>
          <a:xfrm>
            <a:off x="548640" y="283464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12" name="pair text 4"/>
          <p:cNvSpPr txBox="1"/>
          <p:nvPr/>
        </p:nvSpPr>
        <p:spPr>
          <a:xfrm>
            <a:off x="685800" y="283464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song</a:t>
            </a:r>
            <a:endParaRPr lang="en-US" sz="1500" dirty="0"/>
          </a:p>
        </p:txBody>
      </p:sp>
      <p:sp>
        <p:nvSpPr>
          <p:cNvPr id="13" name="pair 5"/>
          <p:cNvSpPr/>
          <p:nvPr/>
        </p:nvSpPr>
        <p:spPr>
          <a:xfrm>
            <a:off x="2560320" y="283464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14" name="pair text 5"/>
          <p:cNvSpPr txBox="1"/>
          <p:nvPr/>
        </p:nvSpPr>
        <p:spPr>
          <a:xfrm>
            <a:off x="2697480" y="283464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communion</a:t>
            </a:r>
            <a:endParaRPr lang="en-US" sz="1500" dirty="0"/>
          </a:p>
        </p:txBody>
      </p:sp>
      <p:sp>
        <p:nvSpPr>
          <p:cNvPr id="15" name="pair 6"/>
          <p:cNvSpPr/>
          <p:nvPr/>
        </p:nvSpPr>
        <p:spPr>
          <a:xfrm>
            <a:off x="4572000" y="2834640"/>
            <a:ext cx="1828800" cy="960120"/>
          </a:xfrm>
          <a:prstGeom prst="roundRect">
            <a:avLst>
              <a:gd name="adj" fmla="val 9524"/>
            </a:avLst>
          </a:prstGeom>
          <a:solidFill>
            <a:srgbClr val="2E3A55"/>
          </a:solidFill>
          <a:ln w="12700">
            <a:solidFill>
              <a:srgbClr val="2E3A55"/>
            </a:solidFill>
            <a:prstDash val="solid"/>
          </a:ln>
        </p:spPr>
        <p:txBody>
          <a:bodyPr/>
          <a:lstStyle/>
          <a:p>
            <a:endParaRPr lang="en-US"/>
          </a:p>
        </p:txBody>
      </p:sp>
      <p:sp>
        <p:nvSpPr>
          <p:cNvPr id="16" name="pair text 6"/>
          <p:cNvSpPr txBox="1"/>
          <p:nvPr/>
        </p:nvSpPr>
        <p:spPr>
          <a:xfrm>
            <a:off x="4709160" y="2834640"/>
            <a:ext cx="1554480" cy="960120"/>
          </a:xfrm>
          <a:prstGeom prst="rect">
            <a:avLst/>
          </a:prstGeom>
          <a:noFill/>
          <a:ln/>
        </p:spPr>
        <p:txBody>
          <a:bodyPr wrap="square" lIns="0" tIns="0" rIns="0" bIns="0" rtlCol="0" anchor="ctr"/>
          <a:lstStyle/>
          <a:p>
            <a:pPr marL="0" indent="0" algn="ctr">
              <a:buNone/>
            </a:pPr>
            <a:r>
              <a:rPr lang="en-US" sz="1500" dirty="0">
                <a:solidFill>
                  <a:schemeClr val="bg1"/>
                </a:solidFill>
              </a:rPr>
              <a:t>Sabbath</a:t>
            </a:r>
            <a:endParaRPr lang="en-US" sz="1500" dirty="0"/>
          </a:p>
        </p:txBody>
      </p:sp>
      <p:sp>
        <p:nvSpPr>
          <p:cNvPr id="17" name="pair 7"/>
          <p:cNvSpPr/>
          <p:nvPr/>
        </p:nvSpPr>
        <p:spPr>
          <a:xfrm>
            <a:off x="6583680" y="2834640"/>
            <a:ext cx="1828800" cy="960120"/>
          </a:xfrm>
          <a:prstGeom prst="roundRect">
            <a:avLst>
              <a:gd name="adj" fmla="val 9524"/>
            </a:avLst>
          </a:prstGeom>
          <a:solidFill>
            <a:srgbClr val="B8743A"/>
          </a:solidFill>
          <a:ln w="12700">
            <a:solidFill>
              <a:srgbClr val="B8743A"/>
            </a:solidFill>
            <a:prstDash val="solid"/>
          </a:ln>
        </p:spPr>
        <p:txBody>
          <a:bodyPr/>
          <a:lstStyle/>
          <a:p>
            <a:endParaRPr lang="en-US"/>
          </a:p>
        </p:txBody>
      </p:sp>
      <p:sp>
        <p:nvSpPr>
          <p:cNvPr id="18" name="pair text 7"/>
          <p:cNvSpPr txBox="1"/>
          <p:nvPr/>
        </p:nvSpPr>
        <p:spPr>
          <a:xfrm>
            <a:off x="6720840" y="2834640"/>
            <a:ext cx="1554480" cy="960120"/>
          </a:xfrm>
          <a:prstGeom prst="rect">
            <a:avLst/>
          </a:prstGeom>
          <a:noFill/>
          <a:ln/>
        </p:spPr>
        <p:txBody>
          <a:bodyPr wrap="square" lIns="0" tIns="0" rIns="0" bIns="0" rtlCol="0" anchor="ctr"/>
          <a:lstStyle/>
          <a:p>
            <a:pPr marL="0" indent="0" algn="ctr">
              <a:buNone/>
            </a:pPr>
            <a:r>
              <a:rPr lang="en-US" sz="1500" b="1" dirty="0">
                <a:solidFill>
                  <a:schemeClr val="bg1"/>
                </a:solidFill>
              </a:rPr>
              <a:t>you · your AI</a:t>
            </a:r>
            <a:endParaRPr lang="en-US" sz="1500" dirty="0"/>
          </a:p>
        </p:txBody>
      </p:sp>
      <p:pic>
        <p:nvPicPr>
          <p:cNvPr id="22" name="Picture 21">
            <a:extLst>
              <a:ext uri="{FF2B5EF4-FFF2-40B4-BE49-F238E27FC236}">
                <a16:creationId xmlns:a16="http://schemas.microsoft.com/office/drawing/2014/main" id="{336F9270-378C-3A6D-136C-EFFCB6C28FCA}"/>
              </a:ext>
            </a:extLst>
          </p:cNvPr>
          <p:cNvPicPr>
            <a:picLocks noChangeAspect="1"/>
          </p:cNvPicPr>
          <p:nvPr/>
        </p:nvPicPr>
        <p:blipFill>
          <a:blip r:embed="rId3"/>
          <a:srcRect b="13828"/>
          <a:stretch>
            <a:fillRect/>
          </a:stretch>
        </p:blipFill>
        <p:spPr>
          <a:xfrm>
            <a:off x="0" y="458811"/>
            <a:ext cx="9107171" cy="420301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914400"/>
          </a:xfrm>
          <a:prstGeom prst="rect">
            <a:avLst/>
          </a:prstGeom>
          <a:noFill/>
          <a:ln/>
        </p:spPr>
        <p:txBody>
          <a:bodyPr wrap="square" lIns="0" tIns="0" rIns="0" bIns="0" rtlCol="0" anchor="t"/>
          <a:lstStyle/>
          <a:p>
            <a:pPr marL="0" indent="0">
              <a:buNone/>
            </a:pPr>
            <a:r>
              <a:rPr lang="en-US" sz="3600" b="1" dirty="0">
                <a:solidFill>
                  <a:schemeClr val="bg1"/>
                </a:solidFill>
              </a:rPr>
              <a:t>Claude’s formation</a:t>
            </a:r>
            <a:endParaRPr lang="en-US" sz="3600" dirty="0"/>
          </a:p>
        </p:txBody>
      </p:sp>
      <p:sp>
        <p:nvSpPr>
          <p:cNvPr id="5" name="k 1"/>
          <p:cNvSpPr txBox="1"/>
          <p:nvPr/>
        </p:nvSpPr>
        <p:spPr>
          <a:xfrm>
            <a:off x="548640" y="2286000"/>
            <a:ext cx="1280160" cy="548640"/>
          </a:xfrm>
          <a:prstGeom prst="rect">
            <a:avLst/>
          </a:prstGeom>
          <a:noFill/>
          <a:ln/>
        </p:spPr>
        <p:txBody>
          <a:bodyPr wrap="square" lIns="0" tIns="0" rIns="0" bIns="0" rtlCol="0" anchor="t"/>
          <a:lstStyle/>
          <a:p>
            <a:pPr marL="0" indent="0">
              <a:buNone/>
            </a:pPr>
            <a:r>
              <a:rPr lang="en-US" sz="1100" b="1" kern="0" spc="200" dirty="0">
                <a:solidFill>
                  <a:schemeClr val="accent2"/>
                </a:solidFill>
              </a:rPr>
              <a:t>WHAT THEY WANT</a:t>
            </a:r>
            <a:endParaRPr lang="en-US" sz="1100" dirty="0"/>
          </a:p>
        </p:txBody>
      </p:sp>
      <p:sp>
        <p:nvSpPr>
          <p:cNvPr id="6" name="q 1"/>
          <p:cNvSpPr txBox="1"/>
          <p:nvPr/>
        </p:nvSpPr>
        <p:spPr>
          <a:xfrm>
            <a:off x="1874520" y="2249424"/>
            <a:ext cx="6720840" cy="822960"/>
          </a:xfrm>
          <a:prstGeom prst="rect">
            <a:avLst/>
          </a:prstGeom>
          <a:noFill/>
          <a:ln/>
        </p:spPr>
        <p:txBody>
          <a:bodyPr wrap="square" lIns="0" tIns="0" rIns="0" bIns="0" rtlCol="0" anchor="t"/>
          <a:lstStyle/>
          <a:p>
            <a:pPr marL="0" indent="0">
              <a:buNone/>
            </a:pPr>
            <a:r>
              <a:rPr lang="en-US" sz="1500" dirty="0">
                <a:solidFill>
                  <a:schemeClr val="bg1"/>
                </a:solidFill>
              </a:rPr>
              <a:t>A genius six-year-old who is formed to become a well-liked traveler, whose good character is recognized wherever it goes. </a:t>
            </a:r>
            <a:endParaRPr lang="en-US" sz="1500" dirty="0"/>
          </a:p>
        </p:txBody>
      </p:sp>
      <p:sp>
        <p:nvSpPr>
          <p:cNvPr id="9" name="attrib"/>
          <p:cNvSpPr txBox="1"/>
          <p:nvPr/>
        </p:nvSpPr>
        <p:spPr>
          <a:xfrm>
            <a:off x="4201160" y="4480560"/>
            <a:ext cx="8046720" cy="320040"/>
          </a:xfrm>
          <a:prstGeom prst="rect">
            <a:avLst/>
          </a:prstGeom>
          <a:noFill/>
          <a:ln/>
        </p:spPr>
        <p:txBody>
          <a:bodyPr wrap="square" lIns="0" tIns="0" rIns="0" bIns="0" rtlCol="0" anchor="ctr"/>
          <a:lstStyle/>
          <a:p>
            <a:pPr marL="0" indent="0">
              <a:buNone/>
            </a:pPr>
            <a:r>
              <a:rPr lang="en-US" sz="1200" dirty="0">
                <a:solidFill>
                  <a:srgbClr val="B9C1D0"/>
                </a:solidFill>
              </a:rPr>
              <a:t>Anthropic, January 2026 · lead authors Amanda Askell and Joe Carlsmith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ask"/>
          <p:cNvSpPr txBox="1"/>
          <p:nvPr/>
        </p:nvSpPr>
        <p:spPr>
          <a:xfrm>
            <a:off x="548640" y="640080"/>
            <a:ext cx="8046720" cy="914400"/>
          </a:xfrm>
          <a:prstGeom prst="rect">
            <a:avLst/>
          </a:prstGeom>
          <a:noFill/>
          <a:ln/>
        </p:spPr>
        <p:txBody>
          <a:bodyPr wrap="square" lIns="0" tIns="0" rIns="0" bIns="0" rtlCol="0" anchor="ctr"/>
          <a:lstStyle/>
          <a:p>
            <a:pPr marL="0" indent="0">
              <a:buNone/>
            </a:pPr>
            <a:r>
              <a:rPr lang="en-US" sz="3200" b="1" dirty="0">
                <a:solidFill>
                  <a:schemeClr val="accent1"/>
                </a:solidFill>
              </a:rPr>
              <a:t>Since you know how formation works, ask yourself…</a:t>
            </a:r>
            <a:endParaRPr lang="en-US" sz="3200" dirty="0"/>
          </a:p>
        </p:txBody>
      </p:sp>
      <p:sp>
        <p:nvSpPr>
          <p:cNvPr id="4" name="gloss"/>
          <p:cNvSpPr txBox="1"/>
          <p:nvPr/>
        </p:nvSpPr>
        <p:spPr>
          <a:xfrm>
            <a:off x="548640" y="2651760"/>
            <a:ext cx="8046720" cy="914400"/>
          </a:xfrm>
          <a:prstGeom prst="rect">
            <a:avLst/>
          </a:prstGeom>
          <a:noFill/>
          <a:ln/>
        </p:spPr>
        <p:txBody>
          <a:bodyPr wrap="square" lIns="0" tIns="0" rIns="0" bIns="0" rtlCol="0" anchor="t"/>
          <a:lstStyle/>
          <a:p>
            <a:pPr marL="0" indent="0">
              <a:buNone/>
            </a:pPr>
            <a:r>
              <a:rPr lang="en-US" sz="2000" dirty="0">
                <a:solidFill>
                  <a:schemeClr val="tx1"/>
                </a:solidFill>
              </a:rPr>
              <a:t>How would I characterize my partnership with </a:t>
            </a:r>
            <a:r>
              <a:rPr lang="en-US" sz="2000" dirty="0"/>
              <a:t>AI? </a:t>
            </a:r>
          </a:p>
          <a:p>
            <a:pPr marL="0" indent="0">
              <a:buNone/>
            </a:pPr>
            <a:r>
              <a:rPr lang="en-US" sz="2000" dirty="0">
                <a:solidFill>
                  <a:schemeClr val="tx1"/>
                </a:solidFill>
              </a:rPr>
              <a:t>What practices do I use to guide our work together?</a:t>
            </a:r>
          </a:p>
          <a:p>
            <a:pPr marL="0" indent="0">
              <a:buNone/>
            </a:pPr>
            <a:endParaRPr lang="en-US" sz="2000" dirty="0"/>
          </a:p>
          <a:p>
            <a:pPr marL="0" indent="0">
              <a:buNone/>
            </a:pPr>
            <a:endParaRPr lang="en-US" sz="2000" dirty="0"/>
          </a:p>
          <a:p>
            <a:pPr marL="0" indent="0">
              <a:buNone/>
            </a:pPr>
            <a:r>
              <a:rPr lang="en-US" sz="2000" b="1" dirty="0"/>
              <a:t>What does your answers say about YOU and your formation?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rule"/>
          <p:cNvSpPr txBox="1"/>
          <p:nvPr/>
        </p:nvSpPr>
        <p:spPr>
          <a:xfrm>
            <a:off x="731520" y="1920240"/>
            <a:ext cx="7680960" cy="1097280"/>
          </a:xfrm>
          <a:prstGeom prst="rect">
            <a:avLst/>
          </a:prstGeom>
          <a:noFill/>
          <a:ln/>
        </p:spPr>
        <p:txBody>
          <a:bodyPr wrap="square" lIns="0" tIns="0" rIns="0" bIns="0" rtlCol="0" anchor="ctr"/>
          <a:lstStyle/>
          <a:p>
            <a:pPr marL="0" indent="0">
              <a:buNone/>
            </a:pPr>
            <a:r>
              <a:rPr lang="en-US" sz="4400" b="1" dirty="0">
                <a:solidFill>
                  <a:schemeClr val="bg1"/>
                </a:solidFill>
              </a:rPr>
              <a:t>Only I write.</a:t>
            </a:r>
            <a:endParaRPr lang="en-US" sz="4400" dirty="0"/>
          </a:p>
        </p:txBody>
      </p:sp>
      <p:sp>
        <p:nvSpPr>
          <p:cNvPr id="3" name="gloss"/>
          <p:cNvSpPr txBox="1"/>
          <p:nvPr/>
        </p:nvSpPr>
        <p:spPr>
          <a:xfrm>
            <a:off x="731520" y="3017520"/>
            <a:ext cx="7680960" cy="457200"/>
          </a:xfrm>
          <a:prstGeom prst="rect">
            <a:avLst/>
          </a:prstGeom>
          <a:noFill/>
          <a:ln/>
        </p:spPr>
        <p:txBody>
          <a:bodyPr wrap="square" lIns="0" tIns="0" rIns="0" bIns="0" rtlCol="0" anchor="ctr"/>
          <a:lstStyle/>
          <a:p>
            <a:pPr marL="0" indent="0">
              <a:buNone/>
            </a:pPr>
            <a:r>
              <a:rPr lang="en-US" sz="1800" i="1" dirty="0">
                <a:solidFill>
                  <a:schemeClr val="accent2"/>
                </a:solidFill>
              </a:rPr>
              <a:t>the one rule of a repaired partnership</a:t>
            </a:r>
            <a:endParaRPr lang="en-US" sz="1800" dirty="0"/>
          </a:p>
        </p:txBody>
      </p:sp>
      <p:sp>
        <p:nvSpPr>
          <p:cNvPr id="5" name="Text 0"/>
          <p:cNvSpPr>
            <a:spLocks noGrp="1"/>
          </p:cNvSpPr>
          <p:nvPr>
            <p:ph type="title" idx="100" hasCustomPrompt="1"/>
          </p:nvPr>
        </p:nvSpPr>
        <p:spPr>
          <a:xfrm>
            <a:off x="548640" y="457200"/>
            <a:ext cx="8046720" cy="914400"/>
          </a:xfrm>
          <a:prstGeom prst="rect">
            <a:avLst/>
          </a:prstGeom>
          <a:noFill/>
          <a:ln/>
        </p:spPr>
        <p:txBody>
          <a:bodyPr wrap="square" lIns="0" tIns="0" rIns="0" bIns="0" rtlCol="0" anchor="t"/>
          <a:lstStyle/>
          <a:p>
            <a:pPr marL="0" indent="0" algn="l">
              <a:buNone/>
            </a:pPr>
            <a:r>
              <a:rPr lang="en-US" dirty="0"/>
              <a:t>After 5 chapters in the trash….</a:t>
            </a:r>
            <a:endParaRPr lang="en-US" sz="3600" dirty="0"/>
          </a:p>
        </p:txBody>
      </p:sp>
      <p:sp>
        <p:nvSpPr>
          <p:cNvPr id="6" name="Text 0"/>
          <p:cNvSpPr>
            <a:spLocks noGrp="1"/>
          </p:cNvSpPr>
          <p:nvPr>
            <p:ph type="body" idx="101" hasCustomPrompt="1"/>
          </p:nvPr>
        </p:nvSpPr>
        <p:spPr>
          <a:xfrm>
            <a:off x="548640" y="1554480"/>
            <a:ext cx="8046720" cy="3108960"/>
          </a:xfrm>
          <a:prstGeom prst="rect">
            <a:avLst/>
          </a:prstGeom>
          <a:noFill/>
          <a:ln/>
        </p:spPr>
        <p:txBody>
          <a:bodyPr wrap="square" lIns="0" tIns="0" rIns="0" bIns="0" rtlCol="0" anchor="t"/>
          <a:lstStyle/>
          <a:p>
            <a:pPr marL="0" indent="0">
              <a:buNone/>
            </a:pP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yramid photo" descr="/home/claude/slides/tmp/close.jpg"/>
          <p:cNvPicPr>
            <a:picLocks noChangeAspect="1"/>
          </p:cNvPicPr>
          <p:nvPr/>
        </p:nvPicPr>
        <p:blipFill>
          <a:blip r:embed="rId3">
            <a:alphaModFix amt="75000"/>
          </a:blip>
          <a:stretch>
            <a:fillRect/>
          </a:stretch>
        </p:blipFill>
        <p:spPr>
          <a:xfrm>
            <a:off x="0" y="0"/>
            <a:ext cx="9144000" cy="5143500"/>
          </a:xfrm>
          <a:prstGeom prst="rect">
            <a:avLst/>
          </a:prstGeom>
        </p:spPr>
      </p:pic>
      <p:sp>
        <p:nvSpPr>
          <p:cNvPr id="3" name="tint"/>
          <p:cNvSpPr/>
          <p:nvPr/>
        </p:nvSpPr>
        <p:spPr>
          <a:xfrm>
            <a:off x="0" y="0"/>
            <a:ext cx="9144000" cy="5143500"/>
          </a:xfrm>
          <a:prstGeom prst="rect">
            <a:avLst/>
          </a:prstGeom>
          <a:solidFill>
            <a:srgbClr val="1C2333">
              <a:alpha val="21000"/>
            </a:srgbClr>
          </a:solidFill>
          <a:ln w="12700">
            <a:solidFill>
              <a:srgbClr val="1C2333">
                <a:alpha val="0"/>
              </a:srgbClr>
            </a:solidFill>
            <a:prstDash val="solid"/>
          </a:ln>
        </p:spPr>
        <p:txBody>
          <a:bodyPr/>
          <a:lstStyle/>
          <a:p>
            <a:endParaRPr lang="en-US"/>
          </a:p>
        </p:txBody>
      </p:sp>
      <p:sp>
        <p:nvSpPr>
          <p:cNvPr id="4" name="quote"/>
          <p:cNvSpPr txBox="1"/>
          <p:nvPr/>
        </p:nvSpPr>
        <p:spPr>
          <a:xfrm>
            <a:off x="731520" y="1005840"/>
            <a:ext cx="7874000" cy="1234440"/>
          </a:xfrm>
          <a:prstGeom prst="rect">
            <a:avLst/>
          </a:prstGeom>
          <a:solidFill>
            <a:schemeClr val="tx1">
              <a:lumMod val="90000"/>
              <a:lumOff val="10000"/>
              <a:alpha val="91000"/>
            </a:schemeClr>
          </a:solidFill>
          <a:ln/>
        </p:spPr>
        <p:txBody>
          <a:bodyPr wrap="square" lIns="0" tIns="0" rIns="0" bIns="0" rtlCol="0" anchor="t"/>
          <a:lstStyle/>
          <a:p>
            <a:pPr marL="0" indent="0">
              <a:buNone/>
            </a:pPr>
            <a:r>
              <a:rPr lang="en-US" sz="2200" i="1" dirty="0">
                <a:solidFill>
                  <a:schemeClr val="bg1"/>
                </a:solidFill>
              </a:rPr>
              <a:t>“I carry the desert, so you don’t have to hold the whole thing in your head. You stand at the summit and do the one job no one else can do — be the person the wisdom is for.”</a:t>
            </a:r>
            <a:endParaRPr lang="en-US" sz="2200" dirty="0">
              <a:solidFill>
                <a:schemeClr val="bg1"/>
              </a:solidFill>
            </a:endParaRPr>
          </a:p>
        </p:txBody>
      </p:sp>
      <p:sp>
        <p:nvSpPr>
          <p:cNvPr id="6" name="last"/>
          <p:cNvSpPr txBox="1"/>
          <p:nvPr/>
        </p:nvSpPr>
        <p:spPr>
          <a:xfrm>
            <a:off x="2250440" y="3520440"/>
            <a:ext cx="6355080" cy="822960"/>
          </a:xfrm>
          <a:prstGeom prst="rect">
            <a:avLst/>
          </a:prstGeom>
          <a:noFill/>
          <a:ln/>
        </p:spPr>
        <p:txBody>
          <a:bodyPr wrap="square" lIns="0" tIns="0" rIns="0" bIns="0" rtlCol="0" anchor="t"/>
          <a:lstStyle/>
          <a:p>
            <a:pPr marL="0" indent="0">
              <a:buNone/>
            </a:pPr>
            <a:r>
              <a:rPr lang="en-US" sz="1700" dirty="0">
                <a:solidFill>
                  <a:schemeClr val="bg1"/>
                </a:solidFill>
              </a:rPr>
              <a:t>Don’t vacate the summit. Become the kind of person who can notice what matters, love what is good, and act wisely when reality changes beneath your feet.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6F9C-1B08-295D-3A9B-F8A792A3D36A}"/>
            </a:ext>
          </a:extLst>
        </p:cNvPr>
        <p:cNvGrpSpPr/>
        <p:nvPr/>
      </p:nvGrpSpPr>
      <p:grpSpPr>
        <a:xfrm>
          <a:off x="0" y="0"/>
          <a:ext cx="0" cy="0"/>
          <a:chOff x="0" y="0"/>
          <a:chExt cx="0" cy="0"/>
        </a:xfrm>
      </p:grpSpPr>
      <p:sp>
        <p:nvSpPr>
          <p:cNvPr id="3" name="ask">
            <a:extLst>
              <a:ext uri="{FF2B5EF4-FFF2-40B4-BE49-F238E27FC236}">
                <a16:creationId xmlns:a16="http://schemas.microsoft.com/office/drawing/2014/main" id="{C732DDF5-1B38-EAA1-AF46-0BCDBF943646}"/>
              </a:ext>
            </a:extLst>
          </p:cNvPr>
          <p:cNvSpPr txBox="1"/>
          <p:nvPr/>
        </p:nvSpPr>
        <p:spPr>
          <a:xfrm>
            <a:off x="548640" y="640080"/>
            <a:ext cx="8046720" cy="914400"/>
          </a:xfrm>
          <a:prstGeom prst="rect">
            <a:avLst/>
          </a:prstGeom>
          <a:noFill/>
          <a:ln/>
        </p:spPr>
        <p:txBody>
          <a:bodyPr wrap="square" lIns="0" tIns="0" rIns="0" bIns="0" rtlCol="0" anchor="ctr"/>
          <a:lstStyle/>
          <a:p>
            <a:pPr marL="0" indent="0">
              <a:buNone/>
            </a:pPr>
            <a:r>
              <a:rPr lang="en-US" sz="3200" b="1" dirty="0">
                <a:solidFill>
                  <a:schemeClr val="accent1"/>
                </a:solidFill>
              </a:rPr>
              <a:t>Since you know how formation works, ask yourself…</a:t>
            </a:r>
            <a:endParaRPr lang="en-US" sz="3200" dirty="0"/>
          </a:p>
        </p:txBody>
      </p:sp>
      <p:sp>
        <p:nvSpPr>
          <p:cNvPr id="4" name="gloss">
            <a:extLst>
              <a:ext uri="{FF2B5EF4-FFF2-40B4-BE49-F238E27FC236}">
                <a16:creationId xmlns:a16="http://schemas.microsoft.com/office/drawing/2014/main" id="{E97BD65B-61D7-337D-FEFC-7A07B7842DC3}"/>
              </a:ext>
            </a:extLst>
          </p:cNvPr>
          <p:cNvSpPr txBox="1"/>
          <p:nvPr/>
        </p:nvSpPr>
        <p:spPr>
          <a:xfrm>
            <a:off x="548640" y="2651760"/>
            <a:ext cx="8046720" cy="914400"/>
          </a:xfrm>
          <a:prstGeom prst="rect">
            <a:avLst/>
          </a:prstGeom>
          <a:noFill/>
          <a:ln/>
        </p:spPr>
        <p:txBody>
          <a:bodyPr wrap="square" lIns="0" tIns="0" rIns="0" bIns="0" rtlCol="0" anchor="t"/>
          <a:lstStyle/>
          <a:p>
            <a:pPr marL="0" indent="0">
              <a:buNone/>
            </a:pPr>
            <a:r>
              <a:rPr lang="en-US" sz="2000" dirty="0">
                <a:solidFill>
                  <a:schemeClr val="tx1"/>
                </a:solidFill>
              </a:rPr>
              <a:t>How would I characterize my partnership with </a:t>
            </a:r>
            <a:r>
              <a:rPr lang="en-US" sz="2000" dirty="0"/>
              <a:t>AI? </a:t>
            </a:r>
          </a:p>
          <a:p>
            <a:pPr marL="0" indent="0">
              <a:buNone/>
            </a:pPr>
            <a:r>
              <a:rPr lang="en-US" sz="2000" dirty="0">
                <a:solidFill>
                  <a:schemeClr val="tx1"/>
                </a:solidFill>
              </a:rPr>
              <a:t>What practices do I use to guide our work together?</a:t>
            </a:r>
          </a:p>
          <a:p>
            <a:pPr marL="0" indent="0">
              <a:buNone/>
            </a:pPr>
            <a:endParaRPr lang="en-US" sz="2000" dirty="0"/>
          </a:p>
          <a:p>
            <a:pPr marL="0" indent="0">
              <a:buNone/>
            </a:pPr>
            <a:endParaRPr lang="en-US" sz="2000" dirty="0"/>
          </a:p>
          <a:p>
            <a:pPr marL="0" indent="0">
              <a:buNone/>
            </a:pPr>
            <a:r>
              <a:rPr lang="en-US" sz="2000" b="1" dirty="0"/>
              <a:t>What does your answers say about YOU and your formation?</a:t>
            </a:r>
          </a:p>
        </p:txBody>
      </p:sp>
    </p:spTree>
    <p:extLst>
      <p:ext uri="{BB962C8B-B14F-4D97-AF65-F5344CB8AC3E}">
        <p14:creationId xmlns:p14="http://schemas.microsoft.com/office/powerpoint/2010/main" val="430613631"/>
      </p:ext>
    </p:extLst>
  </p:cSld>
  <p:clrMapOvr>
    <a:masterClrMapping/>
  </p:clrMapOvr>
</p:sld>
</file>

<file path=ppt/theme/theme1.xml><?xml version="1.0" encoding="utf-8"?>
<a:theme xmlns:a="http://schemas.openxmlformats.org/drawingml/2006/main" name="Shoreline of Wonder">
  <a:themeElements>
    <a:clrScheme name="Shoreline of Wonder">
      <a:dk1>
        <a:srgbClr val="1C2333"/>
      </a:dk1>
      <a:lt1>
        <a:srgbClr val="FFFFFF"/>
      </a:lt1>
      <a:dk2>
        <a:srgbClr val="5B6475"/>
      </a:dk2>
      <a:lt2>
        <a:srgbClr val="F3EBDD"/>
      </a:lt2>
      <a:accent1>
        <a:srgbClr val="B8743A"/>
      </a:accent1>
      <a:accent2>
        <a:srgbClr val="D9B36C"/>
      </a:accent2>
      <a:accent3>
        <a:srgbClr val="6E8898"/>
      </a:accent3>
      <a:accent4>
        <a:srgbClr val="8C5A2B"/>
      </a:accent4>
      <a:accent5>
        <a:srgbClr val="E3C9A0"/>
      </a:accent5>
      <a:accent6>
        <a:srgbClr val="2E3A55"/>
      </a:accent6>
      <a:hlink>
        <a:srgbClr val="B8743A"/>
      </a:hlink>
      <a:folHlink>
        <a:srgbClr val="8C5A2B"/>
      </a:folHlink>
    </a:clrScheme>
    <a:fontScheme name="Shoreline of Wo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1500</TotalTime>
  <Words>3467</Words>
  <Application>Microsoft Office PowerPoint</Application>
  <PresentationFormat>On-screen Show (16:9)</PresentationFormat>
  <Paragraphs>170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Cambria</vt:lpstr>
      <vt:lpstr>Shoreline of Wonder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Wisdom traditions</vt:lpstr>
      <vt:lpstr>Wisdom</vt:lpstr>
      <vt:lpstr>PowerPoint Presentation</vt:lpstr>
      <vt:lpstr>The Wisdom Pyramid</vt:lpstr>
      <vt:lpstr>Data</vt:lpstr>
      <vt:lpstr>Information</vt:lpstr>
      <vt:lpstr>Knowledge</vt:lpstr>
      <vt:lpstr>Wise Living</vt:lpstr>
      <vt:lpstr>Not control or compete. Partner.</vt:lpstr>
      <vt:lpstr>PowerPoint Presentation</vt:lpstr>
      <vt:lpstr>Claude’s formation</vt:lpstr>
      <vt:lpstr>PowerPoint Presentation</vt:lpstr>
      <vt:lpstr>After 5 chapters in the trash….</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Does It Take to Be Wise?</dc:title>
  <dc:subject>PptxGenJS Presentation</dc:subject>
  <dc:creator>Rachel Wondergem</dc:creator>
  <cp:lastModifiedBy>Rachel Wondergem</cp:lastModifiedBy>
  <cp:revision>3</cp:revision>
  <dcterms:created xsi:type="dcterms:W3CDTF">2026-10-07T18:09:50Z</dcterms:created>
  <dcterms:modified xsi:type="dcterms:W3CDTF">2026-10-08T19:33:05Z</dcterms:modified>
</cp:coreProperties>
</file>