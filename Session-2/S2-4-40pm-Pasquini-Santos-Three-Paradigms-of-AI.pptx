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80" r:id="rId16"/>
    <p:sldId id="272" r:id="rId17"/>
    <p:sldId id="266" r:id="rId18"/>
    <p:sldId id="281" r:id="rId19"/>
    <p:sldId id="282" r:id="rId20"/>
    <p:sldId id="283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4043F-EC89-4303-969B-8A7BA5F499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2E287-7D9A-441B-BE71-A8258E467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8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2E287-7D9A-441B-BE71-A8258E46774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56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D138-658D-E680-9B14-DFAEBBA27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66C47-F82F-2D2D-B254-9B0930D5A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57D7-B60B-CFDC-F5DF-1891F8AF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A65DB-BD80-CAE4-013F-01C50496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F6FA5-ECE1-0E45-6800-ACFC1AB0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3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6783-2301-B13B-9AA2-758DAAEB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AB09C-19D6-2547-DF1C-E0497D5E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5EB7-35D4-2870-1618-10E169F5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458C-C620-8631-8D77-FA69FB09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BD3CE-DF84-D7DB-D122-FAE25B8A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C137-F4DC-DA8E-3EB9-DBFF5407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32725-89DC-38F0-3F26-7CEB11E73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AB0FB-7DF6-4FB2-DD7C-A54DEFD4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DFD0-2F13-C764-32F0-FB592752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3B2AB-837F-040C-3A20-490BF010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7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E0E7-F80D-1CEB-05CE-36B5ED4F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0D0AB-F0AB-2E3E-8F67-9ACF0D204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B6F54-79E0-5D89-831B-410E7A689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6E2E9-75C0-274C-BC31-F1A5BA8C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F0115-7525-F23E-8520-882C05C7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9C6BB-ABBA-40BF-EDEF-C6531756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3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8D43-8F8B-FB3E-C5C1-6F6A60C6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EBC7A-B7D0-F4A3-902B-CD443CE01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2B668-B590-E83A-E072-A1DB3E28D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6FE26-C307-9A8B-82CA-B05A3FDD2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3A87F-E588-70C8-243F-9E39C79D8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05912-10D0-A6AF-0311-E0123199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EEF90A-86C7-13F2-76C7-99570D24F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D869FD-33EC-4B34-6EF9-D060EDF8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9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017E-21B9-E44D-5BB2-6F61EA70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555D-0575-E21A-B22E-0B106605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6F000-7453-CC23-F98B-A147DF42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1DBE8-0109-9D68-C3E2-B2453935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7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7E4B2-D6D8-F75E-670A-8EC5ACCB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56A7E-6FB8-5B0E-14DE-CAC4E363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716A6-84A1-C33F-EAC1-F0FB6352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7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1A97-9072-6E11-920A-71665D47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D2F48-85BA-8C3F-3790-C7A180DE6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B9772-D4BC-4D1E-611A-FD0E5BAB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28357-34BC-4DD0-B222-87F2CD04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60EE0-7907-B989-6E48-A761A759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883DC-E5F0-181B-A4A4-97CCC3F0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0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74E9-625D-5840-AE17-FEC5ACAB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53601-9CE1-5418-87C9-33BBF9228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B1C6-FB4B-207B-981C-996A3F940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46DD5-B747-B9C8-0B3C-6A14E0AA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481C6-30CA-3FBF-C242-7564E24E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0F353-438E-60DB-37D2-1F8CE757F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8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0F5E-0057-C171-DA7C-DB5675D3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C1732-BE03-5247-B613-0902C5F1A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117D9-840A-67BA-FA50-3BFA2A376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BC940-3128-713F-8F51-DD7FC5D0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B3275-D33C-3A3A-4D92-F8F5A5FF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54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386E3-B009-97E3-E50B-E18BE824F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2FEF9-1026-7E26-6A65-70D177B7C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3ACAD-3FBC-2E80-07B3-E091C021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C7C4E-4582-C468-B62E-50B2D694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61F7-81E8-AA7F-49D6-4ABCE85C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3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CD7FE-DF67-3D88-A647-845E579B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86F5B-95E0-830F-582A-4F8415F2A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1FFBA-4D90-8D6B-E242-BF8E278A7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9EE38-07C4-4E90-B09D-3B64F541729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066A4-C471-502E-5260-791EF2B10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2C94-A9B6-353C-F741-D24ECC998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70D19-AEFD-45AC-96FD-72FC5DE1E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3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5BDE-3468-3D9D-1382-6309413DAD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Three Paradigms of Artificial Intelligence and Their Moral Imaginaries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61C6-41E6-FD97-AE23-6BCC92DFD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Fernando Pasquini Santos</a:t>
            </a:r>
          </a:p>
          <a:p>
            <a:r>
              <a:rPr lang="pt-BR" dirty="0" err="1"/>
              <a:t>Department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Computer Science</a:t>
            </a:r>
            <a:endParaRPr lang="en-US" dirty="0"/>
          </a:p>
        </p:txBody>
      </p:sp>
      <p:pic>
        <p:nvPicPr>
          <p:cNvPr id="7" name="Picture 2" descr="Calvin University">
            <a:extLst>
              <a:ext uri="{FF2B5EF4-FFF2-40B4-BE49-F238E27FC236}">
                <a16:creationId xmlns:a16="http://schemas.microsoft.com/office/drawing/2014/main" id="{FDD88ABC-A802-6DB7-53B6-F5AC84CA7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832" y="4702629"/>
            <a:ext cx="1728336" cy="17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17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3E11-097C-C502-FBF3-145368DA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Navigational</a:t>
            </a:r>
            <a:r>
              <a:rPr lang="pt-BR" dirty="0"/>
              <a:t> </a:t>
            </a:r>
            <a:r>
              <a:rPr lang="pt-BR" dirty="0" err="1"/>
              <a:t>Scholarship</a:t>
            </a:r>
            <a:r>
              <a:rPr lang="pt-BR" dirty="0"/>
              <a:t> in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B873C-D52F-9DB8-A8B1-9A1F229B6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5787" cy="4351338"/>
          </a:xfrm>
        </p:spPr>
        <p:txBody>
          <a:bodyPr>
            <a:normAutofit/>
          </a:bodyPr>
          <a:lstStyle/>
          <a:p>
            <a:r>
              <a:rPr lang="pt-BR" sz="3200" dirty="0" err="1"/>
              <a:t>How</a:t>
            </a:r>
            <a:r>
              <a:rPr lang="pt-BR" sz="3200" dirty="0"/>
              <a:t> </a:t>
            </a:r>
            <a:r>
              <a:rPr lang="pt-BR" sz="3200" dirty="0" err="1"/>
              <a:t>did</a:t>
            </a:r>
            <a:r>
              <a:rPr lang="pt-BR" sz="3200" dirty="0"/>
              <a:t> </a:t>
            </a:r>
            <a:r>
              <a:rPr lang="pt-BR" sz="3200" dirty="0" err="1"/>
              <a:t>we</a:t>
            </a:r>
            <a:r>
              <a:rPr lang="pt-BR" sz="3200" dirty="0"/>
              <a:t> came </a:t>
            </a:r>
            <a:r>
              <a:rPr lang="pt-BR" sz="3200" dirty="0" err="1"/>
              <a:t>here</a:t>
            </a:r>
            <a:r>
              <a:rPr lang="pt-BR" sz="3200" dirty="0"/>
              <a:t>? Where are </a:t>
            </a:r>
            <a:r>
              <a:rPr lang="pt-BR" sz="3200" dirty="0" err="1"/>
              <a:t>we</a:t>
            </a:r>
            <a:r>
              <a:rPr lang="pt-BR" sz="3200" dirty="0"/>
              <a:t> </a:t>
            </a:r>
            <a:r>
              <a:rPr lang="pt-BR" sz="3200" dirty="0" err="1"/>
              <a:t>going</a:t>
            </a:r>
            <a:r>
              <a:rPr lang="pt-BR" sz="3200" dirty="0"/>
              <a:t>? Where </a:t>
            </a:r>
            <a:r>
              <a:rPr lang="pt-BR" sz="3200" dirty="0" err="1"/>
              <a:t>to</a:t>
            </a:r>
            <a:r>
              <a:rPr lang="pt-BR" sz="3200" dirty="0"/>
              <a:t> start?</a:t>
            </a:r>
          </a:p>
          <a:p>
            <a:r>
              <a:rPr lang="pt-BR" sz="3200" dirty="0" err="1"/>
              <a:t>And</a:t>
            </a:r>
            <a:r>
              <a:rPr lang="pt-BR" sz="3200" dirty="0"/>
              <a:t> </a:t>
            </a:r>
            <a:r>
              <a:rPr lang="pt-BR" sz="3200" dirty="0" err="1"/>
              <a:t>how</a:t>
            </a:r>
            <a:r>
              <a:rPr lang="pt-BR" sz="3200" dirty="0"/>
              <a:t> </a:t>
            </a:r>
            <a:r>
              <a:rPr lang="pt-BR" sz="3200" dirty="0" err="1"/>
              <a:t>could</a:t>
            </a:r>
            <a:r>
              <a:rPr lang="pt-BR" sz="3200" dirty="0"/>
              <a:t> </a:t>
            </a:r>
            <a:r>
              <a:rPr lang="pt-BR" sz="3200" dirty="0" err="1"/>
              <a:t>we</a:t>
            </a:r>
            <a:r>
              <a:rPr lang="pt-BR" sz="3200" dirty="0"/>
              <a:t> </a:t>
            </a:r>
            <a:r>
              <a:rPr lang="pt-BR" sz="3200" dirty="0" err="1"/>
              <a:t>integrate</a:t>
            </a:r>
            <a:r>
              <a:rPr lang="pt-BR" sz="3200" dirty="0"/>
              <a:t> </a:t>
            </a:r>
            <a:r>
              <a:rPr lang="pt-BR" sz="3200" dirty="0" err="1"/>
              <a:t>all</a:t>
            </a:r>
            <a:r>
              <a:rPr lang="pt-BR" sz="3200" dirty="0"/>
              <a:t>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that</a:t>
            </a:r>
            <a:r>
              <a:rPr lang="pt-BR" sz="3200" dirty="0"/>
              <a:t> in a CS curriculum?</a:t>
            </a:r>
            <a:endParaRPr lang="en-US" sz="3200" dirty="0"/>
          </a:p>
        </p:txBody>
      </p:sp>
      <p:pic>
        <p:nvPicPr>
          <p:cNvPr id="4" name="Picture 3" descr="A Brief History of Artificial Intelligence: What It Is, Where We Are, and  Where We Are Going: Wooldridge, Michael: 9781250770745: Amazon.com: Books">
            <a:extLst>
              <a:ext uri="{FF2B5EF4-FFF2-40B4-BE49-F238E27FC236}">
                <a16:creationId xmlns:a16="http://schemas.microsoft.com/office/drawing/2014/main" id="{A45E7D4B-27DA-C402-EFD2-9FE0385C8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826" y="3619457"/>
            <a:ext cx="2041551" cy="3155411"/>
          </a:xfrm>
          <a:prstGeom prst="rect">
            <a:avLst/>
          </a:prstGeom>
        </p:spPr>
      </p:pic>
      <p:pic>
        <p:nvPicPr>
          <p:cNvPr id="5" name="Picture 4" descr="The Eye of The Master: A Social History of Artificial Intelligence; Audiobook (Digital); Author - Matteo Pasquinelli">
            <a:extLst>
              <a:ext uri="{FF2B5EF4-FFF2-40B4-BE49-F238E27FC236}">
                <a16:creationId xmlns:a16="http://schemas.microsoft.com/office/drawing/2014/main" id="{5B5DDE7C-3E1F-9D88-D509-85687944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236" y="1926108"/>
            <a:ext cx="2194028" cy="3952308"/>
          </a:xfrm>
          <a:prstGeom prst="rect">
            <a:avLst/>
          </a:prstGeom>
        </p:spPr>
      </p:pic>
      <p:pic>
        <p:nvPicPr>
          <p:cNvPr id="6" name="Picture 5" descr="Amazon.com: A Brief History of Artificial Intelligence : Unraveling the  Threads of Machine Intelligence eBook : Wade, Samuel S: Kindle Store">
            <a:extLst>
              <a:ext uri="{FF2B5EF4-FFF2-40B4-BE49-F238E27FC236}">
                <a16:creationId xmlns:a16="http://schemas.microsoft.com/office/drawing/2014/main" id="{3D4D502A-BF58-5BAF-848D-BAAAC7DA8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513" y="273588"/>
            <a:ext cx="2104660" cy="315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36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BFDA-31F0-87C4-A65D-EC0266CFA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idea</a:t>
            </a:r>
            <a:r>
              <a:rPr lang="pt-BR" dirty="0"/>
              <a:t>...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FB51ED-3A72-B3A3-88C4-57C31701C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301931"/>
              </p:ext>
            </p:extLst>
          </p:nvPr>
        </p:nvGraphicFramePr>
        <p:xfrm>
          <a:off x="1081548" y="1690688"/>
          <a:ext cx="10028904" cy="468408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08583">
                  <a:extLst>
                    <a:ext uri="{9D8B030D-6E8A-4147-A177-3AD203B41FA5}">
                      <a16:colId xmlns:a16="http://schemas.microsoft.com/office/drawing/2014/main" val="2402681817"/>
                    </a:ext>
                  </a:extLst>
                </a:gridCol>
                <a:gridCol w="2596058">
                  <a:extLst>
                    <a:ext uri="{9D8B030D-6E8A-4147-A177-3AD203B41FA5}">
                      <a16:colId xmlns:a16="http://schemas.microsoft.com/office/drawing/2014/main" val="2128406402"/>
                    </a:ext>
                  </a:extLst>
                </a:gridCol>
                <a:gridCol w="3624263">
                  <a:extLst>
                    <a:ext uri="{9D8B030D-6E8A-4147-A177-3AD203B41FA5}">
                      <a16:colId xmlns:a16="http://schemas.microsoft.com/office/drawing/2014/main" val="169563375"/>
                    </a:ext>
                  </a:extLst>
                </a:gridCol>
              </a:tblGrid>
              <a:tr h="5186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effectLst/>
                        </a:rPr>
                        <a:t>AI Phase</a:t>
                      </a:r>
                      <a:endParaRPr lang="en-US" sz="2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Logic</a:t>
                      </a:r>
                      <a:endParaRPr lang="en-US" sz="2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History of Science Parallel</a:t>
                      </a:r>
                      <a:endParaRPr lang="en-US" sz="2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extLst>
                  <a:ext uri="{0D108BD9-81ED-4DB2-BD59-A6C34878D82A}">
                    <a16:rowId xmlns:a16="http://schemas.microsoft.com/office/drawing/2014/main" val="3806946611"/>
                  </a:ext>
                </a:extLst>
              </a:tr>
              <a:tr h="12508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Symbolic (1950-1995)</a:t>
                      </a:r>
                      <a:endParaRPr lang="en-US" sz="2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Deduction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Premodern science (theory)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extLst>
                  <a:ext uri="{0D108BD9-81ED-4DB2-BD59-A6C34878D82A}">
                    <a16:rowId xmlns:a16="http://schemas.microsoft.com/office/drawing/2014/main" val="1160316686"/>
                  </a:ext>
                </a:extLst>
              </a:tr>
              <a:tr h="12508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Adaptive (1995-2020)</a:t>
                      </a:r>
                      <a:endParaRPr lang="en-US" sz="2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Induction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Modern science (experiment)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extLst>
                  <a:ext uri="{0D108BD9-81ED-4DB2-BD59-A6C34878D82A}">
                    <a16:rowId xmlns:a16="http://schemas.microsoft.com/office/drawing/2014/main" val="2854708270"/>
                  </a:ext>
                </a:extLst>
              </a:tr>
              <a:tr h="13310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Generative (2020-now)</a:t>
                      </a:r>
                      <a:endParaRPr lang="en-US" sz="2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Abduction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Computational science (simulation)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613" marR="19613" marT="15436" marB="15436" anchor="ctr"/>
                </a:tc>
                <a:extLst>
                  <a:ext uri="{0D108BD9-81ED-4DB2-BD59-A6C34878D82A}">
                    <a16:rowId xmlns:a16="http://schemas.microsoft.com/office/drawing/2014/main" val="3856608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0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0554-0006-AA65-9669-575D34D1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Each</a:t>
            </a:r>
            <a:r>
              <a:rPr lang="pt-BR" dirty="0"/>
              <a:t> </a:t>
            </a:r>
            <a:r>
              <a:rPr lang="pt-BR" dirty="0" err="1"/>
              <a:t>phase</a:t>
            </a:r>
            <a:r>
              <a:rPr lang="pt-BR" dirty="0"/>
              <a:t> </a:t>
            </a:r>
            <a:r>
              <a:rPr lang="pt-BR" dirty="0" err="1"/>
              <a:t>arose</a:t>
            </a:r>
            <a:r>
              <a:rPr lang="pt-BR" dirty="0"/>
              <a:t> </a:t>
            </a:r>
            <a:r>
              <a:rPr lang="pt-BR" dirty="0" err="1"/>
              <a:t>from</a:t>
            </a:r>
            <a:br>
              <a:rPr lang="pt-BR" dirty="0"/>
            </a:b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limitations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previous</a:t>
            </a:r>
            <a:r>
              <a:rPr lang="pt-BR" dirty="0"/>
              <a:t>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8B881-FE36-E959-EC2B-2A15DDB7A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2439"/>
            <a:ext cx="10515600" cy="4351338"/>
          </a:xfrm>
        </p:spPr>
        <p:txBody>
          <a:bodyPr/>
          <a:lstStyle/>
          <a:p>
            <a:pPr lvl="0">
              <a:lnSpc>
                <a:spcPct val="100000"/>
              </a:lnSpc>
              <a:spcAft>
                <a:spcPts val="600"/>
              </a:spcAft>
            </a:pPr>
            <a:r>
              <a:rPr lang="en-US" b="1" dirty="0"/>
              <a:t>Symbolic AI</a:t>
            </a:r>
            <a:r>
              <a:rPr lang="en-US" dirty="0"/>
              <a:t> revealed the limits of explicit knowledge elucidation (Hubert Dreyfus’ critique) → led to data-driven learning.</a:t>
            </a:r>
          </a:p>
          <a:p>
            <a:pPr lvl="0">
              <a:lnSpc>
                <a:spcPct val="100000"/>
              </a:lnSpc>
              <a:spcAft>
                <a:spcPts val="600"/>
              </a:spcAft>
            </a:pPr>
            <a:r>
              <a:rPr lang="en-US" b="1" dirty="0"/>
              <a:t>Adaptive AI</a:t>
            </a:r>
            <a:r>
              <a:rPr lang="en-US" dirty="0"/>
              <a:t> revealed the limits of working only with recorded, past data (STS critique) → led to generative, abductive world-exploration.</a:t>
            </a:r>
          </a:p>
          <a:p>
            <a:pPr lvl="0">
              <a:lnSpc>
                <a:spcPct val="100000"/>
              </a:lnSpc>
              <a:spcAft>
                <a:spcPts val="600"/>
              </a:spcAft>
            </a:pPr>
            <a:r>
              <a:rPr lang="en-US" b="1" dirty="0"/>
              <a:t>Generative AI</a:t>
            </a:r>
            <a:r>
              <a:rPr lang="en-US" dirty="0"/>
              <a:t> now probably reveals the limits of brute-force optimization and scaling…</a:t>
            </a:r>
          </a:p>
        </p:txBody>
      </p:sp>
    </p:spTree>
    <p:extLst>
      <p:ext uri="{BB962C8B-B14F-4D97-AF65-F5344CB8AC3E}">
        <p14:creationId xmlns:p14="http://schemas.microsoft.com/office/powerpoint/2010/main" val="246109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C012-668F-B7DC-084B-2449702C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Moral </a:t>
            </a:r>
            <a:r>
              <a:rPr lang="pt-BR" dirty="0" err="1"/>
              <a:t>Imaginaries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06713-D99E-6DD0-9E5E-3CA401AB2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 err="1"/>
              <a:t>Decentering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human</a:t>
            </a:r>
            <a:r>
              <a:rPr lang="pt-BR" sz="2400" dirty="0"/>
              <a:t> in “</a:t>
            </a:r>
            <a:r>
              <a:rPr lang="pt-BR" sz="2400" dirty="0" err="1"/>
              <a:t>intelligent</a:t>
            </a:r>
            <a:r>
              <a:rPr lang="pt-BR" sz="2400" dirty="0"/>
              <a:t>” </a:t>
            </a:r>
            <a:r>
              <a:rPr lang="pt-BR" sz="2400" dirty="0" err="1"/>
              <a:t>operations</a:t>
            </a:r>
            <a:r>
              <a:rPr lang="pt-BR" sz="2400" dirty="0"/>
              <a:t> like </a:t>
            </a:r>
            <a:r>
              <a:rPr lang="pt-BR" sz="2400" b="1" dirty="0" err="1"/>
              <a:t>deduction</a:t>
            </a:r>
            <a:r>
              <a:rPr lang="pt-BR" sz="2400" b="1" dirty="0"/>
              <a:t>, </a:t>
            </a:r>
            <a:r>
              <a:rPr lang="pt-BR" sz="2400" b="1" dirty="0" err="1"/>
              <a:t>induction</a:t>
            </a:r>
            <a:r>
              <a:rPr lang="pt-BR" sz="2400" b="1" dirty="0"/>
              <a:t> </a:t>
            </a:r>
            <a:r>
              <a:rPr lang="pt-BR" sz="2400" b="1" dirty="0" err="1"/>
              <a:t>and</a:t>
            </a:r>
            <a:r>
              <a:rPr lang="pt-BR" sz="2400" b="1" dirty="0"/>
              <a:t> </a:t>
            </a:r>
            <a:r>
              <a:rPr lang="pt-BR" sz="2400" b="1" dirty="0" err="1"/>
              <a:t>abduction</a:t>
            </a:r>
            <a:r>
              <a:rPr lang="pt-BR" sz="2400" dirty="0"/>
              <a:t> leads </a:t>
            </a:r>
            <a:r>
              <a:rPr lang="pt-BR" sz="2400" dirty="0" err="1"/>
              <a:t>us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certain</a:t>
            </a:r>
            <a:r>
              <a:rPr lang="pt-BR" sz="2400" dirty="0"/>
              <a:t> moral </a:t>
            </a:r>
            <a:r>
              <a:rPr lang="pt-BR" sz="2400" dirty="0" err="1"/>
              <a:t>motifs</a:t>
            </a:r>
            <a:r>
              <a:rPr lang="pt-BR" sz="2400" dirty="0"/>
              <a:t>: </a:t>
            </a:r>
            <a:r>
              <a:rPr lang="pt-BR" sz="2400" dirty="0" err="1"/>
              <a:t>delegation</a:t>
            </a:r>
            <a:r>
              <a:rPr lang="pt-BR" sz="2400" dirty="0"/>
              <a:t>, </a:t>
            </a:r>
            <a:r>
              <a:rPr lang="pt-BR" sz="2400" dirty="0" err="1"/>
              <a:t>prediction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</a:t>
            </a:r>
            <a:r>
              <a:rPr lang="pt-BR" sz="2400" dirty="0" err="1"/>
              <a:t>exploration</a:t>
            </a:r>
            <a:r>
              <a:rPr lang="pt-BR" sz="2400" dirty="0"/>
              <a:t>. </a:t>
            </a:r>
            <a:r>
              <a:rPr lang="pt-BR" sz="2400" dirty="0" err="1"/>
              <a:t>All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them</a:t>
            </a:r>
            <a:r>
              <a:rPr lang="pt-BR" sz="2400" dirty="0"/>
              <a:t> </a:t>
            </a:r>
            <a:r>
              <a:rPr lang="pt-BR" sz="2400" dirty="0" err="1"/>
              <a:t>can</a:t>
            </a:r>
            <a:r>
              <a:rPr lang="pt-BR" sz="2400" dirty="0"/>
              <a:t> </a:t>
            </a:r>
            <a:r>
              <a:rPr lang="pt-BR" sz="2400" dirty="0" err="1"/>
              <a:t>be</a:t>
            </a:r>
            <a:r>
              <a:rPr lang="pt-BR" sz="2400" dirty="0"/>
              <a:t> </a:t>
            </a:r>
            <a:r>
              <a:rPr lang="pt-BR" sz="2400" dirty="0" err="1"/>
              <a:t>good</a:t>
            </a:r>
            <a:r>
              <a:rPr lang="pt-BR" sz="2400" dirty="0"/>
              <a:t>, </a:t>
            </a:r>
            <a:r>
              <a:rPr lang="pt-BR" sz="2400" dirty="0" err="1"/>
              <a:t>but</a:t>
            </a:r>
            <a:r>
              <a:rPr lang="pt-BR" sz="2400" dirty="0"/>
              <a:t> </a:t>
            </a:r>
            <a:r>
              <a:rPr lang="pt-BR" sz="2400" dirty="0" err="1"/>
              <a:t>what</a:t>
            </a:r>
            <a:r>
              <a:rPr lang="pt-BR" sz="2400" dirty="0"/>
              <a:t> are </a:t>
            </a:r>
            <a:r>
              <a:rPr lang="pt-BR" sz="2400" dirty="0" err="1"/>
              <a:t>their</a:t>
            </a:r>
            <a:r>
              <a:rPr lang="pt-BR" sz="2400" dirty="0"/>
              <a:t> moral </a:t>
            </a:r>
            <a:r>
              <a:rPr lang="pt-BR" sz="2400" dirty="0" err="1"/>
              <a:t>limits</a:t>
            </a:r>
            <a:r>
              <a:rPr lang="pt-BR" sz="2400" dirty="0"/>
              <a:t>?</a:t>
            </a: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4B2EA5-0773-490D-6726-FA418955C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633980"/>
              </p:ext>
            </p:extLst>
          </p:nvPr>
        </p:nvGraphicFramePr>
        <p:xfrm>
          <a:off x="838199" y="2903419"/>
          <a:ext cx="10515601" cy="358945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29877">
                  <a:extLst>
                    <a:ext uri="{9D8B030D-6E8A-4147-A177-3AD203B41FA5}">
                      <a16:colId xmlns:a16="http://schemas.microsoft.com/office/drawing/2014/main" val="2402681817"/>
                    </a:ext>
                  </a:extLst>
                </a:gridCol>
                <a:gridCol w="1823613">
                  <a:extLst>
                    <a:ext uri="{9D8B030D-6E8A-4147-A177-3AD203B41FA5}">
                      <a16:colId xmlns:a16="http://schemas.microsoft.com/office/drawing/2014/main" val="1540259029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128406402"/>
                    </a:ext>
                  </a:extLst>
                </a:gridCol>
                <a:gridCol w="4982498">
                  <a:extLst>
                    <a:ext uri="{9D8B030D-6E8A-4147-A177-3AD203B41FA5}">
                      <a16:colId xmlns:a16="http://schemas.microsoft.com/office/drawing/2014/main" val="169563375"/>
                    </a:ext>
                  </a:extLst>
                </a:gridCol>
              </a:tblGrid>
              <a:tr h="7173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AI Phase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Requires an ethic of…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Moral Imaginaries / Motifs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53975" marB="53975"/>
                </a:tc>
                <a:extLst>
                  <a:ext uri="{0D108BD9-81ED-4DB2-BD59-A6C34878D82A}">
                    <a16:rowId xmlns:a16="http://schemas.microsoft.com/office/drawing/2014/main" val="3806946611"/>
                  </a:ext>
                </a:extLst>
              </a:tr>
              <a:tr h="9130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Symbolic</a:t>
                      </a: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(1950-1995)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Deduction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Delegation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Slavery, The Golem, The Iron Cage</a:t>
                      </a:r>
                    </a:p>
                  </a:txBody>
                  <a:tcPr marL="68580" marR="68580" marT="53975" marB="53975"/>
                </a:tc>
                <a:extLst>
                  <a:ext uri="{0D108BD9-81ED-4DB2-BD59-A6C34878D82A}">
                    <a16:rowId xmlns:a16="http://schemas.microsoft.com/office/drawing/2014/main" val="1160316686"/>
                  </a:ext>
                </a:extLst>
              </a:tr>
              <a:tr h="9130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Adaptive </a:t>
                      </a: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(1995-2020)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Induction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Prediction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Divination, Tragedy, The Panopticon</a:t>
                      </a:r>
                    </a:p>
                  </a:txBody>
                  <a:tcPr marL="68580" marR="68580" marT="53975" marB="53975"/>
                </a:tc>
                <a:extLst>
                  <a:ext uri="{0D108BD9-81ED-4DB2-BD59-A6C34878D82A}">
                    <a16:rowId xmlns:a16="http://schemas.microsoft.com/office/drawing/2014/main" val="2854708270"/>
                  </a:ext>
                </a:extLst>
              </a:tr>
              <a:tr h="971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Generative </a:t>
                      </a: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(2020-now)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Abduction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Exploration</a:t>
                      </a:r>
                    </a:p>
                  </a:txBody>
                  <a:tcPr marL="68580" marR="68580" marT="53975" marB="53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Acceleration, Psychedelics, Fragmentation</a:t>
                      </a:r>
                    </a:p>
                  </a:txBody>
                  <a:tcPr marL="68580" marR="68580" marT="53975" marB="53975"/>
                </a:tc>
                <a:extLst>
                  <a:ext uri="{0D108BD9-81ED-4DB2-BD59-A6C34878D82A}">
                    <a16:rowId xmlns:a16="http://schemas.microsoft.com/office/drawing/2014/main" val="3856608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1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297F-3BBF-5F5F-94DE-F8DFDEB7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delegation</a:t>
            </a:r>
            <a:r>
              <a:rPr lang="pt-BR" dirty="0"/>
              <a:t>: 1. </a:t>
            </a:r>
            <a:r>
              <a:rPr lang="pt-BR" dirty="0" err="1"/>
              <a:t>Slavery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F30F-3061-4325-B305-9D66E4EA8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6161" cy="4351338"/>
          </a:xfrm>
        </p:spPr>
        <p:txBody>
          <a:bodyPr/>
          <a:lstStyle/>
          <a:p>
            <a:r>
              <a:rPr lang="en-US" b="1" dirty="0"/>
              <a:t>“Alienation from life”: </a:t>
            </a:r>
            <a:r>
              <a:rPr lang="en-US" dirty="0"/>
              <a:t>delegation collapses agency and distances us from embodied engagement.</a:t>
            </a:r>
          </a:p>
          <a:p>
            <a:r>
              <a:rPr lang="en-US" b="1" dirty="0"/>
              <a:t>Marx / Illich: appropriation &amp; power </a:t>
            </a:r>
            <a:r>
              <a:rPr lang="en-US" dirty="0"/>
              <a:t>— heteronomy through technical systems.</a:t>
            </a:r>
          </a:p>
          <a:p>
            <a:r>
              <a:rPr lang="en-US" b="1" dirty="0"/>
              <a:t>Luther’s </a:t>
            </a:r>
            <a:r>
              <a:rPr lang="en-US" b="1" dirty="0" err="1"/>
              <a:t>incurvatus</a:t>
            </a:r>
            <a:r>
              <a:rPr lang="en-US" b="1" dirty="0"/>
              <a:t> in se </a:t>
            </a:r>
            <a:r>
              <a:rPr lang="en-US" dirty="0"/>
              <a:t>— self-curved inward, enslaved to appetite.</a:t>
            </a:r>
          </a:p>
          <a:p>
            <a:r>
              <a:rPr lang="en-US" b="1" dirty="0"/>
              <a:t>Rousseau’s Savage / Stiegler’s “Fault of Epimetheus” </a:t>
            </a:r>
            <a:r>
              <a:rPr lang="en-US" dirty="0"/>
              <a:t>— externalization as loss of essence.</a:t>
            </a:r>
          </a:p>
        </p:txBody>
      </p:sp>
      <p:pic>
        <p:nvPicPr>
          <p:cNvPr id="4" name="Picture 3" descr="The Humans of 'WALL-E' Were Probably Better Off Without Him - Jon Negroni">
            <a:extLst>
              <a:ext uri="{FF2B5EF4-FFF2-40B4-BE49-F238E27FC236}">
                <a16:creationId xmlns:a16="http://schemas.microsoft.com/office/drawing/2014/main" id="{4E7FD13D-32DB-C9DA-464C-D94A92DB96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90" r="32436"/>
          <a:stretch>
            <a:fillRect/>
          </a:stretch>
        </p:blipFill>
        <p:spPr>
          <a:xfrm>
            <a:off x="7717134" y="2102416"/>
            <a:ext cx="4063834" cy="315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5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3774-FD18-68B5-E1B9-D67A29C6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delegation</a:t>
            </a:r>
            <a:r>
              <a:rPr lang="pt-BR" dirty="0"/>
              <a:t>: 2. The </a:t>
            </a:r>
            <a:r>
              <a:rPr lang="pt-BR" dirty="0" err="1"/>
              <a:t>Golem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AF96-E0B7-535E-75FD-3BCCA07C6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1026" cy="4351338"/>
          </a:xfrm>
        </p:spPr>
        <p:txBody>
          <a:bodyPr/>
          <a:lstStyle/>
          <a:p>
            <a:r>
              <a:rPr lang="en-US" b="1" dirty="0"/>
              <a:t>The Golem from Prague </a:t>
            </a:r>
            <a:r>
              <a:rPr lang="en-US" dirty="0"/>
              <a:t>—</a:t>
            </a:r>
            <a:r>
              <a:rPr lang="en-US" b="1" dirty="0"/>
              <a:t> </a:t>
            </a:r>
            <a:r>
              <a:rPr lang="en-US" dirty="0"/>
              <a:t>Mechanized obedience scaling beyond intention.</a:t>
            </a:r>
          </a:p>
          <a:p>
            <a:pPr lvl="0"/>
            <a:r>
              <a:rPr lang="en-US" b="1" dirty="0"/>
              <a:t>Talos</a:t>
            </a:r>
            <a:r>
              <a:rPr lang="en-US" dirty="0"/>
              <a:t> — blind automatic execution.</a:t>
            </a:r>
          </a:p>
          <a:p>
            <a:pPr lvl="0"/>
            <a:r>
              <a:rPr lang="en-US" b="1" dirty="0"/>
              <a:t>The Sorcerer’s Apprentice</a:t>
            </a:r>
            <a:r>
              <a:rPr lang="en-US" dirty="0"/>
              <a:t> — outsourcing maturity → chaos.</a:t>
            </a:r>
          </a:p>
          <a:p>
            <a:pPr lvl="0"/>
            <a:r>
              <a:rPr lang="en-US" b="1" dirty="0"/>
              <a:t>Frankenstein’s Creature</a:t>
            </a:r>
            <a:r>
              <a:rPr lang="en-US" dirty="0"/>
              <a:t> — creation surpassing intention without social embedding.</a:t>
            </a:r>
          </a:p>
        </p:txBody>
      </p:sp>
      <p:pic>
        <p:nvPicPr>
          <p:cNvPr id="4" name="Picture 3" descr="When you just can't get enough Disney">
            <a:extLst>
              <a:ext uri="{FF2B5EF4-FFF2-40B4-BE49-F238E27FC236}">
                <a16:creationId xmlns:a16="http://schemas.microsoft.com/office/drawing/2014/main" id="{09294DFB-511D-BFF1-8ADA-5D1E233EE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6" y="2323306"/>
            <a:ext cx="4463612" cy="335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5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88A6-EFF7-E7D4-A870-43DA6F7B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delegation</a:t>
            </a:r>
            <a:r>
              <a:rPr lang="pt-BR" dirty="0"/>
              <a:t>: 3. The Iron Cage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F6D97-F6A7-B07D-4F1A-297226FD3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0187" cy="4351338"/>
          </a:xfrm>
        </p:spPr>
        <p:txBody>
          <a:bodyPr/>
          <a:lstStyle/>
          <a:p>
            <a:r>
              <a:rPr lang="en-US" dirty="0"/>
              <a:t>The temptation to reduce wisdom to explicit procedures.</a:t>
            </a:r>
          </a:p>
          <a:p>
            <a:r>
              <a:rPr lang="en-US" b="1" dirty="0"/>
              <a:t>Weber’s Iron Cage / Kafka</a:t>
            </a:r>
            <a:r>
              <a:rPr lang="en-US" dirty="0"/>
              <a:t> — bureaucratic rationalization displaces meaning.</a:t>
            </a:r>
          </a:p>
          <a:p>
            <a:pPr lvl="0"/>
            <a:r>
              <a:rPr lang="en-US" b="1" dirty="0"/>
              <a:t>“Legalism</a:t>
            </a:r>
            <a:r>
              <a:rPr lang="en-US" dirty="0"/>
              <a:t> “— mistaking rule-keeping for righteousness; law replaces mercy.</a:t>
            </a:r>
          </a:p>
          <a:p>
            <a:pPr lvl="0"/>
            <a:r>
              <a:rPr lang="en-US" b="1" dirty="0"/>
              <a:t>Plato’s Republic</a:t>
            </a:r>
            <a:r>
              <a:rPr lang="en-US" dirty="0"/>
              <a:t> — totalizing rational schemes for social order.</a:t>
            </a:r>
          </a:p>
        </p:txBody>
      </p:sp>
      <p:pic>
        <p:nvPicPr>
          <p:cNvPr id="5" name="Picture 4" descr="I use this diagram a lot at work as a software developer : r/ProgrammerHumor">
            <a:extLst>
              <a:ext uri="{FF2B5EF4-FFF2-40B4-BE49-F238E27FC236}">
                <a16:creationId xmlns:a16="http://schemas.microsoft.com/office/drawing/2014/main" id="{725A4F7C-72CA-8528-60B7-2237AA58B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10" y="1506793"/>
            <a:ext cx="3740290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5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E422-D269-2F59-2B1F-5808F037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prediction</a:t>
            </a:r>
            <a:r>
              <a:rPr lang="pt-BR" dirty="0"/>
              <a:t>: 1. </a:t>
            </a:r>
            <a:r>
              <a:rPr lang="pt-BR" dirty="0" err="1"/>
              <a:t>Divination</a:t>
            </a:r>
            <a:r>
              <a:rPr lang="pt-BR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92CC-4205-ADBF-8C0F-390F41DB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4613" cy="4351338"/>
          </a:xfrm>
        </p:spPr>
        <p:txBody>
          <a:bodyPr/>
          <a:lstStyle/>
          <a:p>
            <a:pPr lvl="0"/>
            <a:r>
              <a:rPr lang="en-US" b="1" dirty="0"/>
              <a:t>Augury / Omens</a:t>
            </a:r>
            <a:r>
              <a:rPr lang="en-US" dirty="0"/>
              <a:t> — should we?</a:t>
            </a:r>
          </a:p>
          <a:p>
            <a:pPr lvl="0"/>
            <a:r>
              <a:rPr lang="en-US" b="1" dirty="0"/>
              <a:t>False Prophets</a:t>
            </a:r>
            <a:r>
              <a:rPr lang="en-US" dirty="0"/>
              <a:t> — saying what people want, not what is true.</a:t>
            </a:r>
          </a:p>
          <a:p>
            <a:r>
              <a:rPr lang="en-US" b="1" dirty="0"/>
              <a:t>Cassandra</a:t>
            </a:r>
            <a:r>
              <a:rPr lang="en-US" dirty="0"/>
              <a:t> — anomalies dismissed because they challenge precedent.</a:t>
            </a:r>
          </a:p>
          <a:p>
            <a:r>
              <a:rPr lang="en-US" b="1" dirty="0"/>
              <a:t>Apophenia</a:t>
            </a:r>
            <a:r>
              <a:rPr lang="en-US" dirty="0"/>
              <a:t> — seeing patterns where there are none.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993E8-1C53-63D5-B731-5675AE50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074" y="4604030"/>
            <a:ext cx="5097864" cy="2035988"/>
          </a:xfrm>
          <a:prstGeom prst="rect">
            <a:avLst/>
          </a:prstGeom>
        </p:spPr>
      </p:pic>
      <p:pic>
        <p:nvPicPr>
          <p:cNvPr id="8" name="Picture 7" descr="What Does It Mean If You Have Apophenia?">
            <a:extLst>
              <a:ext uri="{FF2B5EF4-FFF2-40B4-BE49-F238E27FC236}">
                <a16:creationId xmlns:a16="http://schemas.microsoft.com/office/drawing/2014/main" id="{E1ACEAC2-AB1B-CC6A-7149-45E478012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762" y="1404201"/>
            <a:ext cx="4740487" cy="319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25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0502-FD3B-5DDC-8235-A4248ADB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prediction</a:t>
            </a:r>
            <a:r>
              <a:rPr lang="pt-BR" dirty="0"/>
              <a:t>: 2. </a:t>
            </a:r>
            <a:r>
              <a:rPr lang="pt-BR" dirty="0" err="1"/>
              <a:t>Tragedy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C4B8-9A87-8777-B397-12DF687C3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9013" cy="4351338"/>
          </a:xfrm>
        </p:spPr>
        <p:txBody>
          <a:bodyPr/>
          <a:lstStyle/>
          <a:p>
            <a:r>
              <a:rPr lang="en-US" b="1" dirty="0"/>
              <a:t>Past Patterns become Destiny </a:t>
            </a:r>
            <a:r>
              <a:rPr lang="en-US" dirty="0"/>
              <a:t>— what was becomes what must be, future colonized by statistical precedent.</a:t>
            </a:r>
          </a:p>
          <a:p>
            <a:r>
              <a:rPr lang="en-US" b="1" dirty="0"/>
              <a:t>Oedipus</a:t>
            </a:r>
            <a:r>
              <a:rPr lang="en-US" dirty="0"/>
              <a:t> — attempts to escape reinforce the pattern.</a:t>
            </a:r>
          </a:p>
          <a:p>
            <a:r>
              <a:rPr lang="en-US" b="1" dirty="0"/>
              <a:t>Self-fulfilling prophecies, Pygmalion effect</a:t>
            </a:r>
            <a:endParaRPr lang="en-US" dirty="0"/>
          </a:p>
          <a:p>
            <a:r>
              <a:rPr lang="en-US" b="1" dirty="0"/>
              <a:t>Great Chain of Being </a:t>
            </a:r>
            <a:r>
              <a:rPr lang="en-US" dirty="0"/>
              <a:t>— hierarchy fossilized as “natural.”</a:t>
            </a:r>
          </a:p>
        </p:txBody>
      </p:sp>
      <p:pic>
        <p:nvPicPr>
          <p:cNvPr id="5" name="Picture 4" descr="Frank Herbert's &quot;Dune&quot; - by Elliot - Lone Peak Book Club">
            <a:extLst>
              <a:ext uri="{FF2B5EF4-FFF2-40B4-BE49-F238E27FC236}">
                <a16:creationId xmlns:a16="http://schemas.microsoft.com/office/drawing/2014/main" id="{D441C485-CED2-E7A5-69FE-14323C18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783" y="1345608"/>
            <a:ext cx="3338768" cy="514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17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CC9D-744F-A353-18E3-062041F2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prediction</a:t>
            </a:r>
            <a:r>
              <a:rPr lang="pt-BR" dirty="0"/>
              <a:t>: 3. The </a:t>
            </a:r>
            <a:r>
              <a:rPr lang="pt-BR" dirty="0" err="1"/>
              <a:t>Panopticon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0B573-A072-B019-1623-67E1C425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54213" cy="4351338"/>
          </a:xfrm>
        </p:spPr>
        <p:txBody>
          <a:bodyPr/>
          <a:lstStyle/>
          <a:p>
            <a:r>
              <a:rPr lang="en-US" dirty="0"/>
              <a:t>Everything must be seen, tracked, and made legible (James C. Scott).</a:t>
            </a:r>
          </a:p>
          <a:p>
            <a:r>
              <a:rPr lang="en-US" b="1" dirty="0"/>
              <a:t>Laplace’s Demon </a:t>
            </a:r>
            <a:r>
              <a:rPr lang="en-US" dirty="0"/>
              <a:t>– control through total visibility.</a:t>
            </a:r>
          </a:p>
          <a:p>
            <a:r>
              <a:rPr lang="en-US" b="1" dirty="0"/>
              <a:t>Eye of Horus </a:t>
            </a:r>
            <a:r>
              <a:rPr lang="en-US" dirty="0"/>
              <a:t>— cosmic order through visibility.</a:t>
            </a:r>
          </a:p>
          <a:p>
            <a:r>
              <a:rPr lang="en-US" b="1" dirty="0"/>
              <a:t>Big Brother </a:t>
            </a:r>
            <a:r>
              <a:rPr lang="en-US" dirty="0"/>
              <a:t>— </a:t>
            </a:r>
            <a:r>
              <a:rPr lang="en-US" dirty="0" err="1"/>
              <a:t>datafied</a:t>
            </a:r>
            <a:r>
              <a:rPr lang="en-US" dirty="0"/>
              <a:t> society as total knowledge.</a:t>
            </a:r>
          </a:p>
        </p:txBody>
      </p:sp>
      <p:pic>
        <p:nvPicPr>
          <p:cNvPr id="4" name="Picture 3" descr="ICE and the Smartphone Panopticon | The New Yorker">
            <a:extLst>
              <a:ext uri="{FF2B5EF4-FFF2-40B4-BE49-F238E27FC236}">
                <a16:creationId xmlns:a16="http://schemas.microsoft.com/office/drawing/2014/main" id="{4B2A6FEB-5DEB-6317-F7DB-15E2F865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242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2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0098-8D96-4CF6-50C3-10D05E52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exploration</a:t>
            </a:r>
            <a:r>
              <a:rPr lang="pt-BR" dirty="0"/>
              <a:t>: 1. </a:t>
            </a:r>
            <a:r>
              <a:rPr lang="pt-BR" dirty="0" err="1"/>
              <a:t>Acceleration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4E79F-7B2D-100C-7068-C3B49CD94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3271" cy="4351338"/>
          </a:xfrm>
        </p:spPr>
        <p:txBody>
          <a:bodyPr/>
          <a:lstStyle/>
          <a:p>
            <a:r>
              <a:rPr lang="en-US" b="1" dirty="0"/>
              <a:t>Brute-Force Search and Combinatorial Overflow </a:t>
            </a:r>
            <a:r>
              <a:rPr lang="en-US" dirty="0"/>
              <a:t>— Collective creation expands into immense possibility spaces.</a:t>
            </a:r>
          </a:p>
          <a:p>
            <a:r>
              <a:rPr lang="en-US" b="1" dirty="0"/>
              <a:t>Gilgamesh’s Quest </a:t>
            </a:r>
            <a:r>
              <a:rPr lang="en-US" dirty="0"/>
              <a:t>— exhaustive searching for what cannot be grasped.</a:t>
            </a:r>
          </a:p>
          <a:p>
            <a:r>
              <a:rPr lang="en-US" b="1" dirty="0"/>
              <a:t>Scheherazade’s 1001 Nights </a:t>
            </a:r>
            <a:r>
              <a:rPr lang="en-US" dirty="0"/>
              <a:t>— generative iteration that proliferates without end.</a:t>
            </a:r>
          </a:p>
        </p:txBody>
      </p:sp>
      <p:pic>
        <p:nvPicPr>
          <p:cNvPr id="5" name="Content Placeholder 4" descr="A video game screen with a pixelated map&#10;&#10;AI-generated content may be incorrect.">
            <a:extLst>
              <a:ext uri="{FF2B5EF4-FFF2-40B4-BE49-F238E27FC236}">
                <a16:creationId xmlns:a16="http://schemas.microsoft.com/office/drawing/2014/main" id="{F2C6C746-B316-876A-BECE-9214FC037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470" y="2536193"/>
            <a:ext cx="5209246" cy="293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4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0DC2-A104-940D-C795-12F746C5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exploration</a:t>
            </a:r>
            <a:r>
              <a:rPr lang="pt-BR" dirty="0"/>
              <a:t>: 2. </a:t>
            </a:r>
            <a:r>
              <a:rPr lang="pt-BR" dirty="0" err="1"/>
              <a:t>Psychedelics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596F1-926B-004A-7F55-931B22B10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Perception untethered from reality, simulation as experience.</a:t>
            </a:r>
          </a:p>
          <a:p>
            <a:pPr lvl="0"/>
            <a:r>
              <a:rPr lang="en-US" b="1" dirty="0"/>
              <a:t>Plato’s Cave</a:t>
            </a:r>
            <a:r>
              <a:rPr lang="en-US" dirty="0"/>
              <a:t> – mistaking representations for reality.</a:t>
            </a:r>
          </a:p>
          <a:p>
            <a:pPr lvl="0"/>
            <a:r>
              <a:rPr lang="en-US" b="1" dirty="0"/>
              <a:t>Zhuangzi’s Butterfly Dream</a:t>
            </a:r>
            <a:r>
              <a:rPr lang="en-US" dirty="0"/>
              <a:t> – unstable identity and simulation.</a:t>
            </a:r>
          </a:p>
          <a:p>
            <a:r>
              <a:rPr lang="en-US" b="1" dirty="0"/>
              <a:t>Galadriel’s Mirror</a:t>
            </a:r>
            <a:r>
              <a:rPr lang="en-US" dirty="0"/>
              <a:t> – seeing possible worlds.</a:t>
            </a:r>
          </a:p>
        </p:txBody>
      </p:sp>
      <p:pic>
        <p:nvPicPr>
          <p:cNvPr id="4" name="Picture 3" descr="Matrix gif | EMCEE">
            <a:extLst>
              <a:ext uri="{FF2B5EF4-FFF2-40B4-BE49-F238E27FC236}">
                <a16:creationId xmlns:a16="http://schemas.microsoft.com/office/drawing/2014/main" id="{265B45A1-55F2-E9A3-1BCA-62319CECAE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38" r="28409"/>
          <a:stretch>
            <a:fillRect/>
          </a:stretch>
        </p:blipFill>
        <p:spPr>
          <a:xfrm>
            <a:off x="6645093" y="2228747"/>
            <a:ext cx="4819320" cy="321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5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85BA-2369-5940-F0A5-9FBF8E24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Ethics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exploration</a:t>
            </a:r>
            <a:r>
              <a:rPr lang="pt-BR" dirty="0"/>
              <a:t>: 3. </a:t>
            </a:r>
            <a:r>
              <a:rPr lang="pt-BR" dirty="0" err="1"/>
              <a:t>Fragmentation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9063F-2823-5DE3-A0CD-A4072C2A1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3310" cy="4351338"/>
          </a:xfrm>
        </p:spPr>
        <p:txBody>
          <a:bodyPr/>
          <a:lstStyle/>
          <a:p>
            <a:pPr lvl="0"/>
            <a:r>
              <a:rPr lang="en-US" dirty="0"/>
              <a:t>Local sense, global chaos; attention dilution.</a:t>
            </a:r>
          </a:p>
          <a:p>
            <a:r>
              <a:rPr lang="en-US" dirty="0"/>
              <a:t>Possibility explodes outward while interiority thins. “Anything goes”, “nothing really matters”</a:t>
            </a:r>
          </a:p>
          <a:p>
            <a:pPr lvl="0"/>
            <a:r>
              <a:rPr lang="en-US" b="1" dirty="0"/>
              <a:t>Chimera</a:t>
            </a:r>
            <a:r>
              <a:rPr lang="en-US" dirty="0"/>
              <a:t> — confusing categories and boundary crossing (by mere possibility).</a:t>
            </a:r>
          </a:p>
          <a:p>
            <a:r>
              <a:rPr lang="en-US" b="1" dirty="0"/>
              <a:t>Total gamification</a:t>
            </a:r>
            <a:r>
              <a:rPr lang="en-US" dirty="0"/>
              <a:t> — life reduced to reward functions and prompts.</a:t>
            </a:r>
          </a:p>
        </p:txBody>
      </p:sp>
      <p:pic>
        <p:nvPicPr>
          <p:cNvPr id="4" name="Picture 3" descr="I asked AI to generate the most ridiculous image ever and these were some  of the results. 🤣🤣🤣">
            <a:extLst>
              <a:ext uri="{FF2B5EF4-FFF2-40B4-BE49-F238E27FC236}">
                <a16:creationId xmlns:a16="http://schemas.microsoft.com/office/drawing/2014/main" id="{F2F332CA-A18E-2224-EEA0-8722D8DD3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124" y="1825625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49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695E-E7DC-D90A-F712-EBD7F38A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 </a:t>
            </a:r>
            <a:r>
              <a:rPr lang="pt-BR" dirty="0" err="1"/>
              <a:t>know</a:t>
            </a:r>
            <a:r>
              <a:rPr lang="pt-BR" dirty="0"/>
              <a:t>, I </a:t>
            </a:r>
            <a:r>
              <a:rPr lang="pt-BR" dirty="0" err="1"/>
              <a:t>know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ADD51-4E1B-D822-B1FC-637AD3C35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9452" cy="4351338"/>
          </a:xfrm>
        </p:spPr>
        <p:txBody>
          <a:bodyPr>
            <a:normAutofit/>
          </a:bodyPr>
          <a:lstStyle/>
          <a:p>
            <a:r>
              <a:rPr lang="pt-BR" sz="3200" dirty="0" err="1"/>
              <a:t>This</a:t>
            </a:r>
            <a:r>
              <a:rPr lang="pt-BR" sz="3200" dirty="0"/>
              <a:t> </a:t>
            </a:r>
            <a:r>
              <a:rPr lang="pt-BR" sz="3200" dirty="0" err="1"/>
              <a:t>is</a:t>
            </a:r>
            <a:r>
              <a:rPr lang="pt-BR" sz="3200" dirty="0"/>
              <a:t> </a:t>
            </a:r>
            <a:r>
              <a:rPr lang="pt-BR" sz="3200" dirty="0" err="1"/>
              <a:t>not</a:t>
            </a:r>
            <a:r>
              <a:rPr lang="pt-BR" sz="3200" dirty="0"/>
              <a:t> </a:t>
            </a:r>
            <a:r>
              <a:rPr lang="pt-BR" sz="3200" dirty="0" err="1"/>
              <a:t>exhaustive</a:t>
            </a:r>
            <a:endParaRPr lang="pt-BR" sz="3200" dirty="0"/>
          </a:p>
          <a:p>
            <a:r>
              <a:rPr lang="pt-BR" sz="3200" dirty="0" err="1"/>
              <a:t>Analytically</a:t>
            </a:r>
            <a:r>
              <a:rPr lang="pt-BR" sz="3200" dirty="0"/>
              <a:t> </a:t>
            </a:r>
            <a:r>
              <a:rPr lang="pt-BR" sz="3200" dirty="0" err="1"/>
              <a:t>imperfect</a:t>
            </a:r>
            <a:r>
              <a:rPr lang="pt-BR" sz="3200" dirty="0"/>
              <a:t> – </a:t>
            </a:r>
            <a:r>
              <a:rPr lang="pt-BR" sz="3200" dirty="0" err="1"/>
              <a:t>categories</a:t>
            </a:r>
            <a:r>
              <a:rPr lang="pt-BR" sz="3200" dirty="0"/>
              <a:t> </a:t>
            </a:r>
            <a:r>
              <a:rPr lang="pt-BR" sz="3200" dirty="0" err="1"/>
              <a:t>intermingle</a:t>
            </a:r>
            <a:r>
              <a:rPr lang="pt-BR" sz="3200" dirty="0"/>
              <a:t>, </a:t>
            </a:r>
            <a:r>
              <a:rPr lang="pt-BR" sz="3200" dirty="0" err="1"/>
              <a:t>maybe</a:t>
            </a:r>
            <a:r>
              <a:rPr lang="pt-BR" sz="3200" dirty="0"/>
              <a:t> </a:t>
            </a:r>
            <a:r>
              <a:rPr lang="pt-BR" sz="3200" dirty="0" err="1"/>
              <a:t>there</a:t>
            </a:r>
            <a:r>
              <a:rPr lang="pt-BR" sz="3200" dirty="0"/>
              <a:t> are more, some </a:t>
            </a:r>
            <a:r>
              <a:rPr lang="pt-BR" sz="3200" dirty="0" err="1"/>
              <a:t>other</a:t>
            </a:r>
            <a:r>
              <a:rPr lang="pt-BR" sz="3200" dirty="0"/>
              <a:t> nuances...</a:t>
            </a:r>
          </a:p>
          <a:p>
            <a:r>
              <a:rPr lang="pt-BR" sz="3200" dirty="0" err="1"/>
              <a:t>Yet</a:t>
            </a:r>
            <a:r>
              <a:rPr lang="pt-BR" sz="3200" dirty="0"/>
              <a:t>, </a:t>
            </a:r>
            <a:r>
              <a:rPr lang="pt-BR" sz="3200" dirty="0" err="1"/>
              <a:t>maybe</a:t>
            </a:r>
            <a:r>
              <a:rPr lang="pt-BR" sz="3200" dirty="0"/>
              <a:t> it </a:t>
            </a:r>
            <a:r>
              <a:rPr lang="pt-BR" sz="3200" dirty="0" err="1"/>
              <a:t>is</a:t>
            </a:r>
            <a:r>
              <a:rPr lang="pt-BR" sz="3200" dirty="0"/>
              <a:t> a start.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0824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4AC7-3976-840F-4B95-8CC76137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Virtues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counter-practices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4494C-995D-8F46-6195-1E1AFD306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Love</a:t>
            </a:r>
            <a:r>
              <a:rPr lang="en-US" dirty="0"/>
              <a:t> </a:t>
            </a:r>
            <a:r>
              <a:rPr lang="en-US" b="1" dirty="0"/>
              <a:t>addresses delegation </a:t>
            </a:r>
            <a:r>
              <a:rPr lang="en-US" dirty="0"/>
              <a:t>with care and engagement - returning the person to the body, the world, and the community.</a:t>
            </a:r>
          </a:p>
          <a:p>
            <a:pPr lvl="1"/>
            <a:r>
              <a:rPr lang="en-US" dirty="0"/>
              <a:t>Exodus motif, Drums of freedom (African diaspora), Hartmut Rosa’s resonance, Albert Borgmann focal things and practices</a:t>
            </a:r>
          </a:p>
          <a:p>
            <a:pPr lvl="0"/>
            <a:r>
              <a:rPr lang="en-US" b="1" dirty="0"/>
              <a:t>Faith</a:t>
            </a:r>
            <a:r>
              <a:rPr lang="en-US" dirty="0"/>
              <a:t> </a:t>
            </a:r>
            <a:r>
              <a:rPr lang="en-US" b="1" dirty="0"/>
              <a:t>addresses prediction</a:t>
            </a:r>
            <a:r>
              <a:rPr lang="en-US" dirty="0"/>
              <a:t> by restoring surprise, interruption, promise, and newness.</a:t>
            </a:r>
          </a:p>
          <a:p>
            <a:pPr lvl="1"/>
            <a:r>
              <a:rPr lang="en-US" dirty="0"/>
              <a:t>Annunciation/Nativity (Arendt), Antifragility (Taleb), Paul </a:t>
            </a:r>
            <a:r>
              <a:rPr lang="en-US" dirty="0" err="1"/>
              <a:t>Ricoeur’s</a:t>
            </a:r>
            <a:r>
              <a:rPr lang="en-US" dirty="0"/>
              <a:t> surplus of meaning.</a:t>
            </a:r>
          </a:p>
          <a:p>
            <a:pPr lvl="0"/>
            <a:r>
              <a:rPr lang="en-US" b="1" dirty="0"/>
              <a:t>Hope</a:t>
            </a:r>
            <a:r>
              <a:rPr lang="en-US" dirty="0"/>
              <a:t> </a:t>
            </a:r>
            <a:r>
              <a:rPr lang="en-US" b="1" dirty="0"/>
              <a:t>addresses exploration </a:t>
            </a:r>
            <a:r>
              <a:rPr lang="en-US" dirty="0"/>
              <a:t>by restoring proper scale, gift and rest</a:t>
            </a:r>
          </a:p>
          <a:p>
            <a:pPr lvl="1"/>
            <a:r>
              <a:rPr lang="en-US" dirty="0"/>
              <a:t>Sabbath, manna in the wilderness, Babette’s Feast, Josef Pieper’s leisure, Heidegger’s </a:t>
            </a:r>
            <a:r>
              <a:rPr lang="en-US" dirty="0" err="1"/>
              <a:t>Gelassenheit</a:t>
            </a:r>
            <a:r>
              <a:rPr lang="en-US" dirty="0"/>
              <a:t>, Ellul’s non-power</a:t>
            </a:r>
          </a:p>
        </p:txBody>
      </p:sp>
    </p:spTree>
    <p:extLst>
      <p:ext uri="{BB962C8B-B14F-4D97-AF65-F5344CB8AC3E}">
        <p14:creationId xmlns:p14="http://schemas.microsoft.com/office/powerpoint/2010/main" val="3624367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D416-B909-4872-17DC-680A4618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Some </a:t>
            </a:r>
            <a:r>
              <a:rPr lang="pt-BR" dirty="0" err="1"/>
              <a:t>experiences</a:t>
            </a:r>
            <a:r>
              <a:rPr lang="pt-BR" dirty="0"/>
              <a:t> in </a:t>
            </a:r>
            <a:r>
              <a:rPr lang="pt-BR" dirty="0" err="1"/>
              <a:t>teaching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E5C49-5AEA-B857-6A27-598078D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https://inteligenciaartificial.cristaosnaciencia.org.br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C60F2-F5CF-6859-6AE2-8163C07F5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3" y="2487096"/>
            <a:ext cx="5899354" cy="382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27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CE8E-7994-57D2-2B4F-CA1286D8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0"/>
            <a:ext cx="10515600" cy="1325563"/>
          </a:xfrm>
        </p:spPr>
        <p:txBody>
          <a:bodyPr/>
          <a:lstStyle/>
          <a:p>
            <a:r>
              <a:rPr lang="pt-BR" dirty="0" err="1"/>
              <a:t>Using</a:t>
            </a:r>
            <a:r>
              <a:rPr lang="pt-BR" dirty="0"/>
              <a:t> media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283962"/>
              </p:ext>
            </p:extLst>
          </p:nvPr>
        </p:nvGraphicFramePr>
        <p:xfrm>
          <a:off x="385916" y="1189703"/>
          <a:ext cx="11420168" cy="544706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64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3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639">
                <a:tc>
                  <a:txBody>
                    <a:bodyPr/>
                    <a:lstStyle/>
                    <a:p>
                      <a:r>
                        <a:rPr sz="1800" b="1"/>
                        <a:t>Ethic of…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Motif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Films, series, fiction, games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714">
                <a:tc rowSpan="3">
                  <a:txBody>
                    <a:bodyPr/>
                    <a:lstStyle/>
                    <a:p>
                      <a:r>
                        <a:rPr sz="1800" b="1"/>
                        <a:t>Delegation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Slavery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WALL-E (2008); E. M. Forster, “The Machine Stops” (short story, 1909)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7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The Golem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Fantasia, “The Sorcerer’s Apprentice” (1940); Shelley, Frankenstein (1818); Universal Paperclips (browser game, 2017)</a:t>
                      </a:r>
                      <a:r>
                        <a:rPr lang="pt-BR" sz="1600" b="0" dirty="0"/>
                        <a:t>; Black </a:t>
                      </a:r>
                      <a:r>
                        <a:rPr lang="pt-BR" sz="1600" b="0" dirty="0" err="1"/>
                        <a:t>Mirror</a:t>
                      </a:r>
                      <a:r>
                        <a:rPr lang="pt-BR" sz="1600" b="0" dirty="0"/>
                        <a:t> “</a:t>
                      </a:r>
                      <a:r>
                        <a:rPr lang="pt-BR" sz="1600" b="0" dirty="0" err="1"/>
                        <a:t>Thronglets</a:t>
                      </a:r>
                      <a:r>
                        <a:rPr lang="pt-BR" sz="1600" b="0" dirty="0"/>
                        <a:t>” (mobile game)</a:t>
                      </a:r>
                      <a:endParaRPr sz="1600" b="0" dirty="0"/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7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The Iron Cage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Severance (TV, 2022–); Brazil (Gilliam, 1985); Papers, Please (game, 2013); I, Daniel Blake (2016)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714">
                <a:tc rowSpan="3">
                  <a:txBody>
                    <a:bodyPr/>
                    <a:lstStyle/>
                    <a:p>
                      <a:r>
                        <a:rPr sz="1800" b="1"/>
                        <a:t>Prediction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Divination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Minority Report (2002); Asimov, Foundation (novels / TV); Don’t Look Up (2021)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7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Tragedy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Dune (novel/movie); Gattaca (1997); Westworld, season 3 – the Rehoboam system (2020)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7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The Panopticon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Eggers, The Circle (novel 2013 / film 2017); Person of Interest (TV, 2011–16); Coded Bias (documentary, 2020)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714">
                <a:tc rowSpan="3">
                  <a:txBody>
                    <a:bodyPr/>
                    <a:lstStyle/>
                    <a:p>
                      <a:r>
                        <a:rPr sz="1800" b="1"/>
                        <a:t>Exploration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Acceleration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Edge of Tomorrow (2014) – learning by endless retries; Borges, “The Library of Babel” (1941)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67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Psychedelics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The Matrix (1999); Her (2013); Blade Runner 2049 (2017) – Joi, the simulated companion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67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Fragmentation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Everything Everywhere All at Once (2022); Bo Burnham: Inside (2021); Black Mirror, “Nosedive” (2016)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863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ACA5-8F46-314F-B4B9-5055A1A8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4" y="0"/>
            <a:ext cx="10515600" cy="1325563"/>
          </a:xfrm>
        </p:spPr>
        <p:txBody>
          <a:bodyPr/>
          <a:lstStyle/>
          <a:p>
            <a:r>
              <a:rPr lang="pt-BR" dirty="0"/>
              <a:t>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technical</a:t>
            </a:r>
            <a:r>
              <a:rPr lang="pt-BR" dirty="0"/>
              <a:t> curriculum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572724"/>
              </p:ext>
            </p:extLst>
          </p:nvPr>
        </p:nvGraphicFramePr>
        <p:xfrm>
          <a:off x="346586" y="1147571"/>
          <a:ext cx="11597149" cy="545970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4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1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652">
                <a:tc>
                  <a:txBody>
                    <a:bodyPr/>
                    <a:lstStyle/>
                    <a:p>
                      <a:r>
                        <a:rPr sz="1800" b="1"/>
                        <a:t>Ethic of…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Motif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Where it can surface in CS courses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6">
                <a:tc rowSpan="3">
                  <a:txBody>
                    <a:bodyPr/>
                    <a:lstStyle/>
                    <a:p>
                      <a:r>
                        <a:rPr sz="1800" b="1"/>
                        <a:t>Delegation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Slavery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Functions &amp; abstraction (“what exactly are we handing off?”); scripting/automation labs; HCI – levels of automation, deskilling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The Golem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Recursion without a base case, runaway loops; tests vs. intent (the spec is not the wish); reward hacking / specification gaming in ML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The Iron Cage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If-else constructs as bureaucracies; rule-based expert systems; finite-state machines and form validation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6">
                <a:tc rowSpan="3">
                  <a:txBody>
                    <a:bodyPr/>
                    <a:lstStyle/>
                    <a:p>
                      <a:r>
                        <a:rPr sz="1800" b="1"/>
                        <a:t>Prediction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Divination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Regression &amp; overfitting, train/test split; spurious correlations and p-hacking (apophenia); model calibration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Tragedy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Clustering algorithms; classifiers trained on historical labels; feedback loops in recommenders and predictive policing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The Panopticon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Database design (a schema decides what becomes legible); logging &amp; telemetry, cookies and web tracking; privacy &amp; security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006">
                <a:tc rowSpan="3">
                  <a:txBody>
                    <a:bodyPr/>
                    <a:lstStyle/>
                    <a:p>
                      <a:r>
                        <a:rPr sz="1800" b="1"/>
                        <a:t>Exploration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Acceleration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Loops (for/while); reinforcement learning; search &amp; combinatorial explosion (Big-O, backtracking); GPUs &amp; parallelism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Psychedelics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Computer graphics; simulation &amp; procedural generation; sampling, temperature and “hallucination” in LLMs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8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Fragmentation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Embeddings &amp; latent-space interpolation (chimeras); event-driven code &amp; notifications (attention)</a:t>
                      </a:r>
                    </a:p>
                  </a:txBody>
                  <a:tcPr marL="64008" marR="6400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586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0CCA-AC01-6425-6764-CB0CC00E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Great</a:t>
            </a:r>
            <a:r>
              <a:rPr lang="pt-BR" dirty="0"/>
              <a:t> “</a:t>
            </a:r>
            <a:r>
              <a:rPr lang="pt-BR" dirty="0" err="1"/>
              <a:t>integrative</a:t>
            </a:r>
            <a:r>
              <a:rPr lang="pt-BR" dirty="0"/>
              <a:t>” </a:t>
            </a:r>
            <a:r>
              <a:rPr lang="pt-BR" dirty="0" err="1"/>
              <a:t>reads</a:t>
            </a:r>
            <a:endParaRPr lang="en-US" dirty="0"/>
          </a:p>
        </p:txBody>
      </p:sp>
      <p:pic>
        <p:nvPicPr>
          <p:cNvPr id="8" name="Content Placeholder 7" descr="Ethical Programs: Hospitality and the Rhetorics of Software by James J ...">
            <a:extLst>
              <a:ext uri="{FF2B5EF4-FFF2-40B4-BE49-F238E27FC236}">
                <a16:creationId xmlns:a16="http://schemas.microsoft.com/office/drawing/2014/main" id="{31C3762A-7B9E-1D7E-6918-88C5C6297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8658" y="1690688"/>
            <a:ext cx="3206323" cy="4807081"/>
          </a:xfrm>
          <a:prstGeom prst="rect">
            <a:avLst/>
          </a:prstGeom>
        </p:spPr>
      </p:pic>
      <p:pic>
        <p:nvPicPr>
          <p:cNvPr id="4" name="Picture 3" descr="Critical Code Studies by Mark C. Marino – EuropeNow">
            <a:extLst>
              <a:ext uri="{FF2B5EF4-FFF2-40B4-BE49-F238E27FC236}">
                <a16:creationId xmlns:a16="http://schemas.microsoft.com/office/drawing/2014/main" id="{E3428967-FB6B-B84D-CA93-DA0B5CAA9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155" y="1695305"/>
            <a:ext cx="3736933" cy="4749303"/>
          </a:xfrm>
          <a:prstGeom prst="rect">
            <a:avLst/>
          </a:prstGeom>
        </p:spPr>
      </p:pic>
      <p:pic>
        <p:nvPicPr>
          <p:cNvPr id="5" name="Picture 4" descr="Machine Learners - Archaeology of a Data Practice – Creative By Sanchez">
            <a:extLst>
              <a:ext uri="{FF2B5EF4-FFF2-40B4-BE49-F238E27FC236}">
                <a16:creationId xmlns:a16="http://schemas.microsoft.com/office/drawing/2014/main" id="{7DAEDFE7-8858-90C6-336C-8799CC2FC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82" y="1719578"/>
            <a:ext cx="3721902" cy="474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25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33A5-7A11-86DC-CA26-BC98A63CC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97" y="2686294"/>
            <a:ext cx="10515600" cy="1325563"/>
          </a:xfrm>
        </p:spPr>
        <p:txBody>
          <a:bodyPr/>
          <a:lstStyle/>
          <a:p>
            <a:r>
              <a:rPr lang="pt-BR" dirty="0" err="1"/>
              <a:t>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29AC1-AB94-E6E9-2E54-6BAD97160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065"/>
          <a:stretch>
            <a:fillRect/>
          </a:stretch>
        </p:blipFill>
        <p:spPr>
          <a:xfrm>
            <a:off x="3013399" y="866269"/>
            <a:ext cx="8817104" cy="5125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808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1299</Words>
  <Application>Microsoft Office PowerPoint</Application>
  <PresentationFormat>Widescreen</PresentationFormat>
  <Paragraphs>151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Three Paradigms of Artificial Intelligence and Their Moral Imaginaries</vt:lpstr>
      <vt:lpstr>Navigational Scholarship in AI</vt:lpstr>
      <vt:lpstr>An idea...</vt:lpstr>
      <vt:lpstr>Each phase arose from the limitations of the previous...</vt:lpstr>
      <vt:lpstr>Moral Imaginaries and AI</vt:lpstr>
      <vt:lpstr>Ethics of delegation: 1. Slavery</vt:lpstr>
      <vt:lpstr>Ethics of delegation: 2. The Golem</vt:lpstr>
      <vt:lpstr>Ethics of delegation: 3. The Iron Cage</vt:lpstr>
      <vt:lpstr>Ethics of prediction: 1. Divination </vt:lpstr>
      <vt:lpstr>Ethics of prediction: 2. Tragedy</vt:lpstr>
      <vt:lpstr>Ethics of prediction: 3. The Panopticon</vt:lpstr>
      <vt:lpstr>Ethics of exploration: 1. Acceleration</vt:lpstr>
      <vt:lpstr>Ethics of exploration: 2. Psychedelics</vt:lpstr>
      <vt:lpstr>Ethics of exploration: 3. Fragmentation</vt:lpstr>
      <vt:lpstr>I know, I know</vt:lpstr>
      <vt:lpstr>Virtues and counter-practices</vt:lpstr>
      <vt:lpstr>Some experiences in teaching</vt:lpstr>
      <vt:lpstr>Using media</vt:lpstr>
      <vt:lpstr>In the technical curriculum</vt:lpstr>
      <vt:lpstr>Great “integrative” reads</vt:lpstr>
      <vt:lpstr>Example</vt:lpstr>
    </vt:vector>
  </TitlesOfParts>
  <Company>Calvin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Santos</dc:creator>
  <cp:lastModifiedBy>Fernando Santos</cp:lastModifiedBy>
  <cp:revision>42</cp:revision>
  <dcterms:created xsi:type="dcterms:W3CDTF">2026-09-28T18:29:14Z</dcterms:created>
  <dcterms:modified xsi:type="dcterms:W3CDTF">2026-09-29T15:50:17Z</dcterms:modified>
</cp:coreProperties>
</file>