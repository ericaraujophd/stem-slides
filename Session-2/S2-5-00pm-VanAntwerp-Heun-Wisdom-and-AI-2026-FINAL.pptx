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6" r:id="rId5"/>
    <p:sldId id="274" r:id="rId6"/>
    <p:sldId id="297" r:id="rId7"/>
    <p:sldId id="298" r:id="rId8"/>
    <p:sldId id="272" r:id="rId9"/>
    <p:sldId id="290" r:id="rId10"/>
    <p:sldId id="291" r:id="rId11"/>
    <p:sldId id="289" r:id="rId12"/>
    <p:sldId id="273" r:id="rId13"/>
    <p:sldId id="282" r:id="rId14"/>
    <p:sldId id="268" r:id="rId15"/>
    <p:sldId id="299" r:id="rId16"/>
    <p:sldId id="300" r:id="rId17"/>
    <p:sldId id="301" r:id="rId18"/>
    <p:sldId id="302" r:id="rId19"/>
    <p:sldId id="304" r:id="rId20"/>
    <p:sldId id="269" r:id="rId21"/>
    <p:sldId id="305" r:id="rId22"/>
    <p:sldId id="270" r:id="rId23"/>
    <p:sldId id="310" r:id="rId24"/>
    <p:sldId id="309" r:id="rId25"/>
    <p:sldId id="31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FCA2C5-40D6-4E2C-B4A8-03917AC45EDD}" v="141" dt="2026-10-07T20:44:59.0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179" autoAdjust="0"/>
  </p:normalViewPr>
  <p:slideViewPr>
    <p:cSldViewPr snapToGrid="0">
      <p:cViewPr varScale="1">
        <p:scale>
          <a:sx n="76" d="100"/>
          <a:sy n="76" d="100"/>
        </p:scale>
        <p:origin x="18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calvincollege.sharepoint.com/sites/WisdomandAIpaper2026/Shared%20Documents/General/Presentation/Hyperscaling.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calvincollege.sharepoint.com/sites/WisdomandAIpaper2026/Shared%20Documents/General/Presentation/Hyperscaling.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ser>
          <c:idx val="0"/>
          <c:order val="0"/>
          <c:spPr>
            <a:solidFill>
              <a:schemeClr val="accent1"/>
            </a:solidFill>
            <a:ln>
              <a:noFill/>
            </a:ln>
            <a:effectLst/>
          </c:spPr>
          <c:invertIfNegative val="0"/>
          <c:cat>
            <c:strRef>
              <c:f>Sheet1!$C$1</c:f>
              <c:strCache>
                <c:ptCount val="1"/>
                <c:pt idx="0">
                  <c:v>Total rated power [GW]</c:v>
                </c:pt>
              </c:strCache>
            </c:strRef>
          </c:cat>
          <c:val>
            <c:numRef>
              <c:f>Sheet1!$I$2</c:f>
              <c:numCache>
                <c:formatCode>General</c:formatCode>
                <c:ptCount val="1"/>
                <c:pt idx="0">
                  <c:v>62.758000000000003</c:v>
                </c:pt>
              </c:numCache>
            </c:numRef>
          </c:val>
          <c:extLst>
            <c:ext xmlns:c16="http://schemas.microsoft.com/office/drawing/2014/chart" uri="{C3380CC4-5D6E-409C-BE32-E72D297353CC}">
              <c16:uniqueId val="{00000000-B256-4B71-BDBA-8CDD5B13B60F}"/>
            </c:ext>
          </c:extLst>
        </c:ser>
        <c:ser>
          <c:idx val="1"/>
          <c:order val="1"/>
          <c:spPr>
            <a:solidFill>
              <a:schemeClr val="accent2"/>
            </a:solidFill>
            <a:ln>
              <a:noFill/>
            </a:ln>
            <a:effectLst/>
          </c:spPr>
          <c:invertIfNegative val="0"/>
          <c:cat>
            <c:strRef>
              <c:f>Sheet1!$C$1</c:f>
              <c:strCache>
                <c:ptCount val="1"/>
                <c:pt idx="0">
                  <c:v>Total rated power [GW]</c:v>
                </c:pt>
              </c:strCache>
            </c:strRef>
          </c:cat>
          <c:val>
            <c:numRef>
              <c:f>Sheet1!$I$3</c:f>
              <c:numCache>
                <c:formatCode>General</c:formatCode>
                <c:ptCount val="1"/>
                <c:pt idx="0">
                  <c:v>388.48099999999999</c:v>
                </c:pt>
              </c:numCache>
            </c:numRef>
          </c:val>
          <c:extLst>
            <c:ext xmlns:c16="http://schemas.microsoft.com/office/drawing/2014/chart" uri="{C3380CC4-5D6E-409C-BE32-E72D297353CC}">
              <c16:uniqueId val="{00000001-B256-4B71-BDBA-8CDD5B13B60F}"/>
            </c:ext>
          </c:extLst>
        </c:ser>
        <c:dLbls>
          <c:showLegendKey val="0"/>
          <c:showVal val="0"/>
          <c:showCatName val="0"/>
          <c:showSerName val="0"/>
          <c:showPercent val="0"/>
          <c:showBubbleSize val="0"/>
        </c:dLbls>
        <c:gapWidth val="150"/>
        <c:overlap val="100"/>
        <c:axId val="452232175"/>
        <c:axId val="139594895"/>
      </c:barChart>
      <c:catAx>
        <c:axId val="452232175"/>
        <c:scaling>
          <c:orientation val="minMax"/>
        </c:scaling>
        <c:delete val="1"/>
        <c:axPos val="b"/>
        <c:numFmt formatCode="General" sourceLinked="1"/>
        <c:majorTickMark val="none"/>
        <c:minorTickMark val="none"/>
        <c:tickLblPos val="nextTo"/>
        <c:crossAx val="139594895"/>
        <c:crosses val="autoZero"/>
        <c:auto val="1"/>
        <c:lblAlgn val="ctr"/>
        <c:lblOffset val="100"/>
        <c:noMultiLvlLbl val="0"/>
      </c:catAx>
      <c:valAx>
        <c:axId val="1395948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3600" b="0" i="0" u="none" strike="noStrike" kern="1200" baseline="0">
                <a:solidFill>
                  <a:schemeClr val="tx1">
                    <a:lumMod val="95000"/>
                    <a:lumOff val="5000"/>
                  </a:schemeClr>
                </a:solidFill>
                <a:latin typeface="+mn-lt"/>
                <a:ea typeface="+mn-ea"/>
                <a:cs typeface="+mn-cs"/>
              </a:defRPr>
            </a:pPr>
            <a:endParaRPr lang="en-US"/>
          </a:p>
        </c:txPr>
        <c:crossAx val="4522321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ser>
          <c:idx val="0"/>
          <c:order val="0"/>
          <c:tx>
            <c:strRef>
              <c:f>Sheet1!$A$2</c:f>
              <c:strCache>
                <c:ptCount val="1"/>
                <c:pt idx="0">
                  <c:v>Current</c:v>
                </c:pt>
              </c:strCache>
            </c:strRef>
          </c:tx>
          <c:spPr>
            <a:solidFill>
              <a:schemeClr val="accent1"/>
            </a:solidFill>
            <a:ln>
              <a:noFill/>
            </a:ln>
            <a:effectLst/>
          </c:spPr>
          <c:invertIfNegative val="0"/>
          <c:cat>
            <c:strRef>
              <c:f>Sheet1!$B$1</c:f>
              <c:strCache>
                <c:ptCount val="1"/>
                <c:pt idx="0">
                  <c:v>Number of US data centers</c:v>
                </c:pt>
              </c:strCache>
            </c:strRef>
          </c:cat>
          <c:val>
            <c:numRef>
              <c:f>Sheet1!$H$2</c:f>
              <c:numCache>
                <c:formatCode>General</c:formatCode>
                <c:ptCount val="1"/>
                <c:pt idx="0">
                  <c:v>1319</c:v>
                </c:pt>
              </c:numCache>
            </c:numRef>
          </c:val>
          <c:extLst>
            <c:ext xmlns:c16="http://schemas.microsoft.com/office/drawing/2014/chart" uri="{C3380CC4-5D6E-409C-BE32-E72D297353CC}">
              <c16:uniqueId val="{00000000-A7B2-4A38-B7A1-EEC4E3F1712C}"/>
            </c:ext>
          </c:extLst>
        </c:ser>
        <c:ser>
          <c:idx val="1"/>
          <c:order val="1"/>
          <c:tx>
            <c:strRef>
              <c:f>Sheet1!$A$3</c:f>
              <c:strCache>
                <c:ptCount val="1"/>
                <c:pt idx="0">
                  <c:v>Planned</c:v>
                </c:pt>
              </c:strCache>
            </c:strRef>
          </c:tx>
          <c:spPr>
            <a:solidFill>
              <a:schemeClr val="accent2"/>
            </a:solidFill>
            <a:ln>
              <a:noFill/>
            </a:ln>
            <a:effectLst/>
          </c:spPr>
          <c:invertIfNegative val="0"/>
          <c:cat>
            <c:strRef>
              <c:f>Sheet1!$B$1</c:f>
              <c:strCache>
                <c:ptCount val="1"/>
                <c:pt idx="0">
                  <c:v>Number of US data centers</c:v>
                </c:pt>
              </c:strCache>
            </c:strRef>
          </c:cat>
          <c:val>
            <c:numRef>
              <c:f>Sheet1!$H$3</c:f>
              <c:numCache>
                <c:formatCode>General</c:formatCode>
                <c:ptCount val="1"/>
                <c:pt idx="0">
                  <c:v>2248</c:v>
                </c:pt>
              </c:numCache>
            </c:numRef>
          </c:val>
          <c:extLst>
            <c:ext xmlns:c16="http://schemas.microsoft.com/office/drawing/2014/chart" uri="{C3380CC4-5D6E-409C-BE32-E72D297353CC}">
              <c16:uniqueId val="{00000001-A7B2-4A38-B7A1-EEC4E3F1712C}"/>
            </c:ext>
          </c:extLst>
        </c:ser>
        <c:dLbls>
          <c:showLegendKey val="0"/>
          <c:showVal val="0"/>
          <c:showCatName val="0"/>
          <c:showSerName val="0"/>
          <c:showPercent val="0"/>
          <c:showBubbleSize val="0"/>
        </c:dLbls>
        <c:gapWidth val="150"/>
        <c:overlap val="100"/>
        <c:axId val="2092367"/>
        <c:axId val="139559855"/>
      </c:barChart>
      <c:catAx>
        <c:axId val="2092367"/>
        <c:scaling>
          <c:orientation val="minMax"/>
        </c:scaling>
        <c:delete val="1"/>
        <c:axPos val="b"/>
        <c:numFmt formatCode="General" sourceLinked="1"/>
        <c:majorTickMark val="none"/>
        <c:minorTickMark val="none"/>
        <c:tickLblPos val="nextTo"/>
        <c:crossAx val="139559855"/>
        <c:crosses val="autoZero"/>
        <c:auto val="1"/>
        <c:lblAlgn val="ctr"/>
        <c:lblOffset val="100"/>
        <c:noMultiLvlLbl val="0"/>
      </c:catAx>
      <c:valAx>
        <c:axId val="1395598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3600" b="0" i="0" u="none" strike="noStrike" kern="1200" baseline="0">
                <a:solidFill>
                  <a:schemeClr val="tx1">
                    <a:lumMod val="95000"/>
                    <a:lumOff val="5000"/>
                  </a:schemeClr>
                </a:solidFill>
                <a:latin typeface="+mn-lt"/>
                <a:ea typeface="+mn-ea"/>
                <a:cs typeface="+mn-cs"/>
              </a:defRPr>
            </a:pPr>
            <a:endParaRPr lang="en-US"/>
          </a:p>
        </c:txPr>
        <c:crossAx val="2092367"/>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2800" b="0" i="0" u="none" strike="noStrike" kern="1200" baseline="0">
                <a:solidFill>
                  <a:schemeClr val="tx1">
                    <a:lumMod val="95000"/>
                    <a:lumOff val="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2800" b="0" i="0" u="none" strike="noStrike" kern="1200" baseline="0">
                <a:solidFill>
                  <a:schemeClr val="tx1">
                    <a:lumMod val="95000"/>
                    <a:lumOff val="5000"/>
                  </a:schemeClr>
                </a:solidFill>
                <a:latin typeface="+mn-lt"/>
                <a:ea typeface="+mn-ea"/>
                <a:cs typeface="+mn-cs"/>
              </a:defRPr>
            </a:pPr>
            <a:endParaRPr lang="en-US"/>
          </a:p>
        </c:txPr>
      </c:legendEntry>
      <c:layout>
        <c:manualLayout>
          <c:xMode val="edge"/>
          <c:yMode val="edge"/>
          <c:x val="0.52125370896270506"/>
          <c:y val="0.41617574592362094"/>
          <c:w val="0.38906676846834182"/>
          <c:h val="0.4063065922299659"/>
        </c:manualLayout>
      </c:layout>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95000"/>
                  <a:lumOff val="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E3F1D1-2B5E-4555-9999-94AD93B80C3B}" type="doc">
      <dgm:prSet loTypeId="urn:microsoft.com/office/officeart/2005/8/layout/venn1" loCatId="relationship" qsTypeId="urn:microsoft.com/office/officeart/2005/8/quickstyle/simple1#1" qsCatId="simple" csTypeId="urn:microsoft.com/office/officeart/2005/8/colors/colorful1#1" csCatId="colorful" phldr="1"/>
      <dgm:spPr/>
      <dgm:t>
        <a:bodyPr/>
        <a:lstStyle/>
        <a:p>
          <a:endParaRPr lang="en-US"/>
        </a:p>
      </dgm:t>
    </dgm:pt>
    <dgm:pt modelId="{787F8F92-882F-462E-BDCF-FFE57D972093}">
      <dgm:prSet phldrT="[Text]" phldr="0"/>
      <dgm:spPr/>
      <dgm:t>
        <a:bodyPr/>
        <a:lstStyle/>
        <a:p>
          <a:r>
            <a:rPr lang="en-US"/>
            <a:t>Information</a:t>
          </a:r>
        </a:p>
      </dgm:t>
    </dgm:pt>
    <dgm:pt modelId="{D4E6DCC7-562C-4C66-9D76-ED3FFF85A723}" type="parTrans" cxnId="{D1434281-5A1A-4FB6-A1E8-462E878052F4}">
      <dgm:prSet/>
      <dgm:spPr/>
      <dgm:t>
        <a:bodyPr/>
        <a:lstStyle/>
        <a:p>
          <a:endParaRPr lang="en-US"/>
        </a:p>
      </dgm:t>
    </dgm:pt>
    <dgm:pt modelId="{B208587C-11C5-432A-B50A-583220CF2C83}" type="sibTrans" cxnId="{D1434281-5A1A-4FB6-A1E8-462E878052F4}">
      <dgm:prSet/>
      <dgm:spPr/>
      <dgm:t>
        <a:bodyPr/>
        <a:lstStyle/>
        <a:p>
          <a:endParaRPr lang="en-US"/>
        </a:p>
      </dgm:t>
    </dgm:pt>
    <dgm:pt modelId="{C03E1F90-50D6-4C8A-9D35-EF022B3E4B2F}">
      <dgm:prSet phldrT="[Text]" phldr="0"/>
      <dgm:spPr/>
      <dgm:t>
        <a:bodyPr/>
        <a:lstStyle/>
        <a:p>
          <a:r>
            <a:rPr lang="en-US"/>
            <a:t>Material</a:t>
          </a:r>
        </a:p>
      </dgm:t>
    </dgm:pt>
    <dgm:pt modelId="{6FC0F68F-124E-4796-B702-388CB1A7C451}" type="parTrans" cxnId="{7D0813BB-0CC6-47A3-BBDF-191D91D641D3}">
      <dgm:prSet/>
      <dgm:spPr/>
      <dgm:t>
        <a:bodyPr/>
        <a:lstStyle/>
        <a:p>
          <a:endParaRPr lang="en-US"/>
        </a:p>
      </dgm:t>
    </dgm:pt>
    <dgm:pt modelId="{F271DECF-94C6-44D9-8D0D-754DB080E1CA}" type="sibTrans" cxnId="{7D0813BB-0CC6-47A3-BBDF-191D91D641D3}">
      <dgm:prSet/>
      <dgm:spPr/>
      <dgm:t>
        <a:bodyPr/>
        <a:lstStyle/>
        <a:p>
          <a:endParaRPr lang="en-US"/>
        </a:p>
      </dgm:t>
    </dgm:pt>
    <dgm:pt modelId="{16AB57AF-AE8F-42C3-89DD-FAA42D695FBE}">
      <dgm:prSet phldrT="[Text]" phldr="0"/>
      <dgm:spPr/>
      <dgm:t>
        <a:bodyPr/>
        <a:lstStyle/>
        <a:p>
          <a:r>
            <a:rPr lang="en-US"/>
            <a:t>Energy</a:t>
          </a:r>
        </a:p>
      </dgm:t>
    </dgm:pt>
    <dgm:pt modelId="{60F5C979-0C85-4475-BA22-00BC8A5680BF}" type="parTrans" cxnId="{A66D2F48-A90D-4266-95D3-30E9387F98C3}">
      <dgm:prSet/>
      <dgm:spPr/>
      <dgm:t>
        <a:bodyPr/>
        <a:lstStyle/>
        <a:p>
          <a:endParaRPr lang="en-US"/>
        </a:p>
      </dgm:t>
    </dgm:pt>
    <dgm:pt modelId="{CE22CFC3-0289-4149-929D-D7ADD2479339}" type="sibTrans" cxnId="{A66D2F48-A90D-4266-95D3-30E9387F98C3}">
      <dgm:prSet/>
      <dgm:spPr/>
      <dgm:t>
        <a:bodyPr/>
        <a:lstStyle/>
        <a:p>
          <a:endParaRPr lang="en-US"/>
        </a:p>
      </dgm:t>
    </dgm:pt>
    <dgm:pt modelId="{A0E52312-1B9F-4833-84F0-FB604206BDA6}" type="pres">
      <dgm:prSet presAssocID="{CFE3F1D1-2B5E-4555-9999-94AD93B80C3B}" presName="compositeShape" presStyleCnt="0">
        <dgm:presLayoutVars>
          <dgm:chMax val="7"/>
          <dgm:dir/>
          <dgm:resizeHandles val="exact"/>
        </dgm:presLayoutVars>
      </dgm:prSet>
      <dgm:spPr/>
    </dgm:pt>
    <dgm:pt modelId="{647A96A6-862F-4FFB-9942-4728ED120703}" type="pres">
      <dgm:prSet presAssocID="{787F8F92-882F-462E-BDCF-FFE57D972093}" presName="circ1" presStyleLbl="vennNode1" presStyleIdx="0" presStyleCnt="3"/>
      <dgm:spPr/>
    </dgm:pt>
    <dgm:pt modelId="{BCC98610-BC0D-4764-BB83-D60CEFBBD082}" type="pres">
      <dgm:prSet presAssocID="{787F8F92-882F-462E-BDCF-FFE57D972093}" presName="circ1Tx" presStyleLbl="revTx" presStyleIdx="0" presStyleCnt="0">
        <dgm:presLayoutVars>
          <dgm:chMax val="0"/>
          <dgm:chPref val="0"/>
          <dgm:bulletEnabled val="1"/>
        </dgm:presLayoutVars>
      </dgm:prSet>
      <dgm:spPr/>
    </dgm:pt>
    <dgm:pt modelId="{2307E9B7-24DD-47BC-A3FA-814A055FFD61}" type="pres">
      <dgm:prSet presAssocID="{C03E1F90-50D6-4C8A-9D35-EF022B3E4B2F}" presName="circ2" presStyleLbl="vennNode1" presStyleIdx="1" presStyleCnt="3"/>
      <dgm:spPr/>
    </dgm:pt>
    <dgm:pt modelId="{37573A3A-61BC-484E-B268-E24D3ED75CBC}" type="pres">
      <dgm:prSet presAssocID="{C03E1F90-50D6-4C8A-9D35-EF022B3E4B2F}" presName="circ2Tx" presStyleLbl="revTx" presStyleIdx="0" presStyleCnt="0">
        <dgm:presLayoutVars>
          <dgm:chMax val="0"/>
          <dgm:chPref val="0"/>
          <dgm:bulletEnabled val="1"/>
        </dgm:presLayoutVars>
      </dgm:prSet>
      <dgm:spPr/>
    </dgm:pt>
    <dgm:pt modelId="{E5D25444-A55E-4F91-AF2D-9E01231EE6F2}" type="pres">
      <dgm:prSet presAssocID="{16AB57AF-AE8F-42C3-89DD-FAA42D695FBE}" presName="circ3" presStyleLbl="vennNode1" presStyleIdx="2" presStyleCnt="3"/>
      <dgm:spPr/>
    </dgm:pt>
    <dgm:pt modelId="{76C2A782-4661-4779-B332-9D1882BD82BB}" type="pres">
      <dgm:prSet presAssocID="{16AB57AF-AE8F-42C3-89DD-FAA42D695FBE}" presName="circ3Tx" presStyleLbl="revTx" presStyleIdx="0" presStyleCnt="0">
        <dgm:presLayoutVars>
          <dgm:chMax val="0"/>
          <dgm:chPref val="0"/>
          <dgm:bulletEnabled val="1"/>
        </dgm:presLayoutVars>
      </dgm:prSet>
      <dgm:spPr/>
    </dgm:pt>
  </dgm:ptLst>
  <dgm:cxnLst>
    <dgm:cxn modelId="{DAB65E04-97C8-4FCB-93AE-6AE0281DED9C}" type="presOf" srcId="{787F8F92-882F-462E-BDCF-FFE57D972093}" destId="{647A96A6-862F-4FFB-9942-4728ED120703}" srcOrd="0" destOrd="0" presId="urn:microsoft.com/office/officeart/2005/8/layout/venn1"/>
    <dgm:cxn modelId="{244AB00F-AF19-414A-BA42-374E09AC1985}" type="presOf" srcId="{C03E1F90-50D6-4C8A-9D35-EF022B3E4B2F}" destId="{2307E9B7-24DD-47BC-A3FA-814A055FFD61}" srcOrd="0" destOrd="0" presId="urn:microsoft.com/office/officeart/2005/8/layout/venn1"/>
    <dgm:cxn modelId="{BAAA6D2D-E320-438B-B9B7-60E38DD31E7C}" type="presOf" srcId="{16AB57AF-AE8F-42C3-89DD-FAA42D695FBE}" destId="{E5D25444-A55E-4F91-AF2D-9E01231EE6F2}" srcOrd="0" destOrd="0" presId="urn:microsoft.com/office/officeart/2005/8/layout/venn1"/>
    <dgm:cxn modelId="{4FB70766-70FF-4281-9276-1A046291152D}" type="presOf" srcId="{C03E1F90-50D6-4C8A-9D35-EF022B3E4B2F}" destId="{37573A3A-61BC-484E-B268-E24D3ED75CBC}" srcOrd="1" destOrd="0" presId="urn:microsoft.com/office/officeart/2005/8/layout/venn1"/>
    <dgm:cxn modelId="{A66D2F48-A90D-4266-95D3-30E9387F98C3}" srcId="{CFE3F1D1-2B5E-4555-9999-94AD93B80C3B}" destId="{16AB57AF-AE8F-42C3-89DD-FAA42D695FBE}" srcOrd="2" destOrd="0" parTransId="{60F5C979-0C85-4475-BA22-00BC8A5680BF}" sibTransId="{CE22CFC3-0289-4149-929D-D7ADD2479339}"/>
    <dgm:cxn modelId="{D1434281-5A1A-4FB6-A1E8-462E878052F4}" srcId="{CFE3F1D1-2B5E-4555-9999-94AD93B80C3B}" destId="{787F8F92-882F-462E-BDCF-FFE57D972093}" srcOrd="0" destOrd="0" parTransId="{D4E6DCC7-562C-4C66-9D76-ED3FFF85A723}" sibTransId="{B208587C-11C5-432A-B50A-583220CF2C83}"/>
    <dgm:cxn modelId="{7AF36CB6-9758-47DB-A6A3-8F492A96FCA6}" type="presOf" srcId="{787F8F92-882F-462E-BDCF-FFE57D972093}" destId="{BCC98610-BC0D-4764-BB83-D60CEFBBD082}" srcOrd="1" destOrd="0" presId="urn:microsoft.com/office/officeart/2005/8/layout/venn1"/>
    <dgm:cxn modelId="{7D0813BB-0CC6-47A3-BBDF-191D91D641D3}" srcId="{CFE3F1D1-2B5E-4555-9999-94AD93B80C3B}" destId="{C03E1F90-50D6-4C8A-9D35-EF022B3E4B2F}" srcOrd="1" destOrd="0" parTransId="{6FC0F68F-124E-4796-B702-388CB1A7C451}" sibTransId="{F271DECF-94C6-44D9-8D0D-754DB080E1CA}"/>
    <dgm:cxn modelId="{833B16BC-1682-4E33-8EC3-78435210764E}" type="presOf" srcId="{16AB57AF-AE8F-42C3-89DD-FAA42D695FBE}" destId="{76C2A782-4661-4779-B332-9D1882BD82BB}" srcOrd="1" destOrd="0" presId="urn:microsoft.com/office/officeart/2005/8/layout/venn1"/>
    <dgm:cxn modelId="{AA969DF9-51DF-4E54-A2C3-A3E51DB44DEC}" type="presOf" srcId="{CFE3F1D1-2B5E-4555-9999-94AD93B80C3B}" destId="{A0E52312-1B9F-4833-84F0-FB604206BDA6}" srcOrd="0" destOrd="0" presId="urn:microsoft.com/office/officeart/2005/8/layout/venn1"/>
    <dgm:cxn modelId="{35F872A3-D328-4EE4-8DAF-FA5ED0470302}" type="presParOf" srcId="{A0E52312-1B9F-4833-84F0-FB604206BDA6}" destId="{647A96A6-862F-4FFB-9942-4728ED120703}" srcOrd="0" destOrd="0" presId="urn:microsoft.com/office/officeart/2005/8/layout/venn1"/>
    <dgm:cxn modelId="{C70BA311-9474-4CC5-BDCB-CE9EF59C4E60}" type="presParOf" srcId="{A0E52312-1B9F-4833-84F0-FB604206BDA6}" destId="{BCC98610-BC0D-4764-BB83-D60CEFBBD082}" srcOrd="1" destOrd="0" presId="urn:microsoft.com/office/officeart/2005/8/layout/venn1"/>
    <dgm:cxn modelId="{CF0F964F-DDAF-4750-A1E8-F70DD517A42A}" type="presParOf" srcId="{A0E52312-1B9F-4833-84F0-FB604206BDA6}" destId="{2307E9B7-24DD-47BC-A3FA-814A055FFD61}" srcOrd="2" destOrd="0" presId="urn:microsoft.com/office/officeart/2005/8/layout/venn1"/>
    <dgm:cxn modelId="{E5B086E9-894E-499E-90A8-A957E3F17FE6}" type="presParOf" srcId="{A0E52312-1B9F-4833-84F0-FB604206BDA6}" destId="{37573A3A-61BC-484E-B268-E24D3ED75CBC}" srcOrd="3" destOrd="0" presId="urn:microsoft.com/office/officeart/2005/8/layout/venn1"/>
    <dgm:cxn modelId="{D1FB826E-44D3-4F63-BFAD-C822FB2948F0}" type="presParOf" srcId="{A0E52312-1B9F-4833-84F0-FB604206BDA6}" destId="{E5D25444-A55E-4F91-AF2D-9E01231EE6F2}" srcOrd="4" destOrd="0" presId="urn:microsoft.com/office/officeart/2005/8/layout/venn1"/>
    <dgm:cxn modelId="{C2E31769-AFF1-463E-A4A5-CE273916B3E6}" type="presParOf" srcId="{A0E52312-1B9F-4833-84F0-FB604206BDA6}" destId="{76C2A782-4661-4779-B332-9D1882BD82BB}"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D0FB9A-9C7D-481B-B2DC-A521F3B6B137}" type="doc">
      <dgm:prSet loTypeId="urn:microsoft.com/office/officeart/2005/8/layout/venn1" loCatId="relationship" qsTypeId="urn:microsoft.com/office/officeart/2005/8/quickstyle/simple1#2" qsCatId="simple" csTypeId="urn:microsoft.com/office/officeart/2005/8/colors/colorful1#4" csCatId="colorful" phldr="1"/>
      <dgm:spPr/>
      <dgm:t>
        <a:bodyPr/>
        <a:lstStyle/>
        <a:p>
          <a:endParaRPr lang="en-US"/>
        </a:p>
      </dgm:t>
    </dgm:pt>
    <dgm:pt modelId="{0EB01321-4E7E-4996-AF65-33AA200AE799}">
      <dgm:prSet phldrT="[Text]" phldr="0"/>
      <dgm:spPr/>
      <dgm:t>
        <a:bodyPr/>
        <a:lstStyle/>
        <a:p>
          <a:r>
            <a:rPr lang="en-US" b="1"/>
            <a:t>Environmental</a:t>
          </a:r>
        </a:p>
      </dgm:t>
    </dgm:pt>
    <dgm:pt modelId="{B82F2360-FB5E-499E-84DB-78AF6F390E11}" type="parTrans" cxnId="{D3373CFA-CADF-4D36-AF50-A79F8FA36BAD}">
      <dgm:prSet/>
      <dgm:spPr/>
      <dgm:t>
        <a:bodyPr/>
        <a:lstStyle/>
        <a:p>
          <a:endParaRPr lang="en-US"/>
        </a:p>
      </dgm:t>
    </dgm:pt>
    <dgm:pt modelId="{383BD3B3-1BE9-4029-AE3B-7E577327A969}" type="sibTrans" cxnId="{D3373CFA-CADF-4D36-AF50-A79F8FA36BAD}">
      <dgm:prSet/>
      <dgm:spPr/>
      <dgm:t>
        <a:bodyPr/>
        <a:lstStyle/>
        <a:p>
          <a:endParaRPr lang="en-US"/>
        </a:p>
      </dgm:t>
    </dgm:pt>
    <dgm:pt modelId="{FA184060-21F7-4B23-BDA3-510393C94553}">
      <dgm:prSet phldrT="[Text]" phldr="0"/>
      <dgm:spPr/>
      <dgm:t>
        <a:bodyPr/>
        <a:lstStyle/>
        <a:p>
          <a:r>
            <a:rPr lang="en-US" b="1"/>
            <a:t>Economic</a:t>
          </a:r>
        </a:p>
      </dgm:t>
    </dgm:pt>
    <dgm:pt modelId="{29B0FE0E-FBA1-4C19-BCB9-179847F03083}" type="parTrans" cxnId="{DD67C262-629A-4ACC-8C5E-7A636A9049C2}">
      <dgm:prSet/>
      <dgm:spPr/>
      <dgm:t>
        <a:bodyPr/>
        <a:lstStyle/>
        <a:p>
          <a:endParaRPr lang="en-US"/>
        </a:p>
      </dgm:t>
    </dgm:pt>
    <dgm:pt modelId="{82772DDF-FAF6-4887-8E48-5C72E48D04D3}" type="sibTrans" cxnId="{DD67C262-629A-4ACC-8C5E-7A636A9049C2}">
      <dgm:prSet/>
      <dgm:spPr/>
      <dgm:t>
        <a:bodyPr/>
        <a:lstStyle/>
        <a:p>
          <a:endParaRPr lang="en-US"/>
        </a:p>
      </dgm:t>
    </dgm:pt>
    <dgm:pt modelId="{44305E0A-152B-4B8A-BBF5-B7668AD94332}">
      <dgm:prSet phldrT="[Text]" phldr="0"/>
      <dgm:spPr/>
      <dgm:t>
        <a:bodyPr/>
        <a:lstStyle/>
        <a:p>
          <a:r>
            <a:rPr lang="en-US" b="1"/>
            <a:t>Social</a:t>
          </a:r>
        </a:p>
      </dgm:t>
    </dgm:pt>
    <dgm:pt modelId="{933D70E7-C765-41A4-911D-6E68CC1B1C32}" type="parTrans" cxnId="{B746A52C-1257-4DF4-B7D1-402DFBCA44CC}">
      <dgm:prSet/>
      <dgm:spPr/>
      <dgm:t>
        <a:bodyPr/>
        <a:lstStyle/>
        <a:p>
          <a:endParaRPr lang="en-US"/>
        </a:p>
      </dgm:t>
    </dgm:pt>
    <dgm:pt modelId="{6C49D972-8E47-44EA-BD8D-7DA7CA55DC9D}" type="sibTrans" cxnId="{B746A52C-1257-4DF4-B7D1-402DFBCA44CC}">
      <dgm:prSet/>
      <dgm:spPr/>
      <dgm:t>
        <a:bodyPr/>
        <a:lstStyle/>
        <a:p>
          <a:endParaRPr lang="en-US"/>
        </a:p>
      </dgm:t>
    </dgm:pt>
    <dgm:pt modelId="{930C7D85-8D87-4A56-BBD2-12E1686A1C48}" type="pres">
      <dgm:prSet presAssocID="{84D0FB9A-9C7D-481B-B2DC-A521F3B6B137}" presName="compositeShape" presStyleCnt="0">
        <dgm:presLayoutVars>
          <dgm:chMax val="7"/>
          <dgm:dir/>
          <dgm:resizeHandles val="exact"/>
        </dgm:presLayoutVars>
      </dgm:prSet>
      <dgm:spPr/>
    </dgm:pt>
    <dgm:pt modelId="{0FD931A2-F447-4548-93AE-7DDC92BBF3D4}" type="pres">
      <dgm:prSet presAssocID="{0EB01321-4E7E-4996-AF65-33AA200AE799}" presName="circ1" presStyleLbl="vennNode1" presStyleIdx="0" presStyleCnt="3"/>
      <dgm:spPr/>
    </dgm:pt>
    <dgm:pt modelId="{5B19E4D0-F5BA-4D1F-A15C-31F013ECBE9A}" type="pres">
      <dgm:prSet presAssocID="{0EB01321-4E7E-4996-AF65-33AA200AE799}" presName="circ1Tx" presStyleLbl="revTx" presStyleIdx="0" presStyleCnt="0">
        <dgm:presLayoutVars>
          <dgm:chMax val="0"/>
          <dgm:chPref val="0"/>
          <dgm:bulletEnabled val="1"/>
        </dgm:presLayoutVars>
      </dgm:prSet>
      <dgm:spPr/>
    </dgm:pt>
    <dgm:pt modelId="{4DC675AF-17F4-4D14-A17F-3186F39D1183}" type="pres">
      <dgm:prSet presAssocID="{FA184060-21F7-4B23-BDA3-510393C94553}" presName="circ2" presStyleLbl="vennNode1" presStyleIdx="1" presStyleCnt="3"/>
      <dgm:spPr/>
    </dgm:pt>
    <dgm:pt modelId="{C09C7786-A768-4F96-8A4A-9A36A8432FC5}" type="pres">
      <dgm:prSet presAssocID="{FA184060-21F7-4B23-BDA3-510393C94553}" presName="circ2Tx" presStyleLbl="revTx" presStyleIdx="0" presStyleCnt="0">
        <dgm:presLayoutVars>
          <dgm:chMax val="0"/>
          <dgm:chPref val="0"/>
          <dgm:bulletEnabled val="1"/>
        </dgm:presLayoutVars>
      </dgm:prSet>
      <dgm:spPr/>
    </dgm:pt>
    <dgm:pt modelId="{BE536266-947B-4A3D-B8A0-3C49113B69A5}" type="pres">
      <dgm:prSet presAssocID="{44305E0A-152B-4B8A-BBF5-B7668AD94332}" presName="circ3" presStyleLbl="vennNode1" presStyleIdx="2" presStyleCnt="3"/>
      <dgm:spPr/>
    </dgm:pt>
    <dgm:pt modelId="{F8440C42-42D3-473C-BE39-0AA640388017}" type="pres">
      <dgm:prSet presAssocID="{44305E0A-152B-4B8A-BBF5-B7668AD94332}" presName="circ3Tx" presStyleLbl="revTx" presStyleIdx="0" presStyleCnt="0">
        <dgm:presLayoutVars>
          <dgm:chMax val="0"/>
          <dgm:chPref val="0"/>
          <dgm:bulletEnabled val="1"/>
        </dgm:presLayoutVars>
      </dgm:prSet>
      <dgm:spPr/>
    </dgm:pt>
  </dgm:ptLst>
  <dgm:cxnLst>
    <dgm:cxn modelId="{7A19CA19-FE0B-4D58-B1B8-FA881BC55DA8}" type="presOf" srcId="{84D0FB9A-9C7D-481B-B2DC-A521F3B6B137}" destId="{930C7D85-8D87-4A56-BBD2-12E1686A1C48}" srcOrd="0" destOrd="0" presId="urn:microsoft.com/office/officeart/2005/8/layout/venn1"/>
    <dgm:cxn modelId="{B746A52C-1257-4DF4-B7D1-402DFBCA44CC}" srcId="{84D0FB9A-9C7D-481B-B2DC-A521F3B6B137}" destId="{44305E0A-152B-4B8A-BBF5-B7668AD94332}" srcOrd="2" destOrd="0" parTransId="{933D70E7-C765-41A4-911D-6E68CC1B1C32}" sibTransId="{6C49D972-8E47-44EA-BD8D-7DA7CA55DC9D}"/>
    <dgm:cxn modelId="{DD67C262-629A-4ACC-8C5E-7A636A9049C2}" srcId="{84D0FB9A-9C7D-481B-B2DC-A521F3B6B137}" destId="{FA184060-21F7-4B23-BDA3-510393C94553}" srcOrd="1" destOrd="0" parTransId="{29B0FE0E-FBA1-4C19-BCB9-179847F03083}" sibTransId="{82772DDF-FAF6-4887-8E48-5C72E48D04D3}"/>
    <dgm:cxn modelId="{FF911F52-4543-49A6-9FFD-3E1C5EC22B0A}" type="presOf" srcId="{FA184060-21F7-4B23-BDA3-510393C94553}" destId="{C09C7786-A768-4F96-8A4A-9A36A8432FC5}" srcOrd="1" destOrd="0" presId="urn:microsoft.com/office/officeart/2005/8/layout/venn1"/>
    <dgm:cxn modelId="{B0E01E54-11DD-4AE8-8C7E-6F55EFC5E6A7}" type="presOf" srcId="{44305E0A-152B-4B8A-BBF5-B7668AD94332}" destId="{F8440C42-42D3-473C-BE39-0AA640388017}" srcOrd="1" destOrd="0" presId="urn:microsoft.com/office/officeart/2005/8/layout/venn1"/>
    <dgm:cxn modelId="{D986E17A-B8D2-4C2A-8F8E-33959C044DD0}" type="presOf" srcId="{0EB01321-4E7E-4996-AF65-33AA200AE799}" destId="{5B19E4D0-F5BA-4D1F-A15C-31F013ECBE9A}" srcOrd="1" destOrd="0" presId="urn:microsoft.com/office/officeart/2005/8/layout/venn1"/>
    <dgm:cxn modelId="{BEBD0A7B-6430-4DD7-977E-516854309126}" type="presOf" srcId="{FA184060-21F7-4B23-BDA3-510393C94553}" destId="{4DC675AF-17F4-4D14-A17F-3186F39D1183}" srcOrd="0" destOrd="0" presId="urn:microsoft.com/office/officeart/2005/8/layout/venn1"/>
    <dgm:cxn modelId="{A5FD139C-3E2B-4020-B0C6-2CD9D191AA61}" type="presOf" srcId="{0EB01321-4E7E-4996-AF65-33AA200AE799}" destId="{0FD931A2-F447-4548-93AE-7DDC92BBF3D4}" srcOrd="0" destOrd="0" presId="urn:microsoft.com/office/officeart/2005/8/layout/venn1"/>
    <dgm:cxn modelId="{D3373CFA-CADF-4D36-AF50-A79F8FA36BAD}" srcId="{84D0FB9A-9C7D-481B-B2DC-A521F3B6B137}" destId="{0EB01321-4E7E-4996-AF65-33AA200AE799}" srcOrd="0" destOrd="0" parTransId="{B82F2360-FB5E-499E-84DB-78AF6F390E11}" sibTransId="{383BD3B3-1BE9-4029-AE3B-7E577327A969}"/>
    <dgm:cxn modelId="{6896D4FB-65CA-4DDC-A9A1-59CAF3798C1B}" type="presOf" srcId="{44305E0A-152B-4B8A-BBF5-B7668AD94332}" destId="{BE536266-947B-4A3D-B8A0-3C49113B69A5}" srcOrd="0" destOrd="0" presId="urn:microsoft.com/office/officeart/2005/8/layout/venn1"/>
    <dgm:cxn modelId="{68014B8F-9403-4BA1-9296-D3B2B82A7D53}" type="presParOf" srcId="{930C7D85-8D87-4A56-BBD2-12E1686A1C48}" destId="{0FD931A2-F447-4548-93AE-7DDC92BBF3D4}" srcOrd="0" destOrd="0" presId="urn:microsoft.com/office/officeart/2005/8/layout/venn1"/>
    <dgm:cxn modelId="{09E20DBB-673B-41C1-BB9C-1FCA3F327E11}" type="presParOf" srcId="{930C7D85-8D87-4A56-BBD2-12E1686A1C48}" destId="{5B19E4D0-F5BA-4D1F-A15C-31F013ECBE9A}" srcOrd="1" destOrd="0" presId="urn:microsoft.com/office/officeart/2005/8/layout/venn1"/>
    <dgm:cxn modelId="{4CB5E989-AD13-4E2D-A1F2-4B19255782CB}" type="presParOf" srcId="{930C7D85-8D87-4A56-BBD2-12E1686A1C48}" destId="{4DC675AF-17F4-4D14-A17F-3186F39D1183}" srcOrd="2" destOrd="0" presId="urn:microsoft.com/office/officeart/2005/8/layout/venn1"/>
    <dgm:cxn modelId="{47827967-5592-469B-BD98-AAAF74A2C6AC}" type="presParOf" srcId="{930C7D85-8D87-4A56-BBD2-12E1686A1C48}" destId="{C09C7786-A768-4F96-8A4A-9A36A8432FC5}" srcOrd="3" destOrd="0" presId="urn:microsoft.com/office/officeart/2005/8/layout/venn1"/>
    <dgm:cxn modelId="{24D0C5CE-1217-46ED-940C-F0FC28EFE39F}" type="presParOf" srcId="{930C7D85-8D87-4A56-BBD2-12E1686A1C48}" destId="{BE536266-947B-4A3D-B8A0-3C49113B69A5}" srcOrd="4" destOrd="0" presId="urn:microsoft.com/office/officeart/2005/8/layout/venn1"/>
    <dgm:cxn modelId="{9533D9DB-EEC0-4FDC-8500-2BD9F8E95C71}" type="presParOf" srcId="{930C7D85-8D87-4A56-BBD2-12E1686A1C48}" destId="{F8440C42-42D3-473C-BE39-0AA640388017}" srcOrd="5"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D0FB9A-9C7D-481B-B2DC-A521F3B6B137}" type="doc">
      <dgm:prSet loTypeId="urn:microsoft.com/office/officeart/2005/8/layout/venn1" loCatId="relationship" qsTypeId="urn:microsoft.com/office/officeart/2005/8/quickstyle/simple1#2" qsCatId="simple" csTypeId="urn:microsoft.com/office/officeart/2005/8/colors/colorful1#4" csCatId="colorful" phldr="1"/>
      <dgm:spPr/>
      <dgm:t>
        <a:bodyPr/>
        <a:lstStyle/>
        <a:p>
          <a:endParaRPr lang="en-US"/>
        </a:p>
      </dgm:t>
    </dgm:pt>
    <dgm:pt modelId="{0EB01321-4E7E-4996-AF65-33AA200AE799}">
      <dgm:prSet phldrT="[Text]" phldr="0"/>
      <dgm:spPr/>
      <dgm:t>
        <a:bodyPr/>
        <a:lstStyle/>
        <a:p>
          <a:r>
            <a:rPr lang="en-US" b="1"/>
            <a:t>Environmental</a:t>
          </a:r>
        </a:p>
      </dgm:t>
    </dgm:pt>
    <dgm:pt modelId="{B82F2360-FB5E-499E-84DB-78AF6F390E11}" type="parTrans" cxnId="{D3373CFA-CADF-4D36-AF50-A79F8FA36BAD}">
      <dgm:prSet/>
      <dgm:spPr/>
      <dgm:t>
        <a:bodyPr/>
        <a:lstStyle/>
        <a:p>
          <a:endParaRPr lang="en-US"/>
        </a:p>
      </dgm:t>
    </dgm:pt>
    <dgm:pt modelId="{383BD3B3-1BE9-4029-AE3B-7E577327A969}" type="sibTrans" cxnId="{D3373CFA-CADF-4D36-AF50-A79F8FA36BAD}">
      <dgm:prSet/>
      <dgm:spPr/>
      <dgm:t>
        <a:bodyPr/>
        <a:lstStyle/>
        <a:p>
          <a:endParaRPr lang="en-US"/>
        </a:p>
      </dgm:t>
    </dgm:pt>
    <dgm:pt modelId="{FA184060-21F7-4B23-BDA3-510393C94553}">
      <dgm:prSet phldrT="[Text]" phldr="0"/>
      <dgm:spPr/>
      <dgm:t>
        <a:bodyPr/>
        <a:lstStyle/>
        <a:p>
          <a:r>
            <a:rPr lang="en-US" b="1"/>
            <a:t>Economic</a:t>
          </a:r>
        </a:p>
      </dgm:t>
    </dgm:pt>
    <dgm:pt modelId="{29B0FE0E-FBA1-4C19-BCB9-179847F03083}" type="parTrans" cxnId="{DD67C262-629A-4ACC-8C5E-7A636A9049C2}">
      <dgm:prSet/>
      <dgm:spPr/>
      <dgm:t>
        <a:bodyPr/>
        <a:lstStyle/>
        <a:p>
          <a:endParaRPr lang="en-US"/>
        </a:p>
      </dgm:t>
    </dgm:pt>
    <dgm:pt modelId="{82772DDF-FAF6-4887-8E48-5C72E48D04D3}" type="sibTrans" cxnId="{DD67C262-629A-4ACC-8C5E-7A636A9049C2}">
      <dgm:prSet/>
      <dgm:spPr/>
      <dgm:t>
        <a:bodyPr/>
        <a:lstStyle/>
        <a:p>
          <a:endParaRPr lang="en-US"/>
        </a:p>
      </dgm:t>
    </dgm:pt>
    <dgm:pt modelId="{44305E0A-152B-4B8A-BBF5-B7668AD94332}">
      <dgm:prSet phldrT="[Text]" phldr="0"/>
      <dgm:spPr/>
      <dgm:t>
        <a:bodyPr/>
        <a:lstStyle/>
        <a:p>
          <a:r>
            <a:rPr lang="en-US" b="1"/>
            <a:t>Social</a:t>
          </a:r>
        </a:p>
      </dgm:t>
    </dgm:pt>
    <dgm:pt modelId="{933D70E7-C765-41A4-911D-6E68CC1B1C32}" type="parTrans" cxnId="{B746A52C-1257-4DF4-B7D1-402DFBCA44CC}">
      <dgm:prSet/>
      <dgm:spPr/>
      <dgm:t>
        <a:bodyPr/>
        <a:lstStyle/>
        <a:p>
          <a:endParaRPr lang="en-US"/>
        </a:p>
      </dgm:t>
    </dgm:pt>
    <dgm:pt modelId="{6C49D972-8E47-44EA-BD8D-7DA7CA55DC9D}" type="sibTrans" cxnId="{B746A52C-1257-4DF4-B7D1-402DFBCA44CC}">
      <dgm:prSet/>
      <dgm:spPr/>
      <dgm:t>
        <a:bodyPr/>
        <a:lstStyle/>
        <a:p>
          <a:endParaRPr lang="en-US"/>
        </a:p>
      </dgm:t>
    </dgm:pt>
    <dgm:pt modelId="{930C7D85-8D87-4A56-BBD2-12E1686A1C48}" type="pres">
      <dgm:prSet presAssocID="{84D0FB9A-9C7D-481B-B2DC-A521F3B6B137}" presName="compositeShape" presStyleCnt="0">
        <dgm:presLayoutVars>
          <dgm:chMax val="7"/>
          <dgm:dir/>
          <dgm:resizeHandles val="exact"/>
        </dgm:presLayoutVars>
      </dgm:prSet>
      <dgm:spPr/>
    </dgm:pt>
    <dgm:pt modelId="{0FD931A2-F447-4548-93AE-7DDC92BBF3D4}" type="pres">
      <dgm:prSet presAssocID="{0EB01321-4E7E-4996-AF65-33AA200AE799}" presName="circ1" presStyleLbl="vennNode1" presStyleIdx="0" presStyleCnt="3"/>
      <dgm:spPr/>
    </dgm:pt>
    <dgm:pt modelId="{5B19E4D0-F5BA-4D1F-A15C-31F013ECBE9A}" type="pres">
      <dgm:prSet presAssocID="{0EB01321-4E7E-4996-AF65-33AA200AE799}" presName="circ1Tx" presStyleLbl="revTx" presStyleIdx="0" presStyleCnt="0">
        <dgm:presLayoutVars>
          <dgm:chMax val="0"/>
          <dgm:chPref val="0"/>
          <dgm:bulletEnabled val="1"/>
        </dgm:presLayoutVars>
      </dgm:prSet>
      <dgm:spPr/>
    </dgm:pt>
    <dgm:pt modelId="{4DC675AF-17F4-4D14-A17F-3186F39D1183}" type="pres">
      <dgm:prSet presAssocID="{FA184060-21F7-4B23-BDA3-510393C94553}" presName="circ2" presStyleLbl="vennNode1" presStyleIdx="1" presStyleCnt="3"/>
      <dgm:spPr/>
    </dgm:pt>
    <dgm:pt modelId="{C09C7786-A768-4F96-8A4A-9A36A8432FC5}" type="pres">
      <dgm:prSet presAssocID="{FA184060-21F7-4B23-BDA3-510393C94553}" presName="circ2Tx" presStyleLbl="revTx" presStyleIdx="0" presStyleCnt="0">
        <dgm:presLayoutVars>
          <dgm:chMax val="0"/>
          <dgm:chPref val="0"/>
          <dgm:bulletEnabled val="1"/>
        </dgm:presLayoutVars>
      </dgm:prSet>
      <dgm:spPr/>
    </dgm:pt>
    <dgm:pt modelId="{BE536266-947B-4A3D-B8A0-3C49113B69A5}" type="pres">
      <dgm:prSet presAssocID="{44305E0A-152B-4B8A-BBF5-B7668AD94332}" presName="circ3" presStyleLbl="vennNode1" presStyleIdx="2" presStyleCnt="3"/>
      <dgm:spPr/>
    </dgm:pt>
    <dgm:pt modelId="{F8440C42-42D3-473C-BE39-0AA640388017}" type="pres">
      <dgm:prSet presAssocID="{44305E0A-152B-4B8A-BBF5-B7668AD94332}" presName="circ3Tx" presStyleLbl="revTx" presStyleIdx="0" presStyleCnt="0">
        <dgm:presLayoutVars>
          <dgm:chMax val="0"/>
          <dgm:chPref val="0"/>
          <dgm:bulletEnabled val="1"/>
        </dgm:presLayoutVars>
      </dgm:prSet>
      <dgm:spPr/>
    </dgm:pt>
  </dgm:ptLst>
  <dgm:cxnLst>
    <dgm:cxn modelId="{7A19CA19-FE0B-4D58-B1B8-FA881BC55DA8}" type="presOf" srcId="{84D0FB9A-9C7D-481B-B2DC-A521F3B6B137}" destId="{930C7D85-8D87-4A56-BBD2-12E1686A1C48}" srcOrd="0" destOrd="0" presId="urn:microsoft.com/office/officeart/2005/8/layout/venn1"/>
    <dgm:cxn modelId="{B746A52C-1257-4DF4-B7D1-402DFBCA44CC}" srcId="{84D0FB9A-9C7D-481B-B2DC-A521F3B6B137}" destId="{44305E0A-152B-4B8A-BBF5-B7668AD94332}" srcOrd="2" destOrd="0" parTransId="{933D70E7-C765-41A4-911D-6E68CC1B1C32}" sibTransId="{6C49D972-8E47-44EA-BD8D-7DA7CA55DC9D}"/>
    <dgm:cxn modelId="{DD67C262-629A-4ACC-8C5E-7A636A9049C2}" srcId="{84D0FB9A-9C7D-481B-B2DC-A521F3B6B137}" destId="{FA184060-21F7-4B23-BDA3-510393C94553}" srcOrd="1" destOrd="0" parTransId="{29B0FE0E-FBA1-4C19-BCB9-179847F03083}" sibTransId="{82772DDF-FAF6-4887-8E48-5C72E48D04D3}"/>
    <dgm:cxn modelId="{FF911F52-4543-49A6-9FFD-3E1C5EC22B0A}" type="presOf" srcId="{FA184060-21F7-4B23-BDA3-510393C94553}" destId="{C09C7786-A768-4F96-8A4A-9A36A8432FC5}" srcOrd="1" destOrd="0" presId="urn:microsoft.com/office/officeart/2005/8/layout/venn1"/>
    <dgm:cxn modelId="{B0E01E54-11DD-4AE8-8C7E-6F55EFC5E6A7}" type="presOf" srcId="{44305E0A-152B-4B8A-BBF5-B7668AD94332}" destId="{F8440C42-42D3-473C-BE39-0AA640388017}" srcOrd="1" destOrd="0" presId="urn:microsoft.com/office/officeart/2005/8/layout/venn1"/>
    <dgm:cxn modelId="{D986E17A-B8D2-4C2A-8F8E-33959C044DD0}" type="presOf" srcId="{0EB01321-4E7E-4996-AF65-33AA200AE799}" destId="{5B19E4D0-F5BA-4D1F-A15C-31F013ECBE9A}" srcOrd="1" destOrd="0" presId="urn:microsoft.com/office/officeart/2005/8/layout/venn1"/>
    <dgm:cxn modelId="{BEBD0A7B-6430-4DD7-977E-516854309126}" type="presOf" srcId="{FA184060-21F7-4B23-BDA3-510393C94553}" destId="{4DC675AF-17F4-4D14-A17F-3186F39D1183}" srcOrd="0" destOrd="0" presId="urn:microsoft.com/office/officeart/2005/8/layout/venn1"/>
    <dgm:cxn modelId="{A5FD139C-3E2B-4020-B0C6-2CD9D191AA61}" type="presOf" srcId="{0EB01321-4E7E-4996-AF65-33AA200AE799}" destId="{0FD931A2-F447-4548-93AE-7DDC92BBF3D4}" srcOrd="0" destOrd="0" presId="urn:microsoft.com/office/officeart/2005/8/layout/venn1"/>
    <dgm:cxn modelId="{D3373CFA-CADF-4D36-AF50-A79F8FA36BAD}" srcId="{84D0FB9A-9C7D-481B-B2DC-A521F3B6B137}" destId="{0EB01321-4E7E-4996-AF65-33AA200AE799}" srcOrd="0" destOrd="0" parTransId="{B82F2360-FB5E-499E-84DB-78AF6F390E11}" sibTransId="{383BD3B3-1BE9-4029-AE3B-7E577327A969}"/>
    <dgm:cxn modelId="{6896D4FB-65CA-4DDC-A9A1-59CAF3798C1B}" type="presOf" srcId="{44305E0A-152B-4B8A-BBF5-B7668AD94332}" destId="{BE536266-947B-4A3D-B8A0-3C49113B69A5}" srcOrd="0" destOrd="0" presId="urn:microsoft.com/office/officeart/2005/8/layout/venn1"/>
    <dgm:cxn modelId="{68014B8F-9403-4BA1-9296-D3B2B82A7D53}" type="presParOf" srcId="{930C7D85-8D87-4A56-BBD2-12E1686A1C48}" destId="{0FD931A2-F447-4548-93AE-7DDC92BBF3D4}" srcOrd="0" destOrd="0" presId="urn:microsoft.com/office/officeart/2005/8/layout/venn1"/>
    <dgm:cxn modelId="{09E20DBB-673B-41C1-BB9C-1FCA3F327E11}" type="presParOf" srcId="{930C7D85-8D87-4A56-BBD2-12E1686A1C48}" destId="{5B19E4D0-F5BA-4D1F-A15C-31F013ECBE9A}" srcOrd="1" destOrd="0" presId="urn:microsoft.com/office/officeart/2005/8/layout/venn1"/>
    <dgm:cxn modelId="{4CB5E989-AD13-4E2D-A1F2-4B19255782CB}" type="presParOf" srcId="{930C7D85-8D87-4A56-BBD2-12E1686A1C48}" destId="{4DC675AF-17F4-4D14-A17F-3186F39D1183}" srcOrd="2" destOrd="0" presId="urn:microsoft.com/office/officeart/2005/8/layout/venn1"/>
    <dgm:cxn modelId="{47827967-5592-469B-BD98-AAAF74A2C6AC}" type="presParOf" srcId="{930C7D85-8D87-4A56-BBD2-12E1686A1C48}" destId="{C09C7786-A768-4F96-8A4A-9A36A8432FC5}" srcOrd="3" destOrd="0" presId="urn:microsoft.com/office/officeart/2005/8/layout/venn1"/>
    <dgm:cxn modelId="{24D0C5CE-1217-46ED-940C-F0FC28EFE39F}" type="presParOf" srcId="{930C7D85-8D87-4A56-BBD2-12E1686A1C48}" destId="{BE536266-947B-4A3D-B8A0-3C49113B69A5}" srcOrd="4" destOrd="0" presId="urn:microsoft.com/office/officeart/2005/8/layout/venn1"/>
    <dgm:cxn modelId="{9533D9DB-EEC0-4FDC-8500-2BD9F8E95C71}" type="presParOf" srcId="{930C7D85-8D87-4A56-BBD2-12E1686A1C48}" destId="{F8440C42-42D3-473C-BE39-0AA640388017}" srcOrd="5"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D0FB9A-9C7D-481B-B2DC-A521F3B6B137}" type="doc">
      <dgm:prSet loTypeId="urn:microsoft.com/office/officeart/2005/8/layout/venn1" loCatId="relationship" qsTypeId="urn:microsoft.com/office/officeart/2005/8/quickstyle/simple1#2" qsCatId="simple" csTypeId="urn:microsoft.com/office/officeart/2005/8/colors/colorful1#4" csCatId="colorful" phldr="1"/>
      <dgm:spPr/>
      <dgm:t>
        <a:bodyPr/>
        <a:lstStyle/>
        <a:p>
          <a:endParaRPr lang="en-US"/>
        </a:p>
      </dgm:t>
    </dgm:pt>
    <dgm:pt modelId="{0EB01321-4E7E-4996-AF65-33AA200AE799}">
      <dgm:prSet phldrT="[Text]" phldr="0"/>
      <dgm:spPr/>
      <dgm:t>
        <a:bodyPr/>
        <a:lstStyle/>
        <a:p>
          <a:r>
            <a:rPr lang="en-US" b="1"/>
            <a:t>Environmental</a:t>
          </a:r>
        </a:p>
      </dgm:t>
    </dgm:pt>
    <dgm:pt modelId="{B82F2360-FB5E-499E-84DB-78AF6F390E11}" type="parTrans" cxnId="{D3373CFA-CADF-4D36-AF50-A79F8FA36BAD}">
      <dgm:prSet/>
      <dgm:spPr/>
      <dgm:t>
        <a:bodyPr/>
        <a:lstStyle/>
        <a:p>
          <a:endParaRPr lang="en-US"/>
        </a:p>
      </dgm:t>
    </dgm:pt>
    <dgm:pt modelId="{383BD3B3-1BE9-4029-AE3B-7E577327A969}" type="sibTrans" cxnId="{D3373CFA-CADF-4D36-AF50-A79F8FA36BAD}">
      <dgm:prSet/>
      <dgm:spPr/>
      <dgm:t>
        <a:bodyPr/>
        <a:lstStyle/>
        <a:p>
          <a:endParaRPr lang="en-US"/>
        </a:p>
      </dgm:t>
    </dgm:pt>
    <dgm:pt modelId="{FA184060-21F7-4B23-BDA3-510393C94553}">
      <dgm:prSet phldrT="[Text]" phldr="0"/>
      <dgm:spPr/>
      <dgm:t>
        <a:bodyPr/>
        <a:lstStyle/>
        <a:p>
          <a:r>
            <a:rPr lang="en-US" b="1"/>
            <a:t>Economic</a:t>
          </a:r>
        </a:p>
      </dgm:t>
    </dgm:pt>
    <dgm:pt modelId="{29B0FE0E-FBA1-4C19-BCB9-179847F03083}" type="parTrans" cxnId="{DD67C262-629A-4ACC-8C5E-7A636A9049C2}">
      <dgm:prSet/>
      <dgm:spPr/>
      <dgm:t>
        <a:bodyPr/>
        <a:lstStyle/>
        <a:p>
          <a:endParaRPr lang="en-US"/>
        </a:p>
      </dgm:t>
    </dgm:pt>
    <dgm:pt modelId="{82772DDF-FAF6-4887-8E48-5C72E48D04D3}" type="sibTrans" cxnId="{DD67C262-629A-4ACC-8C5E-7A636A9049C2}">
      <dgm:prSet/>
      <dgm:spPr/>
      <dgm:t>
        <a:bodyPr/>
        <a:lstStyle/>
        <a:p>
          <a:endParaRPr lang="en-US"/>
        </a:p>
      </dgm:t>
    </dgm:pt>
    <dgm:pt modelId="{44305E0A-152B-4B8A-BBF5-B7668AD94332}">
      <dgm:prSet phldrT="[Text]" phldr="0"/>
      <dgm:spPr/>
      <dgm:t>
        <a:bodyPr/>
        <a:lstStyle/>
        <a:p>
          <a:r>
            <a:rPr lang="en-US" b="1"/>
            <a:t>Social</a:t>
          </a:r>
        </a:p>
      </dgm:t>
    </dgm:pt>
    <dgm:pt modelId="{933D70E7-C765-41A4-911D-6E68CC1B1C32}" type="parTrans" cxnId="{B746A52C-1257-4DF4-B7D1-402DFBCA44CC}">
      <dgm:prSet/>
      <dgm:spPr/>
      <dgm:t>
        <a:bodyPr/>
        <a:lstStyle/>
        <a:p>
          <a:endParaRPr lang="en-US"/>
        </a:p>
      </dgm:t>
    </dgm:pt>
    <dgm:pt modelId="{6C49D972-8E47-44EA-BD8D-7DA7CA55DC9D}" type="sibTrans" cxnId="{B746A52C-1257-4DF4-B7D1-402DFBCA44CC}">
      <dgm:prSet/>
      <dgm:spPr/>
      <dgm:t>
        <a:bodyPr/>
        <a:lstStyle/>
        <a:p>
          <a:endParaRPr lang="en-US"/>
        </a:p>
      </dgm:t>
    </dgm:pt>
    <dgm:pt modelId="{930C7D85-8D87-4A56-BBD2-12E1686A1C48}" type="pres">
      <dgm:prSet presAssocID="{84D0FB9A-9C7D-481B-B2DC-A521F3B6B137}" presName="compositeShape" presStyleCnt="0">
        <dgm:presLayoutVars>
          <dgm:chMax val="7"/>
          <dgm:dir/>
          <dgm:resizeHandles val="exact"/>
        </dgm:presLayoutVars>
      </dgm:prSet>
      <dgm:spPr/>
    </dgm:pt>
    <dgm:pt modelId="{0FD931A2-F447-4548-93AE-7DDC92BBF3D4}" type="pres">
      <dgm:prSet presAssocID="{0EB01321-4E7E-4996-AF65-33AA200AE799}" presName="circ1" presStyleLbl="vennNode1" presStyleIdx="0" presStyleCnt="3" custLinFactX="38555" custLinFactNeighborX="100000" custLinFactNeighborY="62900"/>
      <dgm:spPr/>
    </dgm:pt>
    <dgm:pt modelId="{5B19E4D0-F5BA-4D1F-A15C-31F013ECBE9A}" type="pres">
      <dgm:prSet presAssocID="{0EB01321-4E7E-4996-AF65-33AA200AE799}" presName="circ1Tx" presStyleLbl="revTx" presStyleIdx="0" presStyleCnt="0">
        <dgm:presLayoutVars>
          <dgm:chMax val="0"/>
          <dgm:chPref val="0"/>
          <dgm:bulletEnabled val="1"/>
        </dgm:presLayoutVars>
      </dgm:prSet>
      <dgm:spPr/>
    </dgm:pt>
    <dgm:pt modelId="{4DC675AF-17F4-4D14-A17F-3186F39D1183}" type="pres">
      <dgm:prSet presAssocID="{FA184060-21F7-4B23-BDA3-510393C94553}" presName="circ2" presStyleLbl="vennNode1" presStyleIdx="1" presStyleCnt="3" custLinFactNeighborX="-33984" custLinFactNeighborY="2822"/>
      <dgm:spPr/>
    </dgm:pt>
    <dgm:pt modelId="{C09C7786-A768-4F96-8A4A-9A36A8432FC5}" type="pres">
      <dgm:prSet presAssocID="{FA184060-21F7-4B23-BDA3-510393C94553}" presName="circ2Tx" presStyleLbl="revTx" presStyleIdx="0" presStyleCnt="0">
        <dgm:presLayoutVars>
          <dgm:chMax val="0"/>
          <dgm:chPref val="0"/>
          <dgm:bulletEnabled val="1"/>
        </dgm:presLayoutVars>
      </dgm:prSet>
      <dgm:spPr/>
    </dgm:pt>
    <dgm:pt modelId="{BE536266-947B-4A3D-B8A0-3C49113B69A5}" type="pres">
      <dgm:prSet presAssocID="{44305E0A-152B-4B8A-BBF5-B7668AD94332}" presName="circ3" presStyleLbl="vennNode1" presStyleIdx="2" presStyleCnt="3" custLinFactX="-2309" custLinFactNeighborX="-100000" custLinFactNeighborY="-3955"/>
      <dgm:spPr/>
    </dgm:pt>
    <dgm:pt modelId="{F8440C42-42D3-473C-BE39-0AA640388017}" type="pres">
      <dgm:prSet presAssocID="{44305E0A-152B-4B8A-BBF5-B7668AD94332}" presName="circ3Tx" presStyleLbl="revTx" presStyleIdx="0" presStyleCnt="0">
        <dgm:presLayoutVars>
          <dgm:chMax val="0"/>
          <dgm:chPref val="0"/>
          <dgm:bulletEnabled val="1"/>
        </dgm:presLayoutVars>
      </dgm:prSet>
      <dgm:spPr/>
    </dgm:pt>
  </dgm:ptLst>
  <dgm:cxnLst>
    <dgm:cxn modelId="{7A19CA19-FE0B-4D58-B1B8-FA881BC55DA8}" type="presOf" srcId="{84D0FB9A-9C7D-481B-B2DC-A521F3B6B137}" destId="{930C7D85-8D87-4A56-BBD2-12E1686A1C48}" srcOrd="0" destOrd="0" presId="urn:microsoft.com/office/officeart/2005/8/layout/venn1"/>
    <dgm:cxn modelId="{B746A52C-1257-4DF4-B7D1-402DFBCA44CC}" srcId="{84D0FB9A-9C7D-481B-B2DC-A521F3B6B137}" destId="{44305E0A-152B-4B8A-BBF5-B7668AD94332}" srcOrd="2" destOrd="0" parTransId="{933D70E7-C765-41A4-911D-6E68CC1B1C32}" sibTransId="{6C49D972-8E47-44EA-BD8D-7DA7CA55DC9D}"/>
    <dgm:cxn modelId="{DD67C262-629A-4ACC-8C5E-7A636A9049C2}" srcId="{84D0FB9A-9C7D-481B-B2DC-A521F3B6B137}" destId="{FA184060-21F7-4B23-BDA3-510393C94553}" srcOrd="1" destOrd="0" parTransId="{29B0FE0E-FBA1-4C19-BCB9-179847F03083}" sibTransId="{82772DDF-FAF6-4887-8E48-5C72E48D04D3}"/>
    <dgm:cxn modelId="{FF911F52-4543-49A6-9FFD-3E1C5EC22B0A}" type="presOf" srcId="{FA184060-21F7-4B23-BDA3-510393C94553}" destId="{C09C7786-A768-4F96-8A4A-9A36A8432FC5}" srcOrd="1" destOrd="0" presId="urn:microsoft.com/office/officeart/2005/8/layout/venn1"/>
    <dgm:cxn modelId="{B0E01E54-11DD-4AE8-8C7E-6F55EFC5E6A7}" type="presOf" srcId="{44305E0A-152B-4B8A-BBF5-B7668AD94332}" destId="{F8440C42-42D3-473C-BE39-0AA640388017}" srcOrd="1" destOrd="0" presId="urn:microsoft.com/office/officeart/2005/8/layout/venn1"/>
    <dgm:cxn modelId="{D986E17A-B8D2-4C2A-8F8E-33959C044DD0}" type="presOf" srcId="{0EB01321-4E7E-4996-AF65-33AA200AE799}" destId="{5B19E4D0-F5BA-4D1F-A15C-31F013ECBE9A}" srcOrd="1" destOrd="0" presId="urn:microsoft.com/office/officeart/2005/8/layout/venn1"/>
    <dgm:cxn modelId="{BEBD0A7B-6430-4DD7-977E-516854309126}" type="presOf" srcId="{FA184060-21F7-4B23-BDA3-510393C94553}" destId="{4DC675AF-17F4-4D14-A17F-3186F39D1183}" srcOrd="0" destOrd="0" presId="urn:microsoft.com/office/officeart/2005/8/layout/venn1"/>
    <dgm:cxn modelId="{A5FD139C-3E2B-4020-B0C6-2CD9D191AA61}" type="presOf" srcId="{0EB01321-4E7E-4996-AF65-33AA200AE799}" destId="{0FD931A2-F447-4548-93AE-7DDC92BBF3D4}" srcOrd="0" destOrd="0" presId="urn:microsoft.com/office/officeart/2005/8/layout/venn1"/>
    <dgm:cxn modelId="{D3373CFA-CADF-4D36-AF50-A79F8FA36BAD}" srcId="{84D0FB9A-9C7D-481B-B2DC-A521F3B6B137}" destId="{0EB01321-4E7E-4996-AF65-33AA200AE799}" srcOrd="0" destOrd="0" parTransId="{B82F2360-FB5E-499E-84DB-78AF6F390E11}" sibTransId="{383BD3B3-1BE9-4029-AE3B-7E577327A969}"/>
    <dgm:cxn modelId="{6896D4FB-65CA-4DDC-A9A1-59CAF3798C1B}" type="presOf" srcId="{44305E0A-152B-4B8A-BBF5-B7668AD94332}" destId="{BE536266-947B-4A3D-B8A0-3C49113B69A5}" srcOrd="0" destOrd="0" presId="urn:microsoft.com/office/officeart/2005/8/layout/venn1"/>
    <dgm:cxn modelId="{68014B8F-9403-4BA1-9296-D3B2B82A7D53}" type="presParOf" srcId="{930C7D85-8D87-4A56-BBD2-12E1686A1C48}" destId="{0FD931A2-F447-4548-93AE-7DDC92BBF3D4}" srcOrd="0" destOrd="0" presId="urn:microsoft.com/office/officeart/2005/8/layout/venn1"/>
    <dgm:cxn modelId="{09E20DBB-673B-41C1-BB9C-1FCA3F327E11}" type="presParOf" srcId="{930C7D85-8D87-4A56-BBD2-12E1686A1C48}" destId="{5B19E4D0-F5BA-4D1F-A15C-31F013ECBE9A}" srcOrd="1" destOrd="0" presId="urn:microsoft.com/office/officeart/2005/8/layout/venn1"/>
    <dgm:cxn modelId="{4CB5E989-AD13-4E2D-A1F2-4B19255782CB}" type="presParOf" srcId="{930C7D85-8D87-4A56-BBD2-12E1686A1C48}" destId="{4DC675AF-17F4-4D14-A17F-3186F39D1183}" srcOrd="2" destOrd="0" presId="urn:microsoft.com/office/officeart/2005/8/layout/venn1"/>
    <dgm:cxn modelId="{47827967-5592-469B-BD98-AAAF74A2C6AC}" type="presParOf" srcId="{930C7D85-8D87-4A56-BBD2-12E1686A1C48}" destId="{C09C7786-A768-4F96-8A4A-9A36A8432FC5}" srcOrd="3" destOrd="0" presId="urn:microsoft.com/office/officeart/2005/8/layout/venn1"/>
    <dgm:cxn modelId="{24D0C5CE-1217-46ED-940C-F0FC28EFE39F}" type="presParOf" srcId="{930C7D85-8D87-4A56-BBD2-12E1686A1C48}" destId="{BE536266-947B-4A3D-B8A0-3C49113B69A5}" srcOrd="4" destOrd="0" presId="urn:microsoft.com/office/officeart/2005/8/layout/venn1"/>
    <dgm:cxn modelId="{9533D9DB-EEC0-4FDC-8500-2BD9F8E95C71}" type="presParOf" srcId="{930C7D85-8D87-4A56-BBD2-12E1686A1C48}" destId="{F8440C42-42D3-473C-BE39-0AA640388017}" srcOrd="5"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4D0FB9A-9C7D-481B-B2DC-A521F3B6B137}" type="doc">
      <dgm:prSet loTypeId="urn:microsoft.com/office/officeart/2005/8/layout/venn1" loCatId="relationship" qsTypeId="urn:microsoft.com/office/officeart/2005/8/quickstyle/simple1#2" qsCatId="simple" csTypeId="urn:microsoft.com/office/officeart/2005/8/colors/colorful1#4" csCatId="colorful" phldr="1"/>
      <dgm:spPr/>
      <dgm:t>
        <a:bodyPr/>
        <a:lstStyle/>
        <a:p>
          <a:endParaRPr lang="en-US"/>
        </a:p>
      </dgm:t>
    </dgm:pt>
    <dgm:pt modelId="{0EB01321-4E7E-4996-AF65-33AA200AE799}">
      <dgm:prSet phldrT="[Text]" phldr="0"/>
      <dgm:spPr/>
      <dgm:t>
        <a:bodyPr/>
        <a:lstStyle/>
        <a:p>
          <a:r>
            <a:rPr lang="en-US" b="1"/>
            <a:t>Environmental</a:t>
          </a:r>
        </a:p>
      </dgm:t>
    </dgm:pt>
    <dgm:pt modelId="{B82F2360-FB5E-499E-84DB-78AF6F390E11}" type="parTrans" cxnId="{D3373CFA-CADF-4D36-AF50-A79F8FA36BAD}">
      <dgm:prSet/>
      <dgm:spPr/>
      <dgm:t>
        <a:bodyPr/>
        <a:lstStyle/>
        <a:p>
          <a:endParaRPr lang="en-US"/>
        </a:p>
      </dgm:t>
    </dgm:pt>
    <dgm:pt modelId="{383BD3B3-1BE9-4029-AE3B-7E577327A969}" type="sibTrans" cxnId="{D3373CFA-CADF-4D36-AF50-A79F8FA36BAD}">
      <dgm:prSet/>
      <dgm:spPr/>
      <dgm:t>
        <a:bodyPr/>
        <a:lstStyle/>
        <a:p>
          <a:endParaRPr lang="en-US"/>
        </a:p>
      </dgm:t>
    </dgm:pt>
    <dgm:pt modelId="{FA184060-21F7-4B23-BDA3-510393C94553}">
      <dgm:prSet phldrT="[Text]" phldr="0"/>
      <dgm:spPr/>
      <dgm:t>
        <a:bodyPr/>
        <a:lstStyle/>
        <a:p>
          <a:r>
            <a:rPr lang="en-US" b="1"/>
            <a:t>Economic</a:t>
          </a:r>
        </a:p>
      </dgm:t>
    </dgm:pt>
    <dgm:pt modelId="{29B0FE0E-FBA1-4C19-BCB9-179847F03083}" type="parTrans" cxnId="{DD67C262-629A-4ACC-8C5E-7A636A9049C2}">
      <dgm:prSet/>
      <dgm:spPr/>
      <dgm:t>
        <a:bodyPr/>
        <a:lstStyle/>
        <a:p>
          <a:endParaRPr lang="en-US"/>
        </a:p>
      </dgm:t>
    </dgm:pt>
    <dgm:pt modelId="{82772DDF-FAF6-4887-8E48-5C72E48D04D3}" type="sibTrans" cxnId="{DD67C262-629A-4ACC-8C5E-7A636A9049C2}">
      <dgm:prSet/>
      <dgm:spPr/>
      <dgm:t>
        <a:bodyPr/>
        <a:lstStyle/>
        <a:p>
          <a:endParaRPr lang="en-US"/>
        </a:p>
      </dgm:t>
    </dgm:pt>
    <dgm:pt modelId="{44305E0A-152B-4B8A-BBF5-B7668AD94332}">
      <dgm:prSet phldrT="[Text]" phldr="0"/>
      <dgm:spPr/>
      <dgm:t>
        <a:bodyPr/>
        <a:lstStyle/>
        <a:p>
          <a:r>
            <a:rPr lang="en-US" b="1"/>
            <a:t>Social</a:t>
          </a:r>
        </a:p>
      </dgm:t>
    </dgm:pt>
    <dgm:pt modelId="{933D70E7-C765-41A4-911D-6E68CC1B1C32}" type="parTrans" cxnId="{B746A52C-1257-4DF4-B7D1-402DFBCA44CC}">
      <dgm:prSet/>
      <dgm:spPr/>
      <dgm:t>
        <a:bodyPr/>
        <a:lstStyle/>
        <a:p>
          <a:endParaRPr lang="en-US"/>
        </a:p>
      </dgm:t>
    </dgm:pt>
    <dgm:pt modelId="{6C49D972-8E47-44EA-BD8D-7DA7CA55DC9D}" type="sibTrans" cxnId="{B746A52C-1257-4DF4-B7D1-402DFBCA44CC}">
      <dgm:prSet/>
      <dgm:spPr/>
      <dgm:t>
        <a:bodyPr/>
        <a:lstStyle/>
        <a:p>
          <a:endParaRPr lang="en-US"/>
        </a:p>
      </dgm:t>
    </dgm:pt>
    <dgm:pt modelId="{930C7D85-8D87-4A56-BBD2-12E1686A1C48}" type="pres">
      <dgm:prSet presAssocID="{84D0FB9A-9C7D-481B-B2DC-A521F3B6B137}" presName="compositeShape" presStyleCnt="0">
        <dgm:presLayoutVars>
          <dgm:chMax val="7"/>
          <dgm:dir/>
          <dgm:resizeHandles val="exact"/>
        </dgm:presLayoutVars>
      </dgm:prSet>
      <dgm:spPr/>
    </dgm:pt>
    <dgm:pt modelId="{0FD931A2-F447-4548-93AE-7DDC92BBF3D4}" type="pres">
      <dgm:prSet presAssocID="{0EB01321-4E7E-4996-AF65-33AA200AE799}" presName="circ1" presStyleLbl="vennNode1" presStyleIdx="0" presStyleCnt="3" custLinFactX="38555" custLinFactNeighborX="100000" custLinFactNeighborY="62900"/>
      <dgm:spPr/>
    </dgm:pt>
    <dgm:pt modelId="{5B19E4D0-F5BA-4D1F-A15C-31F013ECBE9A}" type="pres">
      <dgm:prSet presAssocID="{0EB01321-4E7E-4996-AF65-33AA200AE799}" presName="circ1Tx" presStyleLbl="revTx" presStyleIdx="0" presStyleCnt="0">
        <dgm:presLayoutVars>
          <dgm:chMax val="0"/>
          <dgm:chPref val="0"/>
          <dgm:bulletEnabled val="1"/>
        </dgm:presLayoutVars>
      </dgm:prSet>
      <dgm:spPr/>
    </dgm:pt>
    <dgm:pt modelId="{4DC675AF-17F4-4D14-A17F-3186F39D1183}" type="pres">
      <dgm:prSet presAssocID="{FA184060-21F7-4B23-BDA3-510393C94553}" presName="circ2" presStyleLbl="vennNode1" presStyleIdx="1" presStyleCnt="3" custLinFactNeighborX="-33984" custLinFactNeighborY="2822"/>
      <dgm:spPr/>
    </dgm:pt>
    <dgm:pt modelId="{C09C7786-A768-4F96-8A4A-9A36A8432FC5}" type="pres">
      <dgm:prSet presAssocID="{FA184060-21F7-4B23-BDA3-510393C94553}" presName="circ2Tx" presStyleLbl="revTx" presStyleIdx="0" presStyleCnt="0">
        <dgm:presLayoutVars>
          <dgm:chMax val="0"/>
          <dgm:chPref val="0"/>
          <dgm:bulletEnabled val="1"/>
        </dgm:presLayoutVars>
      </dgm:prSet>
      <dgm:spPr/>
    </dgm:pt>
    <dgm:pt modelId="{BE536266-947B-4A3D-B8A0-3C49113B69A5}" type="pres">
      <dgm:prSet presAssocID="{44305E0A-152B-4B8A-BBF5-B7668AD94332}" presName="circ3" presStyleLbl="vennNode1" presStyleIdx="2" presStyleCnt="3" custLinFactX="-2309" custLinFactNeighborX="-100000" custLinFactNeighborY="-3955"/>
      <dgm:spPr/>
    </dgm:pt>
    <dgm:pt modelId="{F8440C42-42D3-473C-BE39-0AA640388017}" type="pres">
      <dgm:prSet presAssocID="{44305E0A-152B-4B8A-BBF5-B7668AD94332}" presName="circ3Tx" presStyleLbl="revTx" presStyleIdx="0" presStyleCnt="0">
        <dgm:presLayoutVars>
          <dgm:chMax val="0"/>
          <dgm:chPref val="0"/>
          <dgm:bulletEnabled val="1"/>
        </dgm:presLayoutVars>
      </dgm:prSet>
      <dgm:spPr/>
    </dgm:pt>
  </dgm:ptLst>
  <dgm:cxnLst>
    <dgm:cxn modelId="{7A19CA19-FE0B-4D58-B1B8-FA881BC55DA8}" type="presOf" srcId="{84D0FB9A-9C7D-481B-B2DC-A521F3B6B137}" destId="{930C7D85-8D87-4A56-BBD2-12E1686A1C48}" srcOrd="0" destOrd="0" presId="urn:microsoft.com/office/officeart/2005/8/layout/venn1"/>
    <dgm:cxn modelId="{B746A52C-1257-4DF4-B7D1-402DFBCA44CC}" srcId="{84D0FB9A-9C7D-481B-B2DC-A521F3B6B137}" destId="{44305E0A-152B-4B8A-BBF5-B7668AD94332}" srcOrd="2" destOrd="0" parTransId="{933D70E7-C765-41A4-911D-6E68CC1B1C32}" sibTransId="{6C49D972-8E47-44EA-BD8D-7DA7CA55DC9D}"/>
    <dgm:cxn modelId="{DD67C262-629A-4ACC-8C5E-7A636A9049C2}" srcId="{84D0FB9A-9C7D-481B-B2DC-A521F3B6B137}" destId="{FA184060-21F7-4B23-BDA3-510393C94553}" srcOrd="1" destOrd="0" parTransId="{29B0FE0E-FBA1-4C19-BCB9-179847F03083}" sibTransId="{82772DDF-FAF6-4887-8E48-5C72E48D04D3}"/>
    <dgm:cxn modelId="{FF911F52-4543-49A6-9FFD-3E1C5EC22B0A}" type="presOf" srcId="{FA184060-21F7-4B23-BDA3-510393C94553}" destId="{C09C7786-A768-4F96-8A4A-9A36A8432FC5}" srcOrd="1" destOrd="0" presId="urn:microsoft.com/office/officeart/2005/8/layout/venn1"/>
    <dgm:cxn modelId="{B0E01E54-11DD-4AE8-8C7E-6F55EFC5E6A7}" type="presOf" srcId="{44305E0A-152B-4B8A-BBF5-B7668AD94332}" destId="{F8440C42-42D3-473C-BE39-0AA640388017}" srcOrd="1" destOrd="0" presId="urn:microsoft.com/office/officeart/2005/8/layout/venn1"/>
    <dgm:cxn modelId="{D986E17A-B8D2-4C2A-8F8E-33959C044DD0}" type="presOf" srcId="{0EB01321-4E7E-4996-AF65-33AA200AE799}" destId="{5B19E4D0-F5BA-4D1F-A15C-31F013ECBE9A}" srcOrd="1" destOrd="0" presId="urn:microsoft.com/office/officeart/2005/8/layout/venn1"/>
    <dgm:cxn modelId="{BEBD0A7B-6430-4DD7-977E-516854309126}" type="presOf" srcId="{FA184060-21F7-4B23-BDA3-510393C94553}" destId="{4DC675AF-17F4-4D14-A17F-3186F39D1183}" srcOrd="0" destOrd="0" presId="urn:microsoft.com/office/officeart/2005/8/layout/venn1"/>
    <dgm:cxn modelId="{A5FD139C-3E2B-4020-B0C6-2CD9D191AA61}" type="presOf" srcId="{0EB01321-4E7E-4996-AF65-33AA200AE799}" destId="{0FD931A2-F447-4548-93AE-7DDC92BBF3D4}" srcOrd="0" destOrd="0" presId="urn:microsoft.com/office/officeart/2005/8/layout/venn1"/>
    <dgm:cxn modelId="{D3373CFA-CADF-4D36-AF50-A79F8FA36BAD}" srcId="{84D0FB9A-9C7D-481B-B2DC-A521F3B6B137}" destId="{0EB01321-4E7E-4996-AF65-33AA200AE799}" srcOrd="0" destOrd="0" parTransId="{B82F2360-FB5E-499E-84DB-78AF6F390E11}" sibTransId="{383BD3B3-1BE9-4029-AE3B-7E577327A969}"/>
    <dgm:cxn modelId="{6896D4FB-65CA-4DDC-A9A1-59CAF3798C1B}" type="presOf" srcId="{44305E0A-152B-4B8A-BBF5-B7668AD94332}" destId="{BE536266-947B-4A3D-B8A0-3C49113B69A5}" srcOrd="0" destOrd="0" presId="urn:microsoft.com/office/officeart/2005/8/layout/venn1"/>
    <dgm:cxn modelId="{68014B8F-9403-4BA1-9296-D3B2B82A7D53}" type="presParOf" srcId="{930C7D85-8D87-4A56-BBD2-12E1686A1C48}" destId="{0FD931A2-F447-4548-93AE-7DDC92BBF3D4}" srcOrd="0" destOrd="0" presId="urn:microsoft.com/office/officeart/2005/8/layout/venn1"/>
    <dgm:cxn modelId="{09E20DBB-673B-41C1-BB9C-1FCA3F327E11}" type="presParOf" srcId="{930C7D85-8D87-4A56-BBD2-12E1686A1C48}" destId="{5B19E4D0-F5BA-4D1F-A15C-31F013ECBE9A}" srcOrd="1" destOrd="0" presId="urn:microsoft.com/office/officeart/2005/8/layout/venn1"/>
    <dgm:cxn modelId="{4CB5E989-AD13-4E2D-A1F2-4B19255782CB}" type="presParOf" srcId="{930C7D85-8D87-4A56-BBD2-12E1686A1C48}" destId="{4DC675AF-17F4-4D14-A17F-3186F39D1183}" srcOrd="2" destOrd="0" presId="urn:microsoft.com/office/officeart/2005/8/layout/venn1"/>
    <dgm:cxn modelId="{47827967-5592-469B-BD98-AAAF74A2C6AC}" type="presParOf" srcId="{930C7D85-8D87-4A56-BBD2-12E1686A1C48}" destId="{C09C7786-A768-4F96-8A4A-9A36A8432FC5}" srcOrd="3" destOrd="0" presId="urn:microsoft.com/office/officeart/2005/8/layout/venn1"/>
    <dgm:cxn modelId="{24D0C5CE-1217-46ED-940C-F0FC28EFE39F}" type="presParOf" srcId="{930C7D85-8D87-4A56-BBD2-12E1686A1C48}" destId="{BE536266-947B-4A3D-B8A0-3C49113B69A5}" srcOrd="4" destOrd="0" presId="urn:microsoft.com/office/officeart/2005/8/layout/venn1"/>
    <dgm:cxn modelId="{9533D9DB-EEC0-4FDC-8500-2BD9F8E95C71}" type="presParOf" srcId="{930C7D85-8D87-4A56-BBD2-12E1686A1C48}" destId="{F8440C42-42D3-473C-BE39-0AA640388017}" srcOrd="5"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4D0FB9A-9C7D-481B-B2DC-A521F3B6B137}" type="doc">
      <dgm:prSet loTypeId="urn:microsoft.com/office/officeart/2005/8/layout/venn1" loCatId="relationship" qsTypeId="urn:microsoft.com/office/officeart/2005/8/quickstyle/simple1#2" qsCatId="simple" csTypeId="urn:microsoft.com/office/officeart/2005/8/colors/colorful1#4" csCatId="colorful" phldr="1"/>
      <dgm:spPr/>
      <dgm:t>
        <a:bodyPr/>
        <a:lstStyle/>
        <a:p>
          <a:endParaRPr lang="en-US"/>
        </a:p>
      </dgm:t>
    </dgm:pt>
    <dgm:pt modelId="{0EB01321-4E7E-4996-AF65-33AA200AE799}">
      <dgm:prSet phldrT="[Text]" phldr="0"/>
      <dgm:spPr/>
      <dgm:t>
        <a:bodyPr/>
        <a:lstStyle/>
        <a:p>
          <a:r>
            <a:rPr lang="en-US" b="1"/>
            <a:t>Environmental</a:t>
          </a:r>
        </a:p>
      </dgm:t>
    </dgm:pt>
    <dgm:pt modelId="{B82F2360-FB5E-499E-84DB-78AF6F390E11}" type="parTrans" cxnId="{D3373CFA-CADF-4D36-AF50-A79F8FA36BAD}">
      <dgm:prSet/>
      <dgm:spPr/>
      <dgm:t>
        <a:bodyPr/>
        <a:lstStyle/>
        <a:p>
          <a:endParaRPr lang="en-US"/>
        </a:p>
      </dgm:t>
    </dgm:pt>
    <dgm:pt modelId="{383BD3B3-1BE9-4029-AE3B-7E577327A969}" type="sibTrans" cxnId="{D3373CFA-CADF-4D36-AF50-A79F8FA36BAD}">
      <dgm:prSet/>
      <dgm:spPr/>
      <dgm:t>
        <a:bodyPr/>
        <a:lstStyle/>
        <a:p>
          <a:endParaRPr lang="en-US"/>
        </a:p>
      </dgm:t>
    </dgm:pt>
    <dgm:pt modelId="{FA184060-21F7-4B23-BDA3-510393C94553}">
      <dgm:prSet phldrT="[Text]" phldr="0"/>
      <dgm:spPr/>
      <dgm:t>
        <a:bodyPr/>
        <a:lstStyle/>
        <a:p>
          <a:r>
            <a:rPr lang="en-US" b="1"/>
            <a:t>Economic</a:t>
          </a:r>
        </a:p>
      </dgm:t>
    </dgm:pt>
    <dgm:pt modelId="{29B0FE0E-FBA1-4C19-BCB9-179847F03083}" type="parTrans" cxnId="{DD67C262-629A-4ACC-8C5E-7A636A9049C2}">
      <dgm:prSet/>
      <dgm:spPr/>
      <dgm:t>
        <a:bodyPr/>
        <a:lstStyle/>
        <a:p>
          <a:endParaRPr lang="en-US"/>
        </a:p>
      </dgm:t>
    </dgm:pt>
    <dgm:pt modelId="{82772DDF-FAF6-4887-8E48-5C72E48D04D3}" type="sibTrans" cxnId="{DD67C262-629A-4ACC-8C5E-7A636A9049C2}">
      <dgm:prSet/>
      <dgm:spPr/>
      <dgm:t>
        <a:bodyPr/>
        <a:lstStyle/>
        <a:p>
          <a:endParaRPr lang="en-US"/>
        </a:p>
      </dgm:t>
    </dgm:pt>
    <dgm:pt modelId="{44305E0A-152B-4B8A-BBF5-B7668AD94332}">
      <dgm:prSet phldrT="[Text]" phldr="0"/>
      <dgm:spPr/>
      <dgm:t>
        <a:bodyPr/>
        <a:lstStyle/>
        <a:p>
          <a:r>
            <a:rPr lang="en-US" b="1"/>
            <a:t>Social</a:t>
          </a:r>
        </a:p>
      </dgm:t>
    </dgm:pt>
    <dgm:pt modelId="{933D70E7-C765-41A4-911D-6E68CC1B1C32}" type="parTrans" cxnId="{B746A52C-1257-4DF4-B7D1-402DFBCA44CC}">
      <dgm:prSet/>
      <dgm:spPr/>
      <dgm:t>
        <a:bodyPr/>
        <a:lstStyle/>
        <a:p>
          <a:endParaRPr lang="en-US"/>
        </a:p>
      </dgm:t>
    </dgm:pt>
    <dgm:pt modelId="{6C49D972-8E47-44EA-BD8D-7DA7CA55DC9D}" type="sibTrans" cxnId="{B746A52C-1257-4DF4-B7D1-402DFBCA44CC}">
      <dgm:prSet/>
      <dgm:spPr/>
      <dgm:t>
        <a:bodyPr/>
        <a:lstStyle/>
        <a:p>
          <a:endParaRPr lang="en-US"/>
        </a:p>
      </dgm:t>
    </dgm:pt>
    <dgm:pt modelId="{930C7D85-8D87-4A56-BBD2-12E1686A1C48}" type="pres">
      <dgm:prSet presAssocID="{84D0FB9A-9C7D-481B-B2DC-A521F3B6B137}" presName="compositeShape" presStyleCnt="0">
        <dgm:presLayoutVars>
          <dgm:chMax val="7"/>
          <dgm:dir/>
          <dgm:resizeHandles val="exact"/>
        </dgm:presLayoutVars>
      </dgm:prSet>
      <dgm:spPr/>
    </dgm:pt>
    <dgm:pt modelId="{0FD931A2-F447-4548-93AE-7DDC92BBF3D4}" type="pres">
      <dgm:prSet presAssocID="{0EB01321-4E7E-4996-AF65-33AA200AE799}" presName="circ1" presStyleLbl="vennNode1" presStyleIdx="0" presStyleCnt="3" custLinFactX="38555" custLinFactNeighborX="100000" custLinFactNeighborY="62900"/>
      <dgm:spPr/>
    </dgm:pt>
    <dgm:pt modelId="{5B19E4D0-F5BA-4D1F-A15C-31F013ECBE9A}" type="pres">
      <dgm:prSet presAssocID="{0EB01321-4E7E-4996-AF65-33AA200AE799}" presName="circ1Tx" presStyleLbl="revTx" presStyleIdx="0" presStyleCnt="0">
        <dgm:presLayoutVars>
          <dgm:chMax val="0"/>
          <dgm:chPref val="0"/>
          <dgm:bulletEnabled val="1"/>
        </dgm:presLayoutVars>
      </dgm:prSet>
      <dgm:spPr/>
    </dgm:pt>
    <dgm:pt modelId="{4DC675AF-17F4-4D14-A17F-3186F39D1183}" type="pres">
      <dgm:prSet presAssocID="{FA184060-21F7-4B23-BDA3-510393C94553}" presName="circ2" presStyleLbl="vennNode1" presStyleIdx="1" presStyleCnt="3" custLinFactNeighborX="-33984" custLinFactNeighborY="2822"/>
      <dgm:spPr/>
    </dgm:pt>
    <dgm:pt modelId="{C09C7786-A768-4F96-8A4A-9A36A8432FC5}" type="pres">
      <dgm:prSet presAssocID="{FA184060-21F7-4B23-BDA3-510393C94553}" presName="circ2Tx" presStyleLbl="revTx" presStyleIdx="0" presStyleCnt="0">
        <dgm:presLayoutVars>
          <dgm:chMax val="0"/>
          <dgm:chPref val="0"/>
          <dgm:bulletEnabled val="1"/>
        </dgm:presLayoutVars>
      </dgm:prSet>
      <dgm:spPr/>
    </dgm:pt>
    <dgm:pt modelId="{BE536266-947B-4A3D-B8A0-3C49113B69A5}" type="pres">
      <dgm:prSet presAssocID="{44305E0A-152B-4B8A-BBF5-B7668AD94332}" presName="circ3" presStyleLbl="vennNode1" presStyleIdx="2" presStyleCnt="3" custLinFactX="-2309" custLinFactNeighborX="-100000" custLinFactNeighborY="-3955"/>
      <dgm:spPr/>
    </dgm:pt>
    <dgm:pt modelId="{F8440C42-42D3-473C-BE39-0AA640388017}" type="pres">
      <dgm:prSet presAssocID="{44305E0A-152B-4B8A-BBF5-B7668AD94332}" presName="circ3Tx" presStyleLbl="revTx" presStyleIdx="0" presStyleCnt="0">
        <dgm:presLayoutVars>
          <dgm:chMax val="0"/>
          <dgm:chPref val="0"/>
          <dgm:bulletEnabled val="1"/>
        </dgm:presLayoutVars>
      </dgm:prSet>
      <dgm:spPr/>
    </dgm:pt>
  </dgm:ptLst>
  <dgm:cxnLst>
    <dgm:cxn modelId="{7A19CA19-FE0B-4D58-B1B8-FA881BC55DA8}" type="presOf" srcId="{84D0FB9A-9C7D-481B-B2DC-A521F3B6B137}" destId="{930C7D85-8D87-4A56-BBD2-12E1686A1C48}" srcOrd="0" destOrd="0" presId="urn:microsoft.com/office/officeart/2005/8/layout/venn1"/>
    <dgm:cxn modelId="{B746A52C-1257-4DF4-B7D1-402DFBCA44CC}" srcId="{84D0FB9A-9C7D-481B-B2DC-A521F3B6B137}" destId="{44305E0A-152B-4B8A-BBF5-B7668AD94332}" srcOrd="2" destOrd="0" parTransId="{933D70E7-C765-41A4-911D-6E68CC1B1C32}" sibTransId="{6C49D972-8E47-44EA-BD8D-7DA7CA55DC9D}"/>
    <dgm:cxn modelId="{DD67C262-629A-4ACC-8C5E-7A636A9049C2}" srcId="{84D0FB9A-9C7D-481B-B2DC-A521F3B6B137}" destId="{FA184060-21F7-4B23-BDA3-510393C94553}" srcOrd="1" destOrd="0" parTransId="{29B0FE0E-FBA1-4C19-BCB9-179847F03083}" sibTransId="{82772DDF-FAF6-4887-8E48-5C72E48D04D3}"/>
    <dgm:cxn modelId="{FF911F52-4543-49A6-9FFD-3E1C5EC22B0A}" type="presOf" srcId="{FA184060-21F7-4B23-BDA3-510393C94553}" destId="{C09C7786-A768-4F96-8A4A-9A36A8432FC5}" srcOrd="1" destOrd="0" presId="urn:microsoft.com/office/officeart/2005/8/layout/venn1"/>
    <dgm:cxn modelId="{B0E01E54-11DD-4AE8-8C7E-6F55EFC5E6A7}" type="presOf" srcId="{44305E0A-152B-4B8A-BBF5-B7668AD94332}" destId="{F8440C42-42D3-473C-BE39-0AA640388017}" srcOrd="1" destOrd="0" presId="urn:microsoft.com/office/officeart/2005/8/layout/venn1"/>
    <dgm:cxn modelId="{D986E17A-B8D2-4C2A-8F8E-33959C044DD0}" type="presOf" srcId="{0EB01321-4E7E-4996-AF65-33AA200AE799}" destId="{5B19E4D0-F5BA-4D1F-A15C-31F013ECBE9A}" srcOrd="1" destOrd="0" presId="urn:microsoft.com/office/officeart/2005/8/layout/venn1"/>
    <dgm:cxn modelId="{BEBD0A7B-6430-4DD7-977E-516854309126}" type="presOf" srcId="{FA184060-21F7-4B23-BDA3-510393C94553}" destId="{4DC675AF-17F4-4D14-A17F-3186F39D1183}" srcOrd="0" destOrd="0" presId="urn:microsoft.com/office/officeart/2005/8/layout/venn1"/>
    <dgm:cxn modelId="{A5FD139C-3E2B-4020-B0C6-2CD9D191AA61}" type="presOf" srcId="{0EB01321-4E7E-4996-AF65-33AA200AE799}" destId="{0FD931A2-F447-4548-93AE-7DDC92BBF3D4}" srcOrd="0" destOrd="0" presId="urn:microsoft.com/office/officeart/2005/8/layout/venn1"/>
    <dgm:cxn modelId="{D3373CFA-CADF-4D36-AF50-A79F8FA36BAD}" srcId="{84D0FB9A-9C7D-481B-B2DC-A521F3B6B137}" destId="{0EB01321-4E7E-4996-AF65-33AA200AE799}" srcOrd="0" destOrd="0" parTransId="{B82F2360-FB5E-499E-84DB-78AF6F390E11}" sibTransId="{383BD3B3-1BE9-4029-AE3B-7E577327A969}"/>
    <dgm:cxn modelId="{6896D4FB-65CA-4DDC-A9A1-59CAF3798C1B}" type="presOf" srcId="{44305E0A-152B-4B8A-BBF5-B7668AD94332}" destId="{BE536266-947B-4A3D-B8A0-3C49113B69A5}" srcOrd="0" destOrd="0" presId="urn:microsoft.com/office/officeart/2005/8/layout/venn1"/>
    <dgm:cxn modelId="{68014B8F-9403-4BA1-9296-D3B2B82A7D53}" type="presParOf" srcId="{930C7D85-8D87-4A56-BBD2-12E1686A1C48}" destId="{0FD931A2-F447-4548-93AE-7DDC92BBF3D4}" srcOrd="0" destOrd="0" presId="urn:microsoft.com/office/officeart/2005/8/layout/venn1"/>
    <dgm:cxn modelId="{09E20DBB-673B-41C1-BB9C-1FCA3F327E11}" type="presParOf" srcId="{930C7D85-8D87-4A56-BBD2-12E1686A1C48}" destId="{5B19E4D0-F5BA-4D1F-A15C-31F013ECBE9A}" srcOrd="1" destOrd="0" presId="urn:microsoft.com/office/officeart/2005/8/layout/venn1"/>
    <dgm:cxn modelId="{4CB5E989-AD13-4E2D-A1F2-4B19255782CB}" type="presParOf" srcId="{930C7D85-8D87-4A56-BBD2-12E1686A1C48}" destId="{4DC675AF-17F4-4D14-A17F-3186F39D1183}" srcOrd="2" destOrd="0" presId="urn:microsoft.com/office/officeart/2005/8/layout/venn1"/>
    <dgm:cxn modelId="{47827967-5592-469B-BD98-AAAF74A2C6AC}" type="presParOf" srcId="{930C7D85-8D87-4A56-BBD2-12E1686A1C48}" destId="{C09C7786-A768-4F96-8A4A-9A36A8432FC5}" srcOrd="3" destOrd="0" presId="urn:microsoft.com/office/officeart/2005/8/layout/venn1"/>
    <dgm:cxn modelId="{24D0C5CE-1217-46ED-940C-F0FC28EFE39F}" type="presParOf" srcId="{930C7D85-8D87-4A56-BBD2-12E1686A1C48}" destId="{BE536266-947B-4A3D-B8A0-3C49113B69A5}" srcOrd="4" destOrd="0" presId="urn:microsoft.com/office/officeart/2005/8/layout/venn1"/>
    <dgm:cxn modelId="{9533D9DB-EEC0-4FDC-8500-2BD9F8E95C71}" type="presParOf" srcId="{930C7D85-8D87-4A56-BBD2-12E1686A1C48}" destId="{F8440C42-42D3-473C-BE39-0AA640388017}" srcOrd="5"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4D0FB9A-9C7D-481B-B2DC-A521F3B6B137}" type="doc">
      <dgm:prSet loTypeId="urn:microsoft.com/office/officeart/2005/8/layout/venn1" loCatId="relationship" qsTypeId="urn:microsoft.com/office/officeart/2005/8/quickstyle/simple1#2" qsCatId="simple" csTypeId="urn:microsoft.com/office/officeart/2005/8/colors/colorful1#4" csCatId="colorful" phldr="1"/>
      <dgm:spPr/>
      <dgm:t>
        <a:bodyPr/>
        <a:lstStyle/>
        <a:p>
          <a:endParaRPr lang="en-US"/>
        </a:p>
      </dgm:t>
    </dgm:pt>
    <dgm:pt modelId="{0EB01321-4E7E-4996-AF65-33AA200AE799}">
      <dgm:prSet phldrT="[Text]" phldr="0"/>
      <dgm:spPr/>
      <dgm:t>
        <a:bodyPr/>
        <a:lstStyle/>
        <a:p>
          <a:r>
            <a:rPr lang="en-US" b="1"/>
            <a:t>Environmental</a:t>
          </a:r>
        </a:p>
      </dgm:t>
    </dgm:pt>
    <dgm:pt modelId="{B82F2360-FB5E-499E-84DB-78AF6F390E11}" type="parTrans" cxnId="{D3373CFA-CADF-4D36-AF50-A79F8FA36BAD}">
      <dgm:prSet/>
      <dgm:spPr/>
      <dgm:t>
        <a:bodyPr/>
        <a:lstStyle/>
        <a:p>
          <a:endParaRPr lang="en-US"/>
        </a:p>
      </dgm:t>
    </dgm:pt>
    <dgm:pt modelId="{383BD3B3-1BE9-4029-AE3B-7E577327A969}" type="sibTrans" cxnId="{D3373CFA-CADF-4D36-AF50-A79F8FA36BAD}">
      <dgm:prSet/>
      <dgm:spPr/>
      <dgm:t>
        <a:bodyPr/>
        <a:lstStyle/>
        <a:p>
          <a:endParaRPr lang="en-US"/>
        </a:p>
      </dgm:t>
    </dgm:pt>
    <dgm:pt modelId="{FA184060-21F7-4B23-BDA3-510393C94553}">
      <dgm:prSet phldrT="[Text]" phldr="0"/>
      <dgm:spPr/>
      <dgm:t>
        <a:bodyPr/>
        <a:lstStyle/>
        <a:p>
          <a:r>
            <a:rPr lang="en-US" b="1"/>
            <a:t>Economic</a:t>
          </a:r>
        </a:p>
      </dgm:t>
    </dgm:pt>
    <dgm:pt modelId="{29B0FE0E-FBA1-4C19-BCB9-179847F03083}" type="parTrans" cxnId="{DD67C262-629A-4ACC-8C5E-7A636A9049C2}">
      <dgm:prSet/>
      <dgm:spPr/>
      <dgm:t>
        <a:bodyPr/>
        <a:lstStyle/>
        <a:p>
          <a:endParaRPr lang="en-US"/>
        </a:p>
      </dgm:t>
    </dgm:pt>
    <dgm:pt modelId="{82772DDF-FAF6-4887-8E48-5C72E48D04D3}" type="sibTrans" cxnId="{DD67C262-629A-4ACC-8C5E-7A636A9049C2}">
      <dgm:prSet/>
      <dgm:spPr/>
      <dgm:t>
        <a:bodyPr/>
        <a:lstStyle/>
        <a:p>
          <a:endParaRPr lang="en-US"/>
        </a:p>
      </dgm:t>
    </dgm:pt>
    <dgm:pt modelId="{44305E0A-152B-4B8A-BBF5-B7668AD94332}">
      <dgm:prSet phldrT="[Text]" phldr="0"/>
      <dgm:spPr/>
      <dgm:t>
        <a:bodyPr/>
        <a:lstStyle/>
        <a:p>
          <a:r>
            <a:rPr lang="en-US" b="1"/>
            <a:t>Social</a:t>
          </a:r>
        </a:p>
      </dgm:t>
    </dgm:pt>
    <dgm:pt modelId="{933D70E7-C765-41A4-911D-6E68CC1B1C32}" type="parTrans" cxnId="{B746A52C-1257-4DF4-B7D1-402DFBCA44CC}">
      <dgm:prSet/>
      <dgm:spPr/>
      <dgm:t>
        <a:bodyPr/>
        <a:lstStyle/>
        <a:p>
          <a:endParaRPr lang="en-US"/>
        </a:p>
      </dgm:t>
    </dgm:pt>
    <dgm:pt modelId="{6C49D972-8E47-44EA-BD8D-7DA7CA55DC9D}" type="sibTrans" cxnId="{B746A52C-1257-4DF4-B7D1-402DFBCA44CC}">
      <dgm:prSet/>
      <dgm:spPr/>
      <dgm:t>
        <a:bodyPr/>
        <a:lstStyle/>
        <a:p>
          <a:endParaRPr lang="en-US"/>
        </a:p>
      </dgm:t>
    </dgm:pt>
    <dgm:pt modelId="{930C7D85-8D87-4A56-BBD2-12E1686A1C48}" type="pres">
      <dgm:prSet presAssocID="{84D0FB9A-9C7D-481B-B2DC-A521F3B6B137}" presName="compositeShape" presStyleCnt="0">
        <dgm:presLayoutVars>
          <dgm:chMax val="7"/>
          <dgm:dir/>
          <dgm:resizeHandles val="exact"/>
        </dgm:presLayoutVars>
      </dgm:prSet>
      <dgm:spPr/>
    </dgm:pt>
    <dgm:pt modelId="{0FD931A2-F447-4548-93AE-7DDC92BBF3D4}" type="pres">
      <dgm:prSet presAssocID="{0EB01321-4E7E-4996-AF65-33AA200AE799}" presName="circ1" presStyleLbl="vennNode1" presStyleIdx="0" presStyleCnt="3" custLinFactX="38555" custLinFactNeighborX="100000" custLinFactNeighborY="62900"/>
      <dgm:spPr/>
    </dgm:pt>
    <dgm:pt modelId="{5B19E4D0-F5BA-4D1F-A15C-31F013ECBE9A}" type="pres">
      <dgm:prSet presAssocID="{0EB01321-4E7E-4996-AF65-33AA200AE799}" presName="circ1Tx" presStyleLbl="revTx" presStyleIdx="0" presStyleCnt="0">
        <dgm:presLayoutVars>
          <dgm:chMax val="0"/>
          <dgm:chPref val="0"/>
          <dgm:bulletEnabled val="1"/>
        </dgm:presLayoutVars>
      </dgm:prSet>
      <dgm:spPr/>
    </dgm:pt>
    <dgm:pt modelId="{4DC675AF-17F4-4D14-A17F-3186F39D1183}" type="pres">
      <dgm:prSet presAssocID="{FA184060-21F7-4B23-BDA3-510393C94553}" presName="circ2" presStyleLbl="vennNode1" presStyleIdx="1" presStyleCnt="3" custLinFactNeighborX="-33984" custLinFactNeighborY="2822"/>
      <dgm:spPr/>
    </dgm:pt>
    <dgm:pt modelId="{C09C7786-A768-4F96-8A4A-9A36A8432FC5}" type="pres">
      <dgm:prSet presAssocID="{FA184060-21F7-4B23-BDA3-510393C94553}" presName="circ2Tx" presStyleLbl="revTx" presStyleIdx="0" presStyleCnt="0">
        <dgm:presLayoutVars>
          <dgm:chMax val="0"/>
          <dgm:chPref val="0"/>
          <dgm:bulletEnabled val="1"/>
        </dgm:presLayoutVars>
      </dgm:prSet>
      <dgm:spPr/>
    </dgm:pt>
    <dgm:pt modelId="{BE536266-947B-4A3D-B8A0-3C49113B69A5}" type="pres">
      <dgm:prSet presAssocID="{44305E0A-152B-4B8A-BBF5-B7668AD94332}" presName="circ3" presStyleLbl="vennNode1" presStyleIdx="2" presStyleCnt="3" custLinFactX="-2309" custLinFactNeighborX="-100000" custLinFactNeighborY="-3955"/>
      <dgm:spPr/>
    </dgm:pt>
    <dgm:pt modelId="{F8440C42-42D3-473C-BE39-0AA640388017}" type="pres">
      <dgm:prSet presAssocID="{44305E0A-152B-4B8A-BBF5-B7668AD94332}" presName="circ3Tx" presStyleLbl="revTx" presStyleIdx="0" presStyleCnt="0">
        <dgm:presLayoutVars>
          <dgm:chMax val="0"/>
          <dgm:chPref val="0"/>
          <dgm:bulletEnabled val="1"/>
        </dgm:presLayoutVars>
      </dgm:prSet>
      <dgm:spPr/>
    </dgm:pt>
  </dgm:ptLst>
  <dgm:cxnLst>
    <dgm:cxn modelId="{7A19CA19-FE0B-4D58-B1B8-FA881BC55DA8}" type="presOf" srcId="{84D0FB9A-9C7D-481B-B2DC-A521F3B6B137}" destId="{930C7D85-8D87-4A56-BBD2-12E1686A1C48}" srcOrd="0" destOrd="0" presId="urn:microsoft.com/office/officeart/2005/8/layout/venn1"/>
    <dgm:cxn modelId="{B746A52C-1257-4DF4-B7D1-402DFBCA44CC}" srcId="{84D0FB9A-9C7D-481B-B2DC-A521F3B6B137}" destId="{44305E0A-152B-4B8A-BBF5-B7668AD94332}" srcOrd="2" destOrd="0" parTransId="{933D70E7-C765-41A4-911D-6E68CC1B1C32}" sibTransId="{6C49D972-8E47-44EA-BD8D-7DA7CA55DC9D}"/>
    <dgm:cxn modelId="{DD67C262-629A-4ACC-8C5E-7A636A9049C2}" srcId="{84D0FB9A-9C7D-481B-B2DC-A521F3B6B137}" destId="{FA184060-21F7-4B23-BDA3-510393C94553}" srcOrd="1" destOrd="0" parTransId="{29B0FE0E-FBA1-4C19-BCB9-179847F03083}" sibTransId="{82772DDF-FAF6-4887-8E48-5C72E48D04D3}"/>
    <dgm:cxn modelId="{FF911F52-4543-49A6-9FFD-3E1C5EC22B0A}" type="presOf" srcId="{FA184060-21F7-4B23-BDA3-510393C94553}" destId="{C09C7786-A768-4F96-8A4A-9A36A8432FC5}" srcOrd="1" destOrd="0" presId="urn:microsoft.com/office/officeart/2005/8/layout/venn1"/>
    <dgm:cxn modelId="{B0E01E54-11DD-4AE8-8C7E-6F55EFC5E6A7}" type="presOf" srcId="{44305E0A-152B-4B8A-BBF5-B7668AD94332}" destId="{F8440C42-42D3-473C-BE39-0AA640388017}" srcOrd="1" destOrd="0" presId="urn:microsoft.com/office/officeart/2005/8/layout/venn1"/>
    <dgm:cxn modelId="{D986E17A-B8D2-4C2A-8F8E-33959C044DD0}" type="presOf" srcId="{0EB01321-4E7E-4996-AF65-33AA200AE799}" destId="{5B19E4D0-F5BA-4D1F-A15C-31F013ECBE9A}" srcOrd="1" destOrd="0" presId="urn:microsoft.com/office/officeart/2005/8/layout/venn1"/>
    <dgm:cxn modelId="{BEBD0A7B-6430-4DD7-977E-516854309126}" type="presOf" srcId="{FA184060-21F7-4B23-BDA3-510393C94553}" destId="{4DC675AF-17F4-4D14-A17F-3186F39D1183}" srcOrd="0" destOrd="0" presId="urn:microsoft.com/office/officeart/2005/8/layout/venn1"/>
    <dgm:cxn modelId="{A5FD139C-3E2B-4020-B0C6-2CD9D191AA61}" type="presOf" srcId="{0EB01321-4E7E-4996-AF65-33AA200AE799}" destId="{0FD931A2-F447-4548-93AE-7DDC92BBF3D4}" srcOrd="0" destOrd="0" presId="urn:microsoft.com/office/officeart/2005/8/layout/venn1"/>
    <dgm:cxn modelId="{D3373CFA-CADF-4D36-AF50-A79F8FA36BAD}" srcId="{84D0FB9A-9C7D-481B-B2DC-A521F3B6B137}" destId="{0EB01321-4E7E-4996-AF65-33AA200AE799}" srcOrd="0" destOrd="0" parTransId="{B82F2360-FB5E-499E-84DB-78AF6F390E11}" sibTransId="{383BD3B3-1BE9-4029-AE3B-7E577327A969}"/>
    <dgm:cxn modelId="{6896D4FB-65CA-4DDC-A9A1-59CAF3798C1B}" type="presOf" srcId="{44305E0A-152B-4B8A-BBF5-B7668AD94332}" destId="{BE536266-947B-4A3D-B8A0-3C49113B69A5}" srcOrd="0" destOrd="0" presId="urn:microsoft.com/office/officeart/2005/8/layout/venn1"/>
    <dgm:cxn modelId="{68014B8F-9403-4BA1-9296-D3B2B82A7D53}" type="presParOf" srcId="{930C7D85-8D87-4A56-BBD2-12E1686A1C48}" destId="{0FD931A2-F447-4548-93AE-7DDC92BBF3D4}" srcOrd="0" destOrd="0" presId="urn:microsoft.com/office/officeart/2005/8/layout/venn1"/>
    <dgm:cxn modelId="{09E20DBB-673B-41C1-BB9C-1FCA3F327E11}" type="presParOf" srcId="{930C7D85-8D87-4A56-BBD2-12E1686A1C48}" destId="{5B19E4D0-F5BA-4D1F-A15C-31F013ECBE9A}" srcOrd="1" destOrd="0" presId="urn:microsoft.com/office/officeart/2005/8/layout/venn1"/>
    <dgm:cxn modelId="{4CB5E989-AD13-4E2D-A1F2-4B19255782CB}" type="presParOf" srcId="{930C7D85-8D87-4A56-BBD2-12E1686A1C48}" destId="{4DC675AF-17F4-4D14-A17F-3186F39D1183}" srcOrd="2" destOrd="0" presId="urn:microsoft.com/office/officeart/2005/8/layout/venn1"/>
    <dgm:cxn modelId="{47827967-5592-469B-BD98-AAAF74A2C6AC}" type="presParOf" srcId="{930C7D85-8D87-4A56-BBD2-12E1686A1C48}" destId="{C09C7786-A768-4F96-8A4A-9A36A8432FC5}" srcOrd="3" destOrd="0" presId="urn:microsoft.com/office/officeart/2005/8/layout/venn1"/>
    <dgm:cxn modelId="{24D0C5CE-1217-46ED-940C-F0FC28EFE39F}" type="presParOf" srcId="{930C7D85-8D87-4A56-BBD2-12E1686A1C48}" destId="{BE536266-947B-4A3D-B8A0-3C49113B69A5}" srcOrd="4" destOrd="0" presId="urn:microsoft.com/office/officeart/2005/8/layout/venn1"/>
    <dgm:cxn modelId="{9533D9DB-EEC0-4FDC-8500-2BD9F8E95C71}" type="presParOf" srcId="{930C7D85-8D87-4A56-BBD2-12E1686A1C48}" destId="{F8440C42-42D3-473C-BE39-0AA640388017}" srcOrd="5"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7A96A6-862F-4FFB-9942-4728ED120703}">
      <dsp:nvSpPr>
        <dsp:cNvPr id="0" name=""/>
        <dsp:cNvSpPr/>
      </dsp:nvSpPr>
      <dsp:spPr>
        <a:xfrm>
          <a:off x="1358638" y="61641"/>
          <a:ext cx="2958802" cy="2958802"/>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r>
            <a:rPr lang="en-US" sz="3300" kern="1200"/>
            <a:t>Information</a:t>
          </a:r>
        </a:p>
      </dsp:txBody>
      <dsp:txXfrm>
        <a:off x="1753145" y="579432"/>
        <a:ext cx="2169788" cy="1331461"/>
      </dsp:txXfrm>
    </dsp:sp>
    <dsp:sp modelId="{2307E9B7-24DD-47BC-A3FA-814A055FFD61}">
      <dsp:nvSpPr>
        <dsp:cNvPr id="0" name=""/>
        <dsp:cNvSpPr/>
      </dsp:nvSpPr>
      <dsp:spPr>
        <a:xfrm>
          <a:off x="2426273" y="1910893"/>
          <a:ext cx="2958802" cy="2958802"/>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r>
            <a:rPr lang="en-US" sz="3300" kern="1200"/>
            <a:t>Material</a:t>
          </a:r>
        </a:p>
      </dsp:txBody>
      <dsp:txXfrm>
        <a:off x="3331173" y="2675250"/>
        <a:ext cx="1775281" cy="1627341"/>
      </dsp:txXfrm>
    </dsp:sp>
    <dsp:sp modelId="{E5D25444-A55E-4F91-AF2D-9E01231EE6F2}">
      <dsp:nvSpPr>
        <dsp:cNvPr id="0" name=""/>
        <dsp:cNvSpPr/>
      </dsp:nvSpPr>
      <dsp:spPr>
        <a:xfrm>
          <a:off x="291003" y="1910893"/>
          <a:ext cx="2958802" cy="2958802"/>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r>
            <a:rPr lang="en-US" sz="3300" kern="1200"/>
            <a:t>Energy</a:t>
          </a:r>
        </a:p>
      </dsp:txBody>
      <dsp:txXfrm>
        <a:off x="569624" y="2675250"/>
        <a:ext cx="1775281" cy="16273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931A2-F447-4548-93AE-7DDC92BBF3D4}">
      <dsp:nvSpPr>
        <dsp:cNvPr id="0" name=""/>
        <dsp:cNvSpPr/>
      </dsp:nvSpPr>
      <dsp:spPr>
        <a:xfrm>
          <a:off x="1675246" y="41062"/>
          <a:ext cx="1971013" cy="1971013"/>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Environmental</a:t>
          </a:r>
        </a:p>
      </dsp:txBody>
      <dsp:txXfrm>
        <a:off x="1938047" y="385990"/>
        <a:ext cx="1445410" cy="886956"/>
      </dsp:txXfrm>
    </dsp:sp>
    <dsp:sp modelId="{4DC675AF-17F4-4D14-A17F-3186F39D1183}">
      <dsp:nvSpPr>
        <dsp:cNvPr id="0" name=""/>
        <dsp:cNvSpPr/>
      </dsp:nvSpPr>
      <dsp:spPr>
        <a:xfrm>
          <a:off x="2386453" y="1272946"/>
          <a:ext cx="1971013" cy="1971013"/>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Economic</a:t>
          </a:r>
        </a:p>
      </dsp:txBody>
      <dsp:txXfrm>
        <a:off x="2989255" y="1782124"/>
        <a:ext cx="1182608" cy="1084057"/>
      </dsp:txXfrm>
    </dsp:sp>
    <dsp:sp modelId="{BE536266-947B-4A3D-B8A0-3C49113B69A5}">
      <dsp:nvSpPr>
        <dsp:cNvPr id="0" name=""/>
        <dsp:cNvSpPr/>
      </dsp:nvSpPr>
      <dsp:spPr>
        <a:xfrm>
          <a:off x="964038" y="1272946"/>
          <a:ext cx="1971013" cy="1971013"/>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Social</a:t>
          </a:r>
        </a:p>
      </dsp:txBody>
      <dsp:txXfrm>
        <a:off x="1149642" y="1782124"/>
        <a:ext cx="1182608" cy="10840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931A2-F447-4548-93AE-7DDC92BBF3D4}">
      <dsp:nvSpPr>
        <dsp:cNvPr id="0" name=""/>
        <dsp:cNvSpPr/>
      </dsp:nvSpPr>
      <dsp:spPr>
        <a:xfrm>
          <a:off x="1675246" y="41062"/>
          <a:ext cx="1971013" cy="1971013"/>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Environmental</a:t>
          </a:r>
        </a:p>
      </dsp:txBody>
      <dsp:txXfrm>
        <a:off x="1938047" y="385990"/>
        <a:ext cx="1445410" cy="886956"/>
      </dsp:txXfrm>
    </dsp:sp>
    <dsp:sp modelId="{4DC675AF-17F4-4D14-A17F-3186F39D1183}">
      <dsp:nvSpPr>
        <dsp:cNvPr id="0" name=""/>
        <dsp:cNvSpPr/>
      </dsp:nvSpPr>
      <dsp:spPr>
        <a:xfrm>
          <a:off x="2386453" y="1272946"/>
          <a:ext cx="1971013" cy="1971013"/>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Economic</a:t>
          </a:r>
        </a:p>
      </dsp:txBody>
      <dsp:txXfrm>
        <a:off x="2989255" y="1782124"/>
        <a:ext cx="1182608" cy="1084057"/>
      </dsp:txXfrm>
    </dsp:sp>
    <dsp:sp modelId="{BE536266-947B-4A3D-B8A0-3C49113B69A5}">
      <dsp:nvSpPr>
        <dsp:cNvPr id="0" name=""/>
        <dsp:cNvSpPr/>
      </dsp:nvSpPr>
      <dsp:spPr>
        <a:xfrm>
          <a:off x="964038" y="1272946"/>
          <a:ext cx="1971013" cy="1971013"/>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Social</a:t>
          </a:r>
        </a:p>
      </dsp:txBody>
      <dsp:txXfrm>
        <a:off x="1149642" y="1782124"/>
        <a:ext cx="1182608" cy="10840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931A2-F447-4548-93AE-7DDC92BBF3D4}">
      <dsp:nvSpPr>
        <dsp:cNvPr id="0" name=""/>
        <dsp:cNvSpPr/>
      </dsp:nvSpPr>
      <dsp:spPr>
        <a:xfrm>
          <a:off x="5439124" y="1280830"/>
          <a:ext cx="1971013" cy="1971013"/>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Environmental</a:t>
          </a:r>
        </a:p>
      </dsp:txBody>
      <dsp:txXfrm>
        <a:off x="5701926" y="1625757"/>
        <a:ext cx="1445410" cy="886956"/>
      </dsp:txXfrm>
    </dsp:sp>
    <dsp:sp modelId="{4DC675AF-17F4-4D14-A17F-3186F39D1183}">
      <dsp:nvSpPr>
        <dsp:cNvPr id="0" name=""/>
        <dsp:cNvSpPr/>
      </dsp:nvSpPr>
      <dsp:spPr>
        <a:xfrm>
          <a:off x="2760940" y="1314009"/>
          <a:ext cx="1971013" cy="1971013"/>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Economic</a:t>
          </a:r>
        </a:p>
      </dsp:txBody>
      <dsp:txXfrm>
        <a:off x="3363741" y="1823187"/>
        <a:ext cx="1182608" cy="1084057"/>
      </dsp:txXfrm>
    </dsp:sp>
    <dsp:sp modelId="{BE536266-947B-4A3D-B8A0-3C49113B69A5}">
      <dsp:nvSpPr>
        <dsp:cNvPr id="0" name=""/>
        <dsp:cNvSpPr/>
      </dsp:nvSpPr>
      <dsp:spPr>
        <a:xfrm>
          <a:off x="0" y="1194992"/>
          <a:ext cx="1971013" cy="1971013"/>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Social</a:t>
          </a:r>
        </a:p>
      </dsp:txBody>
      <dsp:txXfrm>
        <a:off x="185603" y="1704171"/>
        <a:ext cx="1182608" cy="10840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931A2-F447-4548-93AE-7DDC92BBF3D4}">
      <dsp:nvSpPr>
        <dsp:cNvPr id="0" name=""/>
        <dsp:cNvSpPr/>
      </dsp:nvSpPr>
      <dsp:spPr>
        <a:xfrm>
          <a:off x="5439124" y="1280830"/>
          <a:ext cx="1971013" cy="1971013"/>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Environmental</a:t>
          </a:r>
        </a:p>
      </dsp:txBody>
      <dsp:txXfrm>
        <a:off x="5701926" y="1625757"/>
        <a:ext cx="1445410" cy="886956"/>
      </dsp:txXfrm>
    </dsp:sp>
    <dsp:sp modelId="{4DC675AF-17F4-4D14-A17F-3186F39D1183}">
      <dsp:nvSpPr>
        <dsp:cNvPr id="0" name=""/>
        <dsp:cNvSpPr/>
      </dsp:nvSpPr>
      <dsp:spPr>
        <a:xfrm>
          <a:off x="2760940" y="1314009"/>
          <a:ext cx="1971013" cy="1971013"/>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Economic</a:t>
          </a:r>
        </a:p>
      </dsp:txBody>
      <dsp:txXfrm>
        <a:off x="3363741" y="1823187"/>
        <a:ext cx="1182608" cy="1084057"/>
      </dsp:txXfrm>
    </dsp:sp>
    <dsp:sp modelId="{BE536266-947B-4A3D-B8A0-3C49113B69A5}">
      <dsp:nvSpPr>
        <dsp:cNvPr id="0" name=""/>
        <dsp:cNvSpPr/>
      </dsp:nvSpPr>
      <dsp:spPr>
        <a:xfrm>
          <a:off x="0" y="1194992"/>
          <a:ext cx="1971013" cy="1971013"/>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Social</a:t>
          </a:r>
        </a:p>
      </dsp:txBody>
      <dsp:txXfrm>
        <a:off x="185603" y="1704171"/>
        <a:ext cx="1182608" cy="10840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931A2-F447-4548-93AE-7DDC92BBF3D4}">
      <dsp:nvSpPr>
        <dsp:cNvPr id="0" name=""/>
        <dsp:cNvSpPr/>
      </dsp:nvSpPr>
      <dsp:spPr>
        <a:xfrm>
          <a:off x="5439124" y="1280830"/>
          <a:ext cx="1971013" cy="1971013"/>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Environmental</a:t>
          </a:r>
        </a:p>
      </dsp:txBody>
      <dsp:txXfrm>
        <a:off x="5701926" y="1625757"/>
        <a:ext cx="1445410" cy="886956"/>
      </dsp:txXfrm>
    </dsp:sp>
    <dsp:sp modelId="{4DC675AF-17F4-4D14-A17F-3186F39D1183}">
      <dsp:nvSpPr>
        <dsp:cNvPr id="0" name=""/>
        <dsp:cNvSpPr/>
      </dsp:nvSpPr>
      <dsp:spPr>
        <a:xfrm>
          <a:off x="2760940" y="1314009"/>
          <a:ext cx="1971013" cy="1971013"/>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Economic</a:t>
          </a:r>
        </a:p>
      </dsp:txBody>
      <dsp:txXfrm>
        <a:off x="3363741" y="1823187"/>
        <a:ext cx="1182608" cy="1084057"/>
      </dsp:txXfrm>
    </dsp:sp>
    <dsp:sp modelId="{BE536266-947B-4A3D-B8A0-3C49113B69A5}">
      <dsp:nvSpPr>
        <dsp:cNvPr id="0" name=""/>
        <dsp:cNvSpPr/>
      </dsp:nvSpPr>
      <dsp:spPr>
        <a:xfrm>
          <a:off x="0" y="1194992"/>
          <a:ext cx="1971013" cy="1971013"/>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Social</a:t>
          </a:r>
        </a:p>
      </dsp:txBody>
      <dsp:txXfrm>
        <a:off x="185603" y="1704171"/>
        <a:ext cx="1182608" cy="10840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931A2-F447-4548-93AE-7DDC92BBF3D4}">
      <dsp:nvSpPr>
        <dsp:cNvPr id="0" name=""/>
        <dsp:cNvSpPr/>
      </dsp:nvSpPr>
      <dsp:spPr>
        <a:xfrm>
          <a:off x="5439124" y="1280830"/>
          <a:ext cx="1971013" cy="1971013"/>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Environmental</a:t>
          </a:r>
        </a:p>
      </dsp:txBody>
      <dsp:txXfrm>
        <a:off x="5701926" y="1625757"/>
        <a:ext cx="1445410" cy="886956"/>
      </dsp:txXfrm>
    </dsp:sp>
    <dsp:sp modelId="{4DC675AF-17F4-4D14-A17F-3186F39D1183}">
      <dsp:nvSpPr>
        <dsp:cNvPr id="0" name=""/>
        <dsp:cNvSpPr/>
      </dsp:nvSpPr>
      <dsp:spPr>
        <a:xfrm>
          <a:off x="2760940" y="1314009"/>
          <a:ext cx="1971013" cy="1971013"/>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Economic</a:t>
          </a:r>
        </a:p>
      </dsp:txBody>
      <dsp:txXfrm>
        <a:off x="3363741" y="1823187"/>
        <a:ext cx="1182608" cy="1084057"/>
      </dsp:txXfrm>
    </dsp:sp>
    <dsp:sp modelId="{BE536266-947B-4A3D-B8A0-3C49113B69A5}">
      <dsp:nvSpPr>
        <dsp:cNvPr id="0" name=""/>
        <dsp:cNvSpPr/>
      </dsp:nvSpPr>
      <dsp:spPr>
        <a:xfrm>
          <a:off x="0" y="1194992"/>
          <a:ext cx="1971013" cy="1971013"/>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b="1" kern="1200"/>
            <a:t>Social</a:t>
          </a:r>
        </a:p>
      </dsp:txBody>
      <dsp:txXfrm>
        <a:off x="185603" y="1704171"/>
        <a:ext cx="1182608" cy="1084057"/>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0.16398</cdr:x>
      <cdr:y>0.16558</cdr:y>
    </cdr:from>
    <cdr:to>
      <cdr:x>0.43269</cdr:x>
      <cdr:y>0.29066</cdr:y>
    </cdr:to>
    <cdr:sp macro="" textlink="">
      <cdr:nvSpPr>
        <cdr:cNvPr id="2" name="TextBox 6">
          <a:extLst xmlns:a="http://schemas.openxmlformats.org/drawingml/2006/main">
            <a:ext uri="{FF2B5EF4-FFF2-40B4-BE49-F238E27FC236}">
              <a16:creationId xmlns:a16="http://schemas.microsoft.com/office/drawing/2014/main" id="{DF7E2AEB-B6F9-2694-710F-43A0E1E2F53C}"/>
            </a:ext>
          </a:extLst>
        </cdr:cNvPr>
        <cdr:cNvSpPr txBox="1"/>
      </cdr:nvSpPr>
      <cdr:spPr>
        <a:xfrm xmlns:a="http://schemas.openxmlformats.org/drawingml/2006/main">
          <a:off x="928666" y="855619"/>
          <a:ext cx="1521749" cy="646331"/>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sz="3600" dirty="0"/>
            <a:t>GW</a:t>
          </a:r>
          <a:endParaRPr lang="en-US" dirty="0"/>
        </a:p>
      </cdr:txBody>
    </cdr:sp>
  </cdr:relSizeAnchor>
  <cdr:relSizeAnchor xmlns:cdr="http://schemas.openxmlformats.org/drawingml/2006/chartDrawing">
    <cdr:from>
      <cdr:x>0.16275</cdr:x>
      <cdr:y>0</cdr:y>
    </cdr:from>
    <cdr:to>
      <cdr:x>0.43146</cdr:x>
      <cdr:y>0.12508</cdr:y>
    </cdr:to>
    <cdr:sp macro="" textlink="">
      <cdr:nvSpPr>
        <cdr:cNvPr id="3" name="TextBox 6">
          <a:extLst xmlns:a="http://schemas.openxmlformats.org/drawingml/2006/main">
            <a:ext uri="{FF2B5EF4-FFF2-40B4-BE49-F238E27FC236}">
              <a16:creationId xmlns:a16="http://schemas.microsoft.com/office/drawing/2014/main" id="{DF7E2AEB-B6F9-2694-710F-43A0E1E2F53C}"/>
            </a:ext>
          </a:extLst>
        </cdr:cNvPr>
        <cdr:cNvSpPr txBox="1"/>
      </cdr:nvSpPr>
      <cdr:spPr>
        <a:xfrm xmlns:a="http://schemas.openxmlformats.org/drawingml/2006/main">
          <a:off x="921709" y="-1690688"/>
          <a:ext cx="1521749" cy="646331"/>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sz="3600" dirty="0"/>
            <a:t>GW</a:t>
          </a:r>
          <a:endParaRPr lang="en-US"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C530A3-F203-4C9C-AC23-7A4CD1784B30}"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A115AE-DC92-4590-A815-C4FC85CE9AFA}" type="slidenum">
              <a:rPr lang="en-US" smtClean="0"/>
              <a:t>‹#›</a:t>
            </a:fld>
            <a:endParaRPr lang="en-US"/>
          </a:p>
        </p:txBody>
      </p:sp>
    </p:spTree>
    <p:extLst>
      <p:ext uri="{BB962C8B-B14F-4D97-AF65-F5344CB8AC3E}">
        <p14:creationId xmlns:p14="http://schemas.microsoft.com/office/powerpoint/2010/main" val="52741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Matthew Heun and I have been considering AI through a sustainability lens.</a:t>
            </a:r>
          </a:p>
          <a:p>
            <a:r>
              <a:rPr lang="en-US" dirty="0"/>
              <a:t>I am going to present some thoughts about AI through the 3 pillars of sustainability: environmental, social, and economic.</a:t>
            </a:r>
          </a:p>
          <a:p>
            <a:r>
              <a:rPr lang="en-US" dirty="0"/>
              <a:t>This conference is called “Wisdom in the age of AI” so I will begin with working definitions for “wisdom” and “AI.”</a:t>
            </a:r>
          </a:p>
        </p:txBody>
      </p:sp>
      <p:sp>
        <p:nvSpPr>
          <p:cNvPr id="4" name="Slide Number Placeholder 3"/>
          <p:cNvSpPr>
            <a:spLocks noGrp="1"/>
          </p:cNvSpPr>
          <p:nvPr>
            <p:ph type="sldNum" sz="quarter" idx="5"/>
          </p:nvPr>
        </p:nvSpPr>
        <p:spPr/>
        <p:txBody>
          <a:bodyPr/>
          <a:lstStyle/>
          <a:p>
            <a:fld id="{77A115AE-DC92-4590-A815-C4FC85CE9AFA}" type="slidenum">
              <a:rPr lang="en-US" smtClean="0"/>
              <a:t>1</a:t>
            </a:fld>
            <a:endParaRPr lang="en-US"/>
          </a:p>
        </p:txBody>
      </p:sp>
    </p:spTree>
    <p:extLst>
      <p:ext uri="{BB962C8B-B14F-4D97-AF65-F5344CB8AC3E}">
        <p14:creationId xmlns:p14="http://schemas.microsoft.com/office/powerpoint/2010/main" val="92884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Wisdom, in the bible, encompasses three distinct traits. First is prudence, which is the application of logical principles to make good decisions from available data. The book of Proverbs calls those have prudence “shrewd” and those that lack it “simple.” Prudence considers constraints, cost/benefit analysis, risk, and prioritization.</a:t>
            </a:r>
          </a:p>
        </p:txBody>
      </p:sp>
      <p:sp>
        <p:nvSpPr>
          <p:cNvPr id="4" name="Slide Number Placeholder 3"/>
          <p:cNvSpPr>
            <a:spLocks noGrp="1"/>
          </p:cNvSpPr>
          <p:nvPr>
            <p:ph type="sldNum" sz="quarter" idx="5"/>
          </p:nvPr>
        </p:nvSpPr>
        <p:spPr/>
        <p:txBody>
          <a:bodyPr/>
          <a:lstStyle/>
          <a:p>
            <a:fld id="{77A115AE-DC92-4590-A815-C4FC85CE9AFA}" type="slidenum">
              <a:rPr lang="en-US" smtClean="0"/>
              <a:t>2</a:t>
            </a:fld>
            <a:endParaRPr lang="en-US"/>
          </a:p>
        </p:txBody>
      </p:sp>
    </p:spTree>
    <p:extLst>
      <p:ext uri="{BB962C8B-B14F-4D97-AF65-F5344CB8AC3E}">
        <p14:creationId xmlns:p14="http://schemas.microsoft.com/office/powerpoint/2010/main" val="163454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4B29F-48EA-938B-A6A8-BF44A114C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04DAC-13A4-9113-DB7B-2F9ED5DA6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7B329A-47DC-C679-DB8A-453F4EAB9EF1}"/>
              </a:ext>
            </a:extLst>
          </p:cNvPr>
          <p:cNvSpPr>
            <a:spLocks noGrp="1"/>
          </p:cNvSpPr>
          <p:nvPr>
            <p:ph type="body" idx="1"/>
          </p:nvPr>
        </p:nvSpPr>
        <p:spPr/>
        <p:txBody>
          <a:bodyPr/>
          <a:lstStyle/>
          <a:p>
            <a:r>
              <a:rPr lang="en-US" dirty="0"/>
              <a:t>The second kind of Biblical wisdom is discernment, which involves spiritual perception. Proverbs contrasts those who can recognize truth with those who can’t. We might call bold truth-tellers “prophets.” Proverbs calls those who deal in lies and half truths “mockers” or “scoffers.”</a:t>
            </a:r>
          </a:p>
        </p:txBody>
      </p:sp>
      <p:sp>
        <p:nvSpPr>
          <p:cNvPr id="4" name="Slide Number Placeholder 3">
            <a:extLst>
              <a:ext uri="{FF2B5EF4-FFF2-40B4-BE49-F238E27FC236}">
                <a16:creationId xmlns:a16="http://schemas.microsoft.com/office/drawing/2014/main" id="{C14A9031-1DE8-D66F-B783-C193E2E11126}"/>
              </a:ext>
            </a:extLst>
          </p:cNvPr>
          <p:cNvSpPr>
            <a:spLocks noGrp="1"/>
          </p:cNvSpPr>
          <p:nvPr>
            <p:ph type="sldNum" sz="quarter" idx="5"/>
          </p:nvPr>
        </p:nvSpPr>
        <p:spPr/>
        <p:txBody>
          <a:bodyPr/>
          <a:lstStyle/>
          <a:p>
            <a:fld id="{77A115AE-DC92-4590-A815-C4FC85CE9AFA}" type="slidenum">
              <a:rPr lang="en-US" smtClean="0"/>
              <a:t>3</a:t>
            </a:fld>
            <a:endParaRPr lang="en-US"/>
          </a:p>
        </p:txBody>
      </p:sp>
    </p:spTree>
    <p:extLst>
      <p:ext uri="{BB962C8B-B14F-4D97-AF65-F5344CB8AC3E}">
        <p14:creationId xmlns:p14="http://schemas.microsoft.com/office/powerpoint/2010/main" val="1823305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8CAD0-AC5B-0F76-E147-757C9540C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A4565-8B77-1D2E-2FFE-3002521B0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5254AA-42B6-5CCA-7042-6D69EAC38DC8}"/>
              </a:ext>
            </a:extLst>
          </p:cNvPr>
          <p:cNvSpPr>
            <a:spLocks noGrp="1"/>
          </p:cNvSpPr>
          <p:nvPr>
            <p:ph type="body" idx="1"/>
          </p:nvPr>
        </p:nvSpPr>
        <p:spPr/>
        <p:txBody>
          <a:bodyPr/>
          <a:lstStyle/>
          <a:p>
            <a:r>
              <a:rPr lang="en-US" dirty="0"/>
              <a:t>The book of Proverbs most emphasizes the third type of wisdom, self-control, which is an exercise of the will towards righteous living. Proverbs contrasts the disciplined and the sluggard. Two keys for self-control are “can I do the good thing I have already decided to do” and “can I avoid avoidable temptation?” With those definitions for wisdom, let’s turn next to defining AI for this talk.</a:t>
            </a:r>
          </a:p>
        </p:txBody>
      </p:sp>
      <p:sp>
        <p:nvSpPr>
          <p:cNvPr id="4" name="Slide Number Placeholder 3">
            <a:extLst>
              <a:ext uri="{FF2B5EF4-FFF2-40B4-BE49-F238E27FC236}">
                <a16:creationId xmlns:a16="http://schemas.microsoft.com/office/drawing/2014/main" id="{B6F67F8A-8F6A-997C-73D9-769355095AE6}"/>
              </a:ext>
            </a:extLst>
          </p:cNvPr>
          <p:cNvSpPr>
            <a:spLocks noGrp="1"/>
          </p:cNvSpPr>
          <p:nvPr>
            <p:ph type="sldNum" sz="quarter" idx="5"/>
          </p:nvPr>
        </p:nvSpPr>
        <p:spPr/>
        <p:txBody>
          <a:bodyPr/>
          <a:lstStyle/>
          <a:p>
            <a:fld id="{77A115AE-DC92-4590-A815-C4FC85CE9AFA}" type="slidenum">
              <a:rPr lang="en-US" smtClean="0"/>
              <a:t>4</a:t>
            </a:fld>
            <a:endParaRPr lang="en-US"/>
          </a:p>
        </p:txBody>
      </p:sp>
    </p:spTree>
    <p:extLst>
      <p:ext uri="{BB962C8B-B14F-4D97-AF65-F5344CB8AC3E}">
        <p14:creationId xmlns:p14="http://schemas.microsoft.com/office/powerpoint/2010/main" val="2466283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is a tendency to think --- because “intelligence” is in the name --- that Artificial Intelligence is disembodied.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Nothing could be further from the truth. AI is embodied in grid-scale infrastructure [click]. Here we see a proposed 100-MW data center for the small town of Gibraltar, Michigan. It’s a massive, physical building. But a machine without energy is just an expensive statue.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 is a computing machine, that is, a massive construction, that uses substantial energy, for the purpose of manipulating information.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We’re going look particularly at the sustainability implications of AI energy use.</a:t>
            </a:r>
          </a:p>
        </p:txBody>
      </p:sp>
      <p:sp>
        <p:nvSpPr>
          <p:cNvPr id="4" name="Slide Number Placeholder 3"/>
          <p:cNvSpPr>
            <a:spLocks noGrp="1"/>
          </p:cNvSpPr>
          <p:nvPr>
            <p:ph type="sldNum" sz="quarter" idx="5"/>
          </p:nvPr>
        </p:nvSpPr>
        <p:spPr/>
        <p:txBody>
          <a:bodyPr/>
          <a:lstStyle/>
          <a:p>
            <a:fld id="{77A115AE-DC92-4590-A815-C4FC85CE9AFA}" type="slidenum">
              <a:rPr lang="en-US" smtClean="0"/>
              <a:t>5</a:t>
            </a:fld>
            <a:endParaRPr lang="en-US"/>
          </a:p>
        </p:txBody>
      </p:sp>
    </p:spTree>
    <p:extLst>
      <p:ext uri="{BB962C8B-B14F-4D97-AF65-F5344CB8AC3E}">
        <p14:creationId xmlns:p14="http://schemas.microsoft.com/office/powerpoint/2010/main" val="4062451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Sankey diagram shows the flow of energy from left to right. The amount of energy is represented by the thickness of each line. </a:t>
            </a:r>
          </a:p>
          <a:p>
            <a:r>
              <a:rPr lang="en-US" dirty="0"/>
              <a:t>Of the 100 MW of electricity [click] fed to a data center about 75 MW is used by the servers and about 25 MW is used for cooling. [click]</a:t>
            </a:r>
          </a:p>
          <a:p>
            <a:r>
              <a:rPr lang="en-US" dirty="0"/>
              <a:t>The Michigan electrical grid is fed with a mix of coal, natural gas, and nuclear power plants (PP), with small amounts of renewable energy and oil. [click] Ultimately, energy is dissipated as heat, either from the data center itself, from the electrical grid as transmission losses, or within the powerplants that generate electricity.</a:t>
            </a:r>
          </a:p>
          <a:p>
            <a:endParaRPr lang="en-US" dirty="0"/>
          </a:p>
        </p:txBody>
      </p:sp>
      <p:sp>
        <p:nvSpPr>
          <p:cNvPr id="4" name="Slide Number Placeholder 3"/>
          <p:cNvSpPr>
            <a:spLocks noGrp="1"/>
          </p:cNvSpPr>
          <p:nvPr>
            <p:ph type="sldNum" sz="quarter" idx="5"/>
          </p:nvPr>
        </p:nvSpPr>
        <p:spPr/>
        <p:txBody>
          <a:bodyPr/>
          <a:lstStyle/>
          <a:p>
            <a:fld id="{77A115AE-DC92-4590-A815-C4FC85CE9AFA}" type="slidenum">
              <a:rPr lang="en-US" smtClean="0"/>
              <a:t>6</a:t>
            </a:fld>
            <a:endParaRPr lang="en-US"/>
          </a:p>
        </p:txBody>
      </p:sp>
    </p:spTree>
    <p:extLst>
      <p:ext uri="{BB962C8B-B14F-4D97-AF65-F5344CB8AC3E}">
        <p14:creationId xmlns:p14="http://schemas.microsoft.com/office/powerpoint/2010/main" val="2664446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269 MW of primary energy is needed to supply 100 MW for the AI data center. 68 MW of Coal power generates 200K </a:t>
            </a:r>
            <a:r>
              <a:rPr lang="en-US" dirty="0" err="1"/>
              <a:t>tonnes</a:t>
            </a:r>
            <a:r>
              <a:rPr lang="en-US" dirty="0"/>
              <a:t> of carbon dioxide per year. 107 MW of natural gas power generates 175K </a:t>
            </a:r>
            <a:r>
              <a:rPr lang="en-US" dirty="0" err="1"/>
              <a:t>tonnes</a:t>
            </a:r>
            <a:r>
              <a:rPr lang="en-US" dirty="0"/>
              <a:t> of CO2 per year. And cooling uses 180 Million gallons of water per year. All of this is for just one data center.</a:t>
            </a:r>
          </a:p>
        </p:txBody>
      </p:sp>
      <p:sp>
        <p:nvSpPr>
          <p:cNvPr id="4" name="Slide Number Placeholder 3"/>
          <p:cNvSpPr>
            <a:spLocks noGrp="1"/>
          </p:cNvSpPr>
          <p:nvPr>
            <p:ph type="sldNum" sz="quarter" idx="5"/>
          </p:nvPr>
        </p:nvSpPr>
        <p:spPr/>
        <p:txBody>
          <a:bodyPr/>
          <a:lstStyle/>
          <a:p>
            <a:fld id="{77A115AE-DC92-4590-A815-C4FC85CE9AFA}" type="slidenum">
              <a:rPr lang="en-US" smtClean="0"/>
              <a:t>7</a:t>
            </a:fld>
            <a:endParaRPr lang="en-US"/>
          </a:p>
        </p:txBody>
      </p:sp>
    </p:spTree>
    <p:extLst>
      <p:ext uri="{BB962C8B-B14F-4D97-AF65-F5344CB8AC3E}">
        <p14:creationId xmlns:p14="http://schemas.microsoft.com/office/powerpoint/2010/main" val="234382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there are 1300 data centers operating in the US using about 60 GW of power.</a:t>
            </a:r>
          </a:p>
          <a:p>
            <a:r>
              <a:rPr lang="en-US" dirty="0"/>
              <a:t>About 2200 more are coming soon with a total power rating of an additional 390 GW.</a:t>
            </a:r>
          </a:p>
          <a:p>
            <a:r>
              <a:rPr lang="en-US" dirty="0"/>
              <a:t>For context, the Michigan electricity grid is about 32 GW [in 2024 (US EIA)], So that’s about 12 more Michigan electrical grids.</a:t>
            </a:r>
          </a:p>
          <a:p>
            <a:r>
              <a:rPr lang="en-US" dirty="0"/>
              <a:t>The trend toward “more” and “bigger” is called </a:t>
            </a:r>
            <a:r>
              <a:rPr lang="en-US" dirty="0" err="1"/>
              <a:t>Hyperscaling</a:t>
            </a:r>
            <a:r>
              <a:rPr lang="en-US" dirty="0"/>
              <a:t>.</a:t>
            </a:r>
          </a:p>
          <a:p>
            <a:endParaRPr lang="en-US" dirty="0"/>
          </a:p>
          <a:p>
            <a:r>
              <a:rPr lang="en-US" dirty="0"/>
              <a:t>Midcontinent Independent System Operator (MISO) is about 91 GW, peak.</a:t>
            </a:r>
          </a:p>
          <a:p>
            <a:endParaRPr lang="en-US" dirty="0"/>
          </a:p>
          <a:p>
            <a:endParaRPr lang="en-US" dirty="0"/>
          </a:p>
        </p:txBody>
      </p:sp>
      <p:sp>
        <p:nvSpPr>
          <p:cNvPr id="4" name="Slide Number Placeholder 3"/>
          <p:cNvSpPr>
            <a:spLocks noGrp="1"/>
          </p:cNvSpPr>
          <p:nvPr>
            <p:ph type="sldNum" sz="quarter" idx="5"/>
          </p:nvPr>
        </p:nvSpPr>
        <p:spPr/>
        <p:txBody>
          <a:bodyPr/>
          <a:lstStyle/>
          <a:p>
            <a:fld id="{77A115AE-DC92-4590-A815-C4FC85CE9AFA}" type="slidenum">
              <a:rPr lang="en-US" smtClean="0"/>
              <a:t>8</a:t>
            </a:fld>
            <a:endParaRPr lang="en-US"/>
          </a:p>
        </p:txBody>
      </p:sp>
    </p:spTree>
    <p:extLst>
      <p:ext uri="{BB962C8B-B14F-4D97-AF65-F5344CB8AC3E}">
        <p14:creationId xmlns:p14="http://schemas.microsoft.com/office/powerpoint/2010/main" val="2060781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Currently, data centers use 1-3% of electricity globally. Within 10 years, </a:t>
            </a:r>
            <a:r>
              <a:rPr lang="en-US" dirty="0" err="1"/>
              <a:t>hyperscaling</a:t>
            </a:r>
            <a:r>
              <a:rPr lang="en-US" dirty="0"/>
              <a:t> will increase electricity used by data centers by a factor of 2-6. Electricity is only one of our sources of final energy. (Some others include refined petroleum for transportation and natural gas for residential heating.) Even with dramatic increases for DIRECT AI data center ELECTRICITY use, direct CO2 emissions for DATA CENTERS are a relatively small fraction of total CO2 emissions.</a:t>
            </a:r>
          </a:p>
        </p:txBody>
      </p:sp>
      <p:sp>
        <p:nvSpPr>
          <p:cNvPr id="4" name="Slide Number Placeholder 3"/>
          <p:cNvSpPr>
            <a:spLocks noGrp="1"/>
          </p:cNvSpPr>
          <p:nvPr>
            <p:ph type="sldNum" sz="quarter" idx="5"/>
          </p:nvPr>
        </p:nvSpPr>
        <p:spPr/>
        <p:txBody>
          <a:bodyPr/>
          <a:lstStyle/>
          <a:p>
            <a:fld id="{77A115AE-DC92-4590-A815-C4FC85CE9AFA}" type="slidenum">
              <a:rPr lang="en-US" smtClean="0"/>
              <a:t>9</a:t>
            </a:fld>
            <a:endParaRPr lang="en-US"/>
          </a:p>
        </p:txBody>
      </p:sp>
    </p:spTree>
    <p:extLst>
      <p:ext uri="{BB962C8B-B14F-4D97-AF65-F5344CB8AC3E}">
        <p14:creationId xmlns:p14="http://schemas.microsoft.com/office/powerpoint/2010/main" val="1225153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impact of AI on the environment depends on the impact of AI on the economy. EN-ROADS is a climate simulator put out by MIT. The comparison on this slide is between a business-as-normal 2% economic growth through the end of the century VERSUS AI-accelerated economic growth. Two percent has been the average since 1950. On the left is the amount of energy used, with coal on the bottom, then oil, gas, and renewables in green. It may be a little hard to see, but with AI-accelerated economic growth, we’re using an EXTRA 230 exajoules per year by 2100. That results in about an extra 15 Gigatons of CO2 per year in the last half of the century. In 2100, for instance, from 75 GT/yr to about 90. The EXTRA carbon emissions result in 0.3 degrees C of extra warming by the end of the century.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 NOT claiming the EN-ROADS model is gospel truth. It’s DIRECTIONALLY correct and it is illustrative of the broader point that the economy’s use of resources, energy in particular, causes global climate change.</a:t>
            </a:r>
          </a:p>
          <a:p>
            <a:r>
              <a:rPr lang="en-US" dirty="0"/>
              <a:t>This sort of economic growth is the intentional goal of </a:t>
            </a:r>
            <a:r>
              <a:rPr lang="en-US" dirty="0" err="1"/>
              <a:t>hyperscaling</a:t>
            </a:r>
            <a:r>
              <a:rPr lang="en-US" dirty="0"/>
              <a:t>. Because no one is responsible for the environmental effects.</a:t>
            </a:r>
          </a:p>
          <a:p>
            <a:r>
              <a:rPr lang="en-US" dirty="0"/>
              <a:t>OK, now let’s return to the wisdom piece of the talk.</a:t>
            </a:r>
          </a:p>
          <a:p>
            <a:endParaRPr lang="en-US" dirty="0"/>
          </a:p>
          <a:p>
            <a:endParaRPr lang="en-US" dirty="0"/>
          </a:p>
        </p:txBody>
      </p:sp>
      <p:sp>
        <p:nvSpPr>
          <p:cNvPr id="4" name="Slide Number Placeholder 3"/>
          <p:cNvSpPr>
            <a:spLocks noGrp="1"/>
          </p:cNvSpPr>
          <p:nvPr>
            <p:ph type="sldNum" sz="quarter" idx="5"/>
          </p:nvPr>
        </p:nvSpPr>
        <p:spPr/>
        <p:txBody>
          <a:bodyPr/>
          <a:lstStyle/>
          <a:p>
            <a:fld id="{77A115AE-DC92-4590-A815-C4FC85CE9AFA}" type="slidenum">
              <a:rPr lang="en-US" smtClean="0"/>
              <a:t>10</a:t>
            </a:fld>
            <a:endParaRPr lang="en-US"/>
          </a:p>
        </p:txBody>
      </p:sp>
    </p:spTree>
    <p:extLst>
      <p:ext uri="{BB962C8B-B14F-4D97-AF65-F5344CB8AC3E}">
        <p14:creationId xmlns:p14="http://schemas.microsoft.com/office/powerpoint/2010/main" val="1283033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prudence applies logical thinking to make good decisions from available information by asking questions about such things as cost/benefit, constraints, priorities, and risk. Basically, “Is this is a good idea?”</a:t>
            </a:r>
          </a:p>
          <a:p>
            <a:r>
              <a:rPr lang="en-US" dirty="0"/>
              <a:t>I don’t have time to examine all of these areas or to give definitive answers for AI. Instead, I want to 1) Define risk. AND 2) Look at each of the 3 legs of the sustainability triangle, social, economic, and environmental, and see what prudential judgement about AI might tell us. </a:t>
            </a:r>
          </a:p>
        </p:txBody>
      </p:sp>
      <p:sp>
        <p:nvSpPr>
          <p:cNvPr id="4" name="Slide Number Placeholder 3"/>
          <p:cNvSpPr>
            <a:spLocks noGrp="1"/>
          </p:cNvSpPr>
          <p:nvPr>
            <p:ph type="sldNum" sz="quarter" idx="5"/>
          </p:nvPr>
        </p:nvSpPr>
        <p:spPr/>
        <p:txBody>
          <a:bodyPr/>
          <a:lstStyle/>
          <a:p>
            <a:fld id="{77A115AE-DC92-4590-A815-C4FC85CE9AFA}" type="slidenum">
              <a:rPr lang="en-US" smtClean="0"/>
              <a:t>11</a:t>
            </a:fld>
            <a:endParaRPr lang="en-US"/>
          </a:p>
        </p:txBody>
      </p:sp>
    </p:spTree>
    <p:extLst>
      <p:ext uri="{BB962C8B-B14F-4D97-AF65-F5344CB8AC3E}">
        <p14:creationId xmlns:p14="http://schemas.microsoft.com/office/powerpoint/2010/main" val="203116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04E2A-1507-9321-909B-9E9BD1825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7E5BD-823B-6401-4275-175B02F33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1370E1-90C3-9208-89A0-7C78EF7BD2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Ignorance is the absence of knowledge. Uncertainty is impartial knowledge. Neither is the same as risk, which is likelihood multiplied by consequences. If we give a preschooler a chainsaw, we should not claim ignorance about what will happen. </a:t>
            </a:r>
          </a:p>
          <a:p>
            <a:r>
              <a:rPr lang="en-US" dirty="0"/>
              <a:t>While it’s technically true that “anything could happen” and that we don’t “absolutely know” what will happen, There’s a fair likelihood of significant injuries to body and/or property. A preschooler with a chainsaw is unacceptably risky.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pull apart our sustainability triangle and apply examples of ignorance, uncertainty, and risk to the 3 pillars of sustainability.</a:t>
            </a:r>
          </a:p>
          <a:p>
            <a:endParaRPr lang="en-US" dirty="0"/>
          </a:p>
        </p:txBody>
      </p:sp>
      <p:sp>
        <p:nvSpPr>
          <p:cNvPr id="4" name="Slide Number Placeholder 3">
            <a:extLst>
              <a:ext uri="{FF2B5EF4-FFF2-40B4-BE49-F238E27FC236}">
                <a16:creationId xmlns:a16="http://schemas.microsoft.com/office/drawing/2014/main" id="{A015DBAF-0C8E-9C52-0B0C-B0E3A83A74AB}"/>
              </a:ext>
            </a:extLst>
          </p:cNvPr>
          <p:cNvSpPr>
            <a:spLocks noGrp="1"/>
          </p:cNvSpPr>
          <p:nvPr>
            <p:ph type="sldNum" sz="quarter" idx="5"/>
          </p:nvPr>
        </p:nvSpPr>
        <p:spPr/>
        <p:txBody>
          <a:bodyPr/>
          <a:lstStyle/>
          <a:p>
            <a:fld id="{77A115AE-DC92-4590-A815-C4FC85CE9AFA}" type="slidenum">
              <a:rPr lang="en-US" smtClean="0"/>
              <a:t>12</a:t>
            </a:fld>
            <a:endParaRPr lang="en-US"/>
          </a:p>
        </p:txBody>
      </p:sp>
    </p:spTree>
    <p:extLst>
      <p:ext uri="{BB962C8B-B14F-4D97-AF65-F5344CB8AC3E}">
        <p14:creationId xmlns:p14="http://schemas.microsoft.com/office/powerpoint/2010/main" val="1285800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AFCA1-5FBB-F33A-CEBC-5930F8FA7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C529C-221D-383F-EE5E-37C88906B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D1E2D-4F20-F3EC-5068-21BC7A48664C}"/>
              </a:ext>
            </a:extLst>
          </p:cNvPr>
          <p:cNvSpPr>
            <a:spLocks noGrp="1"/>
          </p:cNvSpPr>
          <p:nvPr>
            <p:ph type="body" idx="1"/>
          </p:nvPr>
        </p:nvSpPr>
        <p:spPr/>
        <p:txBody>
          <a:bodyPr/>
          <a:lstStyle/>
          <a:p>
            <a:r>
              <a:rPr lang="en-US" dirty="0"/>
              <a:t>There are concerns, because AI is new and we don’t KNOW what WILL happen, about rogue AI.</a:t>
            </a:r>
          </a:p>
          <a:p>
            <a:r>
              <a:rPr lang="en-US" dirty="0"/>
              <a:t>More extreme versions of this fear include Skynet, from the Terminator franchise, or the machine overlords from the Matrix movies.</a:t>
            </a:r>
          </a:p>
          <a:p>
            <a:r>
              <a:rPr lang="en-US" dirty="0"/>
              <a:t>It’s really fear of the unknown that fundamentally drives these concerns, hence why the nature of the threat might be classed as speculative fiction. Let’s put this in the SOCIAL sphere.</a:t>
            </a:r>
          </a:p>
          <a:p>
            <a:endParaRPr lang="en-US" dirty="0"/>
          </a:p>
        </p:txBody>
      </p:sp>
      <p:sp>
        <p:nvSpPr>
          <p:cNvPr id="4" name="Slide Number Placeholder 3">
            <a:extLst>
              <a:ext uri="{FF2B5EF4-FFF2-40B4-BE49-F238E27FC236}">
                <a16:creationId xmlns:a16="http://schemas.microsoft.com/office/drawing/2014/main" id="{AC8D594D-DDCF-6365-87A5-3E590290DBBF}"/>
              </a:ext>
            </a:extLst>
          </p:cNvPr>
          <p:cNvSpPr>
            <a:spLocks noGrp="1"/>
          </p:cNvSpPr>
          <p:nvPr>
            <p:ph type="sldNum" sz="quarter" idx="5"/>
          </p:nvPr>
        </p:nvSpPr>
        <p:spPr/>
        <p:txBody>
          <a:bodyPr/>
          <a:lstStyle/>
          <a:p>
            <a:fld id="{77A115AE-DC92-4590-A815-C4FC85CE9AFA}" type="slidenum">
              <a:rPr lang="en-US" smtClean="0"/>
              <a:t>13</a:t>
            </a:fld>
            <a:endParaRPr lang="en-US"/>
          </a:p>
        </p:txBody>
      </p:sp>
    </p:spTree>
    <p:extLst>
      <p:ext uri="{BB962C8B-B14F-4D97-AF65-F5344CB8AC3E}">
        <p14:creationId xmlns:p14="http://schemas.microsoft.com/office/powerpoint/2010/main" val="6490311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B4FC0-1F0F-F241-8791-C166A76FD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5593F-1BC0-EB6B-79E5-3A2D62E14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C109F-699D-993A-CC71-A753AA24E525}"/>
              </a:ext>
            </a:extLst>
          </p:cNvPr>
          <p:cNvSpPr>
            <a:spLocks noGrp="1"/>
          </p:cNvSpPr>
          <p:nvPr>
            <p:ph type="body" idx="1"/>
          </p:nvPr>
        </p:nvSpPr>
        <p:spPr/>
        <p:txBody>
          <a:bodyPr/>
          <a:lstStyle/>
          <a:p>
            <a:r>
              <a:rPr lang="en-US" dirty="0"/>
              <a:t>If you’ve been following any of the business news lately about AI, there are questions about the massive investment in the build out of AI data centers, the IPOs of AI-centric companies, and the market power of those companies. These concerns are based in part about the unknown future, but also in present knowledge and stated future intentions. We read the news and see the headlines. We *wonder* whether AI will be “worth it” so let’s connect uncertainty to our economic sphere.</a:t>
            </a:r>
          </a:p>
          <a:p>
            <a:endParaRPr lang="en-US" dirty="0"/>
          </a:p>
        </p:txBody>
      </p:sp>
      <p:sp>
        <p:nvSpPr>
          <p:cNvPr id="4" name="Slide Number Placeholder 3">
            <a:extLst>
              <a:ext uri="{FF2B5EF4-FFF2-40B4-BE49-F238E27FC236}">
                <a16:creationId xmlns:a16="http://schemas.microsoft.com/office/drawing/2014/main" id="{D2A4DD13-BA3B-31B0-6759-287D7A9036DC}"/>
              </a:ext>
            </a:extLst>
          </p:cNvPr>
          <p:cNvSpPr>
            <a:spLocks noGrp="1"/>
          </p:cNvSpPr>
          <p:nvPr>
            <p:ph type="sldNum" sz="quarter" idx="5"/>
          </p:nvPr>
        </p:nvSpPr>
        <p:spPr/>
        <p:txBody>
          <a:bodyPr/>
          <a:lstStyle/>
          <a:p>
            <a:fld id="{77A115AE-DC92-4590-A815-C4FC85CE9AFA}" type="slidenum">
              <a:rPr lang="en-US" smtClean="0"/>
              <a:t>14</a:t>
            </a:fld>
            <a:endParaRPr lang="en-US"/>
          </a:p>
        </p:txBody>
      </p:sp>
    </p:spTree>
    <p:extLst>
      <p:ext uri="{BB962C8B-B14F-4D97-AF65-F5344CB8AC3E}">
        <p14:creationId xmlns:p14="http://schemas.microsoft.com/office/powerpoint/2010/main" val="1891342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FA4F4-9461-1065-40BE-FD1A23FD8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5327B-0A10-679E-9ADC-DE9D6D986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48E8A-2477-A284-BB11-18945E193754}"/>
              </a:ext>
            </a:extLst>
          </p:cNvPr>
          <p:cNvSpPr>
            <a:spLocks noGrp="1"/>
          </p:cNvSpPr>
          <p:nvPr>
            <p:ph type="body" idx="1"/>
          </p:nvPr>
        </p:nvSpPr>
        <p:spPr/>
        <p:txBody>
          <a:bodyPr/>
          <a:lstStyle/>
          <a:p>
            <a:r>
              <a:rPr lang="en-US" dirty="0"/>
              <a:t>Environmentally, the RISK of climate change is high because the consequences are severe, long lasting, and widespread. The likelihood that AI will accelerate economic growth seems reasonably high because the goal of </a:t>
            </a:r>
            <a:r>
              <a:rPr lang="en-US" dirty="0" err="1"/>
              <a:t>hyperscaling</a:t>
            </a:r>
            <a:r>
              <a:rPr lang="en-US" dirty="0"/>
              <a:t> is growth and we’ve already invested significant dollars into the effort.</a:t>
            </a:r>
          </a:p>
          <a:p>
            <a:endParaRPr lang="en-US" dirty="0"/>
          </a:p>
          <a:p>
            <a:endParaRPr lang="en-US" dirty="0"/>
          </a:p>
        </p:txBody>
      </p:sp>
      <p:sp>
        <p:nvSpPr>
          <p:cNvPr id="4" name="Slide Number Placeholder 3">
            <a:extLst>
              <a:ext uri="{FF2B5EF4-FFF2-40B4-BE49-F238E27FC236}">
                <a16:creationId xmlns:a16="http://schemas.microsoft.com/office/drawing/2014/main" id="{92F5A1C1-CE93-1F13-E079-387062F5417F}"/>
              </a:ext>
            </a:extLst>
          </p:cNvPr>
          <p:cNvSpPr>
            <a:spLocks noGrp="1"/>
          </p:cNvSpPr>
          <p:nvPr>
            <p:ph type="sldNum" sz="quarter" idx="5"/>
          </p:nvPr>
        </p:nvSpPr>
        <p:spPr/>
        <p:txBody>
          <a:bodyPr/>
          <a:lstStyle/>
          <a:p>
            <a:fld id="{77A115AE-DC92-4590-A815-C4FC85CE9AFA}" type="slidenum">
              <a:rPr lang="en-US" smtClean="0"/>
              <a:t>15</a:t>
            </a:fld>
            <a:endParaRPr lang="en-US"/>
          </a:p>
        </p:txBody>
      </p:sp>
    </p:spTree>
    <p:extLst>
      <p:ext uri="{BB962C8B-B14F-4D97-AF65-F5344CB8AC3E}">
        <p14:creationId xmlns:p14="http://schemas.microsoft.com/office/powerpoint/2010/main" val="1145728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D3A2-513B-ABE4-DC00-0E7D74C85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8FB69-D673-44FA-62D4-DEB28390EF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ADD0D-BB2D-A997-46F3-08D1AECFB4CA}"/>
              </a:ext>
            </a:extLst>
          </p:cNvPr>
          <p:cNvSpPr>
            <a:spLocks noGrp="1"/>
          </p:cNvSpPr>
          <p:nvPr>
            <p:ph type="body" idx="1"/>
          </p:nvPr>
        </p:nvSpPr>
        <p:spPr/>
        <p:txBody>
          <a:bodyPr/>
          <a:lstStyle/>
          <a:p>
            <a:r>
              <a:rPr lang="en-US" dirty="0"/>
              <a:t>Proverbs 14:15 says “</a:t>
            </a:r>
            <a:r>
              <a:rPr lang="en-US" sz="1200" b="0" i="0" kern="1200" dirty="0">
                <a:solidFill>
                  <a:schemeClr val="tx1"/>
                </a:solidFill>
                <a:effectLst/>
                <a:latin typeface="+mn-lt"/>
                <a:ea typeface="+mn-ea"/>
                <a:cs typeface="+mn-cs"/>
              </a:rPr>
              <a:t>The simple believe anything, but the prudent give thought to their steps.</a:t>
            </a:r>
            <a:r>
              <a:rPr lang="en-US" dirty="0"/>
              <a:t>” Let’s not worry about science fiction.</a:t>
            </a:r>
          </a:p>
          <a:p>
            <a:endParaRPr lang="en-US" dirty="0"/>
          </a:p>
          <a:p>
            <a:r>
              <a:rPr lang="en-US" dirty="0"/>
              <a:t>In the economic realm, there are lots of credible questions about the massive amounts of money being spent on AI and whether there will, or even can, ever be a payback. This is not investment advice, but I would say that AI looks like a risky bet right now in October of 2026.</a:t>
            </a:r>
          </a:p>
          <a:p>
            <a:endParaRPr lang="en-US" dirty="0"/>
          </a:p>
          <a:p>
            <a:r>
              <a:rPr lang="en-US" dirty="0"/>
              <a:t>Environmentally, we can’t afford to “go on” as we have been, let alone accelerate economic growth. The previous several slides demonstrated the environmental consequences of </a:t>
            </a:r>
            <a:r>
              <a:rPr lang="en-US" dirty="0" err="1"/>
              <a:t>hyperscaling</a:t>
            </a:r>
            <a:r>
              <a:rPr lang="en-US" dirty="0"/>
              <a:t>. Regardless of whether AI is “worth it,” in a financial sense we CAN’T afford, environmentally, to hyperscale our economy.</a:t>
            </a:r>
          </a:p>
          <a:p>
            <a:r>
              <a:rPr lang="en-US" dirty="0"/>
              <a:t> </a:t>
            </a:r>
          </a:p>
        </p:txBody>
      </p:sp>
      <p:sp>
        <p:nvSpPr>
          <p:cNvPr id="4" name="Slide Number Placeholder 3">
            <a:extLst>
              <a:ext uri="{FF2B5EF4-FFF2-40B4-BE49-F238E27FC236}">
                <a16:creationId xmlns:a16="http://schemas.microsoft.com/office/drawing/2014/main" id="{ECA66832-C734-E30A-5413-238AE356EF0C}"/>
              </a:ext>
            </a:extLst>
          </p:cNvPr>
          <p:cNvSpPr>
            <a:spLocks noGrp="1"/>
          </p:cNvSpPr>
          <p:nvPr>
            <p:ph type="sldNum" sz="quarter" idx="5"/>
          </p:nvPr>
        </p:nvSpPr>
        <p:spPr/>
        <p:txBody>
          <a:bodyPr/>
          <a:lstStyle/>
          <a:p>
            <a:fld id="{77A115AE-DC92-4590-A815-C4FC85CE9AFA}" type="slidenum">
              <a:rPr lang="en-US" smtClean="0"/>
              <a:t>16</a:t>
            </a:fld>
            <a:endParaRPr lang="en-US"/>
          </a:p>
        </p:txBody>
      </p:sp>
    </p:spTree>
    <p:extLst>
      <p:ext uri="{BB962C8B-B14F-4D97-AF65-F5344CB8AC3E}">
        <p14:creationId xmlns:p14="http://schemas.microsoft.com/office/powerpoint/2010/main" val="699595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Discernment is about recognizing the truth of a situation. There has been a lot of popular backlash to AI recently. Why?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 me give you TWO LIES and THREE TRUTHS that I think help illustrate what’s “really going on” in our society and our economy.</a:t>
            </a:r>
          </a:p>
          <a:p>
            <a:endParaRPr lang="en-US" dirty="0"/>
          </a:p>
          <a:p>
            <a:r>
              <a:rPr lang="en-US" dirty="0"/>
              <a:t>We’ve been told by AI companies that AI will do two things for us: 1) it will accelerate the information superhighway and bring us more truth faster.</a:t>
            </a:r>
          </a:p>
          <a:p>
            <a:r>
              <a:rPr lang="en-US" dirty="0"/>
              <a:t>Second, that AI is generative. In contrast, we ALL have direct experience that both of these promises fail to live up to expectations. </a:t>
            </a:r>
          </a:p>
          <a:p>
            <a:r>
              <a:rPr lang="en-US" dirty="0"/>
              <a:t>AI hallucinates. AI slop is a thing. Large language models, by definition, aren’t “creative” because they deliver that which is “MOST STATISTICALLY LIKELY.”</a:t>
            </a:r>
          </a:p>
          <a:p>
            <a:endParaRPr lang="en-US" dirty="0"/>
          </a:p>
        </p:txBody>
      </p:sp>
      <p:sp>
        <p:nvSpPr>
          <p:cNvPr id="4" name="Slide Number Placeholder 3"/>
          <p:cNvSpPr>
            <a:spLocks noGrp="1"/>
          </p:cNvSpPr>
          <p:nvPr>
            <p:ph type="sldNum" sz="quarter" idx="5"/>
          </p:nvPr>
        </p:nvSpPr>
        <p:spPr/>
        <p:txBody>
          <a:bodyPr/>
          <a:lstStyle/>
          <a:p>
            <a:fld id="{77A115AE-DC92-4590-A815-C4FC85CE9AFA}" type="slidenum">
              <a:rPr lang="en-US" smtClean="0"/>
              <a:t>17</a:t>
            </a:fld>
            <a:endParaRPr lang="en-US"/>
          </a:p>
        </p:txBody>
      </p:sp>
    </p:spTree>
    <p:extLst>
      <p:ext uri="{BB962C8B-B14F-4D97-AF65-F5344CB8AC3E}">
        <p14:creationId xmlns:p14="http://schemas.microsoft.com/office/powerpoint/2010/main" val="3241860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A2FD3-A680-9420-28C4-798BEC345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01C8D-95DC-A19A-20F4-4CBE72EFE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131644-7156-F017-208E-14A0BD844EB6}"/>
              </a:ext>
            </a:extLst>
          </p:cNvPr>
          <p:cNvSpPr>
            <a:spLocks noGrp="1"/>
          </p:cNvSpPr>
          <p:nvPr>
            <p:ph type="body" idx="1"/>
          </p:nvPr>
        </p:nvSpPr>
        <p:spPr/>
        <p:txBody>
          <a:bodyPr/>
          <a:lstStyle/>
          <a:p>
            <a:r>
              <a:rPr lang="en-US" dirty="0"/>
              <a:t>And yet. Businesses are eager to replace workers with AI, not because AI is better – Artificial Intelligence is demonstrably WORSE than human intelligence – but because AI is CHEAPER. And people resent being told how little they are worth.</a:t>
            </a:r>
          </a:p>
          <a:p>
            <a:endParaRPr lang="en-US" dirty="0"/>
          </a:p>
          <a:p>
            <a:r>
              <a:rPr lang="en-US" dirty="0"/>
              <a:t>AI has become a tool to widen the gap, in our society and our economy, between the “haves” and the “have nots.”</a:t>
            </a:r>
          </a:p>
          <a:p>
            <a:r>
              <a:rPr lang="en-US" dirty="0"/>
              <a:t>AI is the power behind not just Surveillance pricing algorithms, it has now been deployed for Surveillance wages.</a:t>
            </a:r>
          </a:p>
          <a:p>
            <a:r>
              <a:rPr lang="en-US" dirty="0"/>
              <a:t>Michigan Public Act 233 (2023) instead of promoting green energy, has become a tool for utilities and AI companies to prevent locals from having any control over data center projects. This means AI and utility companies are the ones making decisions about new power infrastructure without regard to the effects on climate, water, or energy prices to the consumer. AI isn’t bad. It’s just a powerful tool in the hands of sinful people that inhabit a broken and sinful world.</a:t>
            </a:r>
          </a:p>
          <a:p>
            <a:endParaRPr lang="en-US" dirty="0"/>
          </a:p>
          <a:p>
            <a:endParaRPr lang="en-US" dirty="0"/>
          </a:p>
        </p:txBody>
      </p:sp>
      <p:sp>
        <p:nvSpPr>
          <p:cNvPr id="4" name="Slide Number Placeholder 3">
            <a:extLst>
              <a:ext uri="{FF2B5EF4-FFF2-40B4-BE49-F238E27FC236}">
                <a16:creationId xmlns:a16="http://schemas.microsoft.com/office/drawing/2014/main" id="{5772BAD4-12D3-1C70-AE16-0D5AC5BA5AAD}"/>
              </a:ext>
            </a:extLst>
          </p:cNvPr>
          <p:cNvSpPr>
            <a:spLocks noGrp="1"/>
          </p:cNvSpPr>
          <p:nvPr>
            <p:ph type="sldNum" sz="quarter" idx="5"/>
          </p:nvPr>
        </p:nvSpPr>
        <p:spPr/>
        <p:txBody>
          <a:bodyPr/>
          <a:lstStyle/>
          <a:p>
            <a:fld id="{77A115AE-DC92-4590-A815-C4FC85CE9AFA}" type="slidenum">
              <a:rPr lang="en-US" smtClean="0"/>
              <a:t>18</a:t>
            </a:fld>
            <a:endParaRPr lang="en-US"/>
          </a:p>
        </p:txBody>
      </p:sp>
    </p:spTree>
    <p:extLst>
      <p:ext uri="{BB962C8B-B14F-4D97-AF65-F5344CB8AC3E}">
        <p14:creationId xmlns:p14="http://schemas.microsoft.com/office/powerpoint/2010/main" val="422146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aspect of Biblical wisdom involves the exercise of the WILL to do good.</a:t>
            </a:r>
          </a:p>
          <a:p>
            <a:r>
              <a:rPr lang="en-US" dirty="0"/>
              <a:t>As Christians, we are called to not only personal righteousness, but also communal righteousness within our convent community.</a:t>
            </a:r>
          </a:p>
        </p:txBody>
      </p:sp>
      <p:sp>
        <p:nvSpPr>
          <p:cNvPr id="4" name="Slide Number Placeholder 3"/>
          <p:cNvSpPr>
            <a:spLocks noGrp="1"/>
          </p:cNvSpPr>
          <p:nvPr>
            <p:ph type="sldNum" sz="quarter" idx="5"/>
          </p:nvPr>
        </p:nvSpPr>
        <p:spPr/>
        <p:txBody>
          <a:bodyPr/>
          <a:lstStyle/>
          <a:p>
            <a:fld id="{77A115AE-DC92-4590-A815-C4FC85CE9AFA}" type="slidenum">
              <a:rPr lang="en-US" smtClean="0"/>
              <a:t>19</a:t>
            </a:fld>
            <a:endParaRPr lang="en-US"/>
          </a:p>
        </p:txBody>
      </p:sp>
    </p:spTree>
    <p:extLst>
      <p:ext uri="{BB962C8B-B14F-4D97-AF65-F5344CB8AC3E}">
        <p14:creationId xmlns:p14="http://schemas.microsoft.com/office/powerpoint/2010/main" val="808711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F478B-F184-38D1-D86C-E0ABA1AA4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4444A-BAB7-E91E-AC7D-EC86029FF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CBC8B-E08D-CA1A-6EE4-2F5887460E48}"/>
              </a:ext>
            </a:extLst>
          </p:cNvPr>
          <p:cNvSpPr>
            <a:spLocks noGrp="1"/>
          </p:cNvSpPr>
          <p:nvPr>
            <p:ph type="body" idx="1"/>
          </p:nvPr>
        </p:nvSpPr>
        <p:spPr/>
        <p:txBody>
          <a:bodyPr/>
          <a:lstStyle/>
          <a:p>
            <a:r>
              <a:rPr lang="en-US" dirty="0"/>
              <a:t>We could call individual self-control “virtue” but what does corporate self-control look like? I think that’s a harder question to answer. Let’s agree that, at least, it could begin with justice. That is, just laws justly applied.</a:t>
            </a:r>
          </a:p>
          <a:p>
            <a:endParaRPr lang="en-US" dirty="0"/>
          </a:p>
          <a:p>
            <a:r>
              <a:rPr lang="en-US" dirty="0"/>
              <a:t>But what do we do when we live in a society where that is injustice and where we aren’t seeing the shalom we would like to see?</a:t>
            </a:r>
          </a:p>
        </p:txBody>
      </p:sp>
      <p:sp>
        <p:nvSpPr>
          <p:cNvPr id="4" name="Slide Number Placeholder 3">
            <a:extLst>
              <a:ext uri="{FF2B5EF4-FFF2-40B4-BE49-F238E27FC236}">
                <a16:creationId xmlns:a16="http://schemas.microsoft.com/office/drawing/2014/main" id="{46546733-7D07-AE59-4791-B7820043C60B}"/>
              </a:ext>
            </a:extLst>
          </p:cNvPr>
          <p:cNvSpPr>
            <a:spLocks noGrp="1"/>
          </p:cNvSpPr>
          <p:nvPr>
            <p:ph type="sldNum" sz="quarter" idx="5"/>
          </p:nvPr>
        </p:nvSpPr>
        <p:spPr/>
        <p:txBody>
          <a:bodyPr/>
          <a:lstStyle/>
          <a:p>
            <a:fld id="{77A115AE-DC92-4590-A815-C4FC85CE9AFA}" type="slidenum">
              <a:rPr lang="en-US" smtClean="0"/>
              <a:t>20</a:t>
            </a:fld>
            <a:endParaRPr lang="en-US"/>
          </a:p>
        </p:txBody>
      </p:sp>
    </p:spTree>
    <p:extLst>
      <p:ext uri="{BB962C8B-B14F-4D97-AF65-F5344CB8AC3E}">
        <p14:creationId xmlns:p14="http://schemas.microsoft.com/office/powerpoint/2010/main" val="3497111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19DFF-602C-24B3-7A1D-0D95E88F6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95BD8-59B4-1C08-C0C6-987A2B7F7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B80A8-EE79-CFCD-2180-1FA806CBC544}"/>
              </a:ext>
            </a:extLst>
          </p:cNvPr>
          <p:cNvSpPr>
            <a:spLocks noGrp="1"/>
          </p:cNvSpPr>
          <p:nvPr>
            <p:ph type="body" idx="1"/>
          </p:nvPr>
        </p:nvSpPr>
        <p:spPr/>
        <p:txBody>
          <a:bodyPr/>
          <a:lstStyle/>
          <a:p>
            <a:r>
              <a:rPr lang="en-US" dirty="0"/>
              <a:t>Ancient wisdom literature suggests answers, because the questions of injustice are not new. We can lament. We can speak the truth (with discretion). And we can organize to work together. </a:t>
            </a:r>
          </a:p>
        </p:txBody>
      </p:sp>
      <p:sp>
        <p:nvSpPr>
          <p:cNvPr id="4" name="Slide Number Placeholder 3">
            <a:extLst>
              <a:ext uri="{FF2B5EF4-FFF2-40B4-BE49-F238E27FC236}">
                <a16:creationId xmlns:a16="http://schemas.microsoft.com/office/drawing/2014/main" id="{AE4E6085-BEE8-F89A-FE33-AE54FE555FB4}"/>
              </a:ext>
            </a:extLst>
          </p:cNvPr>
          <p:cNvSpPr>
            <a:spLocks noGrp="1"/>
          </p:cNvSpPr>
          <p:nvPr>
            <p:ph type="sldNum" sz="quarter" idx="5"/>
          </p:nvPr>
        </p:nvSpPr>
        <p:spPr/>
        <p:txBody>
          <a:bodyPr/>
          <a:lstStyle/>
          <a:p>
            <a:fld id="{77A115AE-DC92-4590-A815-C4FC85CE9AFA}" type="slidenum">
              <a:rPr lang="en-US" smtClean="0"/>
              <a:t>21</a:t>
            </a:fld>
            <a:endParaRPr lang="en-US"/>
          </a:p>
        </p:txBody>
      </p:sp>
    </p:spTree>
    <p:extLst>
      <p:ext uri="{BB962C8B-B14F-4D97-AF65-F5344CB8AC3E}">
        <p14:creationId xmlns:p14="http://schemas.microsoft.com/office/powerpoint/2010/main" val="4278309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B34A-53D5-22A7-DA0E-D12A4CEA7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EA32B-E964-EBFC-38B9-F0C22C486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A6A55-AFB4-8420-16D6-1B9EBB1E6AB3}"/>
              </a:ext>
            </a:extLst>
          </p:cNvPr>
          <p:cNvSpPr>
            <a:spLocks noGrp="1"/>
          </p:cNvSpPr>
          <p:nvPr>
            <p:ph type="body" idx="1"/>
          </p:nvPr>
        </p:nvSpPr>
        <p:spPr/>
        <p:txBody>
          <a:bodyPr/>
          <a:lstStyle/>
          <a:p>
            <a:r>
              <a:rPr lang="en-US" dirty="0"/>
              <a:t>In Proverbs, self-control often involves forgoing a short-term pleasure for a long-term gain. In Proverbs 19:24 the sluggard is too lazy to even eat. If only he could postpone sleep just a little to finish eating. Then he would be OK. There’s a proper time and place for both sleeping and eating. Adultery is a somewhat different matter. It has both moral (Prov 5:5) and practical consequences (v. 10). Both prudence and discernment play into the analysis. It’s risky. Do you see what’s going on here? The remedy, according to Proverbs, is to stay away (5 verse 8). Just avoid the situation.</a:t>
            </a:r>
          </a:p>
          <a:p>
            <a:endParaRPr lang="en-US" dirty="0"/>
          </a:p>
          <a:p>
            <a:r>
              <a:rPr lang="en-US" dirty="0"/>
              <a:t>Our current climate crisis is exactly the same lack of self-control. It’s not that we don’t know how to prevent climate change. We do and have for 40 or 50 years. It’s just that securing our long-term future would require forgoing fossils fuels (and the associated economic growth) in the present day. We’ve failed to live in accordance with our own long-term interests both individually and corporately. And at every scale in between. We have decades of failure to exercise self-control with respect to climate change. Will we also fail with AI?</a:t>
            </a:r>
          </a:p>
        </p:txBody>
      </p:sp>
      <p:sp>
        <p:nvSpPr>
          <p:cNvPr id="4" name="Slide Number Placeholder 3">
            <a:extLst>
              <a:ext uri="{FF2B5EF4-FFF2-40B4-BE49-F238E27FC236}">
                <a16:creationId xmlns:a16="http://schemas.microsoft.com/office/drawing/2014/main" id="{4FCFCD15-D5CD-33A3-754E-FA0C5DF20E3D}"/>
              </a:ext>
            </a:extLst>
          </p:cNvPr>
          <p:cNvSpPr>
            <a:spLocks noGrp="1"/>
          </p:cNvSpPr>
          <p:nvPr>
            <p:ph type="sldNum" sz="quarter" idx="5"/>
          </p:nvPr>
        </p:nvSpPr>
        <p:spPr/>
        <p:txBody>
          <a:bodyPr/>
          <a:lstStyle/>
          <a:p>
            <a:fld id="{77A115AE-DC92-4590-A815-C4FC85CE9AFA}" type="slidenum">
              <a:rPr lang="en-US" smtClean="0"/>
              <a:t>22</a:t>
            </a:fld>
            <a:endParaRPr lang="en-US"/>
          </a:p>
        </p:txBody>
      </p:sp>
    </p:spTree>
    <p:extLst>
      <p:ext uri="{BB962C8B-B14F-4D97-AF65-F5344CB8AC3E}">
        <p14:creationId xmlns:p14="http://schemas.microsoft.com/office/powerpoint/2010/main" val="819552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A64D6-290A-1EA3-84B6-D3F3F2F21B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92AB8B-A95B-2F56-F6C3-BF75775B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239F9B-0603-6DBC-BD3B-6D3ABBF3F41B}"/>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5" name="Footer Placeholder 4">
            <a:extLst>
              <a:ext uri="{FF2B5EF4-FFF2-40B4-BE49-F238E27FC236}">
                <a16:creationId xmlns:a16="http://schemas.microsoft.com/office/drawing/2014/main" id="{6EE03A1A-FDD3-C5C8-A746-E7F49432E5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CE47D-D56D-A867-75D6-A5DBB965B42F}"/>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2454373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06404-AA3C-2521-E5F3-FF3C536D63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1EFEC-D6DF-DA35-3D0A-6A48DBC788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CD048-FF3D-3A35-F1ED-FB18229B919F}"/>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5" name="Footer Placeholder 4">
            <a:extLst>
              <a:ext uri="{FF2B5EF4-FFF2-40B4-BE49-F238E27FC236}">
                <a16:creationId xmlns:a16="http://schemas.microsoft.com/office/drawing/2014/main" id="{E2D8C103-A88E-EF19-7F6A-54818E62B0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1E0CA-409B-B08C-6CFA-998E36388E17}"/>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212854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2F3E-8570-1594-5422-CCAD364F6A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252F26-FDD1-5DB6-9B7A-8D7804124D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A87F9A-7405-EF99-2D41-7FB2B68425A3}"/>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5" name="Footer Placeholder 4">
            <a:extLst>
              <a:ext uri="{FF2B5EF4-FFF2-40B4-BE49-F238E27FC236}">
                <a16:creationId xmlns:a16="http://schemas.microsoft.com/office/drawing/2014/main" id="{74A7CFAE-A70A-371C-56C8-8D6313DFDD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EFE4-4F86-75DB-BEF4-297DB247BD31}"/>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1662235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098D-22C7-8A9B-77B3-E9C7EFEA13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34CE11-39FD-35D1-F6C1-BC9FDA3A3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954259-6869-FF95-A071-0FE1FF1C8E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D7E04E-52E5-6CB4-AC33-3ED52808A3AC}"/>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6" name="Footer Placeholder 5">
            <a:extLst>
              <a:ext uri="{FF2B5EF4-FFF2-40B4-BE49-F238E27FC236}">
                <a16:creationId xmlns:a16="http://schemas.microsoft.com/office/drawing/2014/main" id="{7A82DEAE-EEA9-0D08-33B5-0B5195E6FC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0B964C-3F83-5BEB-D69F-FC3A3BC902F6}"/>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2359516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5A8B2-6220-29E0-667E-426B33A79B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03A447-254E-2A86-E007-1AB9EA7A3B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E26D44-FB0C-5013-859C-F45C8B745C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9668DD-CDBB-A7E6-2EF5-6A78D405FB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075256-EBC6-43CC-09B9-7794576812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2502B1-659A-8E06-F73E-5B48486C00FD}"/>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8" name="Footer Placeholder 7">
            <a:extLst>
              <a:ext uri="{FF2B5EF4-FFF2-40B4-BE49-F238E27FC236}">
                <a16:creationId xmlns:a16="http://schemas.microsoft.com/office/drawing/2014/main" id="{246E1787-38D7-920C-81C6-2867F7D010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7F25D9-FE8D-CC4A-EB10-8E2BEC6661CD}"/>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640077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52446-0CF5-625F-7A34-9AE31585ED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B22D14-0CC3-6C54-0B6E-D116BE22C8AD}"/>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4" name="Footer Placeholder 3">
            <a:extLst>
              <a:ext uri="{FF2B5EF4-FFF2-40B4-BE49-F238E27FC236}">
                <a16:creationId xmlns:a16="http://schemas.microsoft.com/office/drawing/2014/main" id="{CDA407BB-7DB3-5FFF-3D8B-26A657885F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EB2727-E2B0-A6BE-316E-EFF82FCBD261}"/>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527874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83C6BC-B4F3-5F79-93F5-93606CA533F9}"/>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3" name="Footer Placeholder 2">
            <a:extLst>
              <a:ext uri="{FF2B5EF4-FFF2-40B4-BE49-F238E27FC236}">
                <a16:creationId xmlns:a16="http://schemas.microsoft.com/office/drawing/2014/main" id="{0AF05A84-2DDC-A1F8-6123-DBC776248B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EFD528-F17E-C462-AAAF-A3629FA1B9AC}"/>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1531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EE52A-C98C-B23C-4D2F-E922B05CBB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557968-F89A-5CFB-F2CF-79D6D76DBA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D97FD6-8DF3-6216-A43C-3C3438B837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E287E-AB34-6D19-A9D2-59CBF52EBC08}"/>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6" name="Footer Placeholder 5">
            <a:extLst>
              <a:ext uri="{FF2B5EF4-FFF2-40B4-BE49-F238E27FC236}">
                <a16:creationId xmlns:a16="http://schemas.microsoft.com/office/drawing/2014/main" id="{709EAF39-AB00-A65D-FD7E-B49EA40D1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409436-4EB1-271E-3FF1-881BD61C45A4}"/>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1781937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3A3BB-FFC1-FF99-27B4-117529A3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79BEF-1259-335D-BFE5-916A090563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12BF19-0E43-7BBA-4865-8BBFE31264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3A8DA-A67C-9347-642F-7CD3C5865FE6}"/>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6" name="Footer Placeholder 5">
            <a:extLst>
              <a:ext uri="{FF2B5EF4-FFF2-40B4-BE49-F238E27FC236}">
                <a16:creationId xmlns:a16="http://schemas.microsoft.com/office/drawing/2014/main" id="{0439FC57-EABA-2E5D-C2E2-AA7980DCC6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54BAC3-A631-DA47-B867-01D158E3F996}"/>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3982726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0DB4-DD82-2992-2D4B-62E10188EE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B68D9D-1A93-BFBA-2D8C-6587692384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1F4858-A5D2-F351-A27F-33E6C44164DA}"/>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5" name="Footer Placeholder 4">
            <a:extLst>
              <a:ext uri="{FF2B5EF4-FFF2-40B4-BE49-F238E27FC236}">
                <a16:creationId xmlns:a16="http://schemas.microsoft.com/office/drawing/2014/main" id="{EB91FE95-818D-03FD-0918-A06EF56B7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F2ADBA-4CE2-1D4F-EFAF-634CBAAD5099}"/>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407122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318560-6831-1457-6CB0-C0F0EBB459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2B9F8D-34DC-3A75-FC89-BFCB617FF7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0B0897-C372-B977-F9BB-612C29CFC625}"/>
              </a:ext>
            </a:extLst>
          </p:cNvPr>
          <p:cNvSpPr>
            <a:spLocks noGrp="1"/>
          </p:cNvSpPr>
          <p:nvPr>
            <p:ph type="dt" sz="half" idx="10"/>
          </p:nvPr>
        </p:nvSpPr>
        <p:spPr/>
        <p:txBody>
          <a:bodyPr/>
          <a:lstStyle/>
          <a:p>
            <a:fld id="{B37B1EDD-9E96-47AF-B333-62BCD630E348}" type="datetimeFigureOut">
              <a:rPr lang="en-US" smtClean="0"/>
              <a:t>10/7/2026</a:t>
            </a:fld>
            <a:endParaRPr lang="en-US"/>
          </a:p>
        </p:txBody>
      </p:sp>
      <p:sp>
        <p:nvSpPr>
          <p:cNvPr id="5" name="Footer Placeholder 4">
            <a:extLst>
              <a:ext uri="{FF2B5EF4-FFF2-40B4-BE49-F238E27FC236}">
                <a16:creationId xmlns:a16="http://schemas.microsoft.com/office/drawing/2014/main" id="{8B7C06DD-FA24-5C59-C448-E8BBD5FC57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D1E131-A387-35F8-6E8B-15C6D21D7862}"/>
              </a:ext>
            </a:extLst>
          </p:cNvPr>
          <p:cNvSpPr>
            <a:spLocks noGrp="1"/>
          </p:cNvSpPr>
          <p:nvPr>
            <p:ph type="sldNum" sz="quarter" idx="12"/>
          </p:nvPr>
        </p:nvSpPr>
        <p:spPr/>
        <p:txBody>
          <a:bodyPr/>
          <a:lstStyle/>
          <a:p>
            <a:fld id="{8459746A-DBA7-450F-9D7B-5288A45D40A8}" type="slidenum">
              <a:rPr lang="en-US" smtClean="0"/>
              <a:t>‹#›</a:t>
            </a:fld>
            <a:endParaRPr lang="en-US"/>
          </a:p>
        </p:txBody>
      </p:sp>
    </p:spTree>
    <p:extLst>
      <p:ext uri="{BB962C8B-B14F-4D97-AF65-F5344CB8AC3E}">
        <p14:creationId xmlns:p14="http://schemas.microsoft.com/office/powerpoint/2010/main" val="2482612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0303EC-CF3E-C369-3DBA-3AEBF5F44C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19B722-92F1-2BD9-8C3A-E77D817E8A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B7092-C530-B55D-5A79-B75EAB154D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7B1EDD-9E96-47AF-B333-62BCD630E348}" type="datetimeFigureOut">
              <a:rPr lang="en-US" smtClean="0"/>
              <a:t>10/7/2026</a:t>
            </a:fld>
            <a:endParaRPr lang="en-US"/>
          </a:p>
        </p:txBody>
      </p:sp>
      <p:sp>
        <p:nvSpPr>
          <p:cNvPr id="5" name="Footer Placeholder 4">
            <a:extLst>
              <a:ext uri="{FF2B5EF4-FFF2-40B4-BE49-F238E27FC236}">
                <a16:creationId xmlns:a16="http://schemas.microsoft.com/office/drawing/2014/main" id="{0911605A-A7D7-1BE6-9EB9-29CD93747B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01AEA1-8181-0418-867E-55182F7C36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59746A-DBA7-450F-9D7B-5288A45D40A8}" type="slidenum">
              <a:rPr lang="en-US" smtClean="0"/>
              <a:t>‹#›</a:t>
            </a:fld>
            <a:endParaRPr lang="en-US"/>
          </a:p>
        </p:txBody>
      </p:sp>
    </p:spTree>
    <p:extLst>
      <p:ext uri="{BB962C8B-B14F-4D97-AF65-F5344CB8AC3E}">
        <p14:creationId xmlns:p14="http://schemas.microsoft.com/office/powerpoint/2010/main" val="2801331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6.jpeg"/><Relationship Id="rId7" Type="http://schemas.openxmlformats.org/officeDocument/2006/relationships/diagramColors" Target="../diagrams/colors2.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17.svg"/><Relationship Id="rId4" Type="http://schemas.openxmlformats.org/officeDocument/2006/relationships/diagramData" Target="../diagrams/data2.xml"/><Relationship Id="rId9" Type="http://schemas.openxmlformats.org/officeDocument/2006/relationships/image" Target="../media/image1.svg"/></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6.jpeg"/><Relationship Id="rId7" Type="http://schemas.openxmlformats.org/officeDocument/2006/relationships/diagramColors" Target="../diagrams/colors3.xml"/><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1.svg"/></Relationships>
</file>

<file path=ppt/slides/_rels/slide1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6.jpeg"/><Relationship Id="rId7" Type="http://schemas.openxmlformats.org/officeDocument/2006/relationships/diagramColors" Target="../diagrams/colors4.xm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1.svg"/></Relationships>
</file>

<file path=ppt/slides/_rels/slide1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6.jpeg"/><Relationship Id="rId7" Type="http://schemas.openxmlformats.org/officeDocument/2006/relationships/diagramColors" Target="../diagrams/colors5.xml"/><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diagramQuickStyle" Target="../diagrams/quickStyle5.xml"/><Relationship Id="rId5" Type="http://schemas.openxmlformats.org/officeDocument/2006/relationships/diagramLayout" Target="../diagrams/layout5.xml"/><Relationship Id="rId10" Type="http://schemas.openxmlformats.org/officeDocument/2006/relationships/image" Target="../media/image18.jpeg"/><Relationship Id="rId4" Type="http://schemas.openxmlformats.org/officeDocument/2006/relationships/diagramData" Target="../diagrams/data5.xml"/><Relationship Id="rId9" Type="http://schemas.openxmlformats.org/officeDocument/2006/relationships/image" Target="../media/image1.svg"/></Relationships>
</file>

<file path=ppt/slides/_rels/slide15.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6.jpeg"/><Relationship Id="rId7" Type="http://schemas.openxmlformats.org/officeDocument/2006/relationships/diagramColors" Target="../diagrams/colors6.xml"/><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diagramQuickStyle" Target="../diagrams/quickStyle6.xml"/><Relationship Id="rId11" Type="http://schemas.openxmlformats.org/officeDocument/2006/relationships/image" Target="../media/image19.jpeg"/><Relationship Id="rId5" Type="http://schemas.openxmlformats.org/officeDocument/2006/relationships/diagramLayout" Target="../diagrams/layout6.xml"/><Relationship Id="rId10" Type="http://schemas.openxmlformats.org/officeDocument/2006/relationships/image" Target="../media/image18.jpeg"/><Relationship Id="rId4" Type="http://schemas.openxmlformats.org/officeDocument/2006/relationships/diagramData" Target="../diagrams/data6.xml"/><Relationship Id="rId9" Type="http://schemas.openxmlformats.org/officeDocument/2006/relationships/image" Target="../media/image1.svg"/></Relationships>
</file>

<file path=ppt/slides/_rels/slide16.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6.jpeg"/><Relationship Id="rId7" Type="http://schemas.openxmlformats.org/officeDocument/2006/relationships/diagramColors" Target="../diagrams/colors7.xml"/><Relationship Id="rId12"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diagramQuickStyle" Target="../diagrams/quickStyle7.xml"/><Relationship Id="rId11" Type="http://schemas.openxmlformats.org/officeDocument/2006/relationships/image" Target="../media/image19.jpeg"/><Relationship Id="rId5" Type="http://schemas.openxmlformats.org/officeDocument/2006/relationships/diagramLayout" Target="../diagrams/layout7.xml"/><Relationship Id="rId10" Type="http://schemas.openxmlformats.org/officeDocument/2006/relationships/image" Target="../media/image18.jpeg"/><Relationship Id="rId4" Type="http://schemas.openxmlformats.org/officeDocument/2006/relationships/diagramData" Target="../diagrams/data7.xml"/><Relationship Id="rId9" Type="http://schemas.openxmlformats.org/officeDocument/2006/relationships/image" Target="../media/image1.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4.jpeg"/><Relationship Id="rId5" Type="http://schemas.openxmlformats.org/officeDocument/2006/relationships/image" Target="../media/image23.png"/><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2D6C6-9DAD-0D65-C2D5-BE2982C16B06}"/>
              </a:ext>
            </a:extLst>
          </p:cNvPr>
          <p:cNvSpPr>
            <a:spLocks noGrp="1"/>
          </p:cNvSpPr>
          <p:nvPr>
            <p:ph type="ctrTitle"/>
          </p:nvPr>
        </p:nvSpPr>
        <p:spPr>
          <a:xfrm>
            <a:off x="191813" y="1623847"/>
            <a:ext cx="11808372" cy="1002583"/>
          </a:xfrm>
        </p:spPr>
        <p:txBody>
          <a:bodyPr/>
          <a:lstStyle/>
          <a:p>
            <a:r>
              <a:rPr lang="en-US"/>
              <a:t>Emissions, impacts, and embodiment</a:t>
            </a:r>
          </a:p>
        </p:txBody>
      </p:sp>
      <p:sp>
        <p:nvSpPr>
          <p:cNvPr id="3" name="Subtitle 2">
            <a:extLst>
              <a:ext uri="{FF2B5EF4-FFF2-40B4-BE49-F238E27FC236}">
                <a16:creationId xmlns:a16="http://schemas.microsoft.com/office/drawing/2014/main" id="{C0296B98-F9EA-4813-F365-856992B37ADD}"/>
              </a:ext>
            </a:extLst>
          </p:cNvPr>
          <p:cNvSpPr>
            <a:spLocks noGrp="1"/>
          </p:cNvSpPr>
          <p:nvPr>
            <p:ph type="subTitle" idx="1"/>
          </p:nvPr>
        </p:nvSpPr>
        <p:spPr>
          <a:xfrm>
            <a:off x="1523999" y="2514605"/>
            <a:ext cx="9144000" cy="520257"/>
          </a:xfrm>
        </p:spPr>
        <p:txBody>
          <a:bodyPr/>
          <a:lstStyle/>
          <a:p>
            <a:r>
              <a:rPr lang="en-US" dirty="0"/>
              <a:t>A techno-economic sustainability analysis of AI data centers</a:t>
            </a:r>
          </a:p>
        </p:txBody>
      </p:sp>
      <p:sp>
        <p:nvSpPr>
          <p:cNvPr id="4" name="TextBox 3">
            <a:extLst>
              <a:ext uri="{FF2B5EF4-FFF2-40B4-BE49-F238E27FC236}">
                <a16:creationId xmlns:a16="http://schemas.microsoft.com/office/drawing/2014/main" id="{5986E05F-0C76-3ABE-DDF2-648BB4B7D48A}"/>
              </a:ext>
            </a:extLst>
          </p:cNvPr>
          <p:cNvSpPr txBox="1"/>
          <p:nvPr/>
        </p:nvSpPr>
        <p:spPr>
          <a:xfrm>
            <a:off x="1783829" y="4211461"/>
            <a:ext cx="8624341" cy="2431435"/>
          </a:xfrm>
          <a:prstGeom prst="rect">
            <a:avLst/>
          </a:prstGeom>
          <a:noFill/>
        </p:spPr>
        <p:txBody>
          <a:bodyPr wrap="square" rtlCol="0">
            <a:spAutoFit/>
          </a:bodyPr>
          <a:lstStyle/>
          <a:p>
            <a:pPr algn="ctr"/>
            <a:r>
              <a:rPr lang="en-US" sz="3200"/>
              <a:t>Jeremy VanAntwerp &amp; Matthew Kuperus Heun</a:t>
            </a:r>
          </a:p>
          <a:p>
            <a:pPr algn="ctr"/>
            <a:r>
              <a:rPr lang="en-US" sz="2800" b="1">
                <a:solidFill>
                  <a:schemeClr val="accent2">
                    <a:lumMod val="75000"/>
                  </a:schemeClr>
                </a:solidFill>
              </a:rPr>
              <a:t>Calvin Engineering</a:t>
            </a:r>
          </a:p>
          <a:p>
            <a:pPr algn="ctr"/>
            <a:endParaRPr lang="en-US" sz="2800" b="1">
              <a:solidFill>
                <a:schemeClr val="accent2">
                  <a:lumMod val="75000"/>
                </a:schemeClr>
              </a:solidFill>
            </a:endParaRPr>
          </a:p>
          <a:p>
            <a:pPr algn="ctr"/>
            <a:r>
              <a:rPr lang="en-US" sz="3200" b="1" i="1"/>
              <a:t>Wisdom in the Age of AI</a:t>
            </a:r>
          </a:p>
          <a:p>
            <a:pPr algn="ctr"/>
            <a:r>
              <a:rPr lang="en-US" sz="3200">
                <a:solidFill>
                  <a:schemeClr val="bg1">
                    <a:lumMod val="65000"/>
                  </a:schemeClr>
                </a:solidFill>
              </a:rPr>
              <a:t>October 8, 2026</a:t>
            </a:r>
          </a:p>
        </p:txBody>
      </p:sp>
    </p:spTree>
    <p:extLst>
      <p:ext uri="{BB962C8B-B14F-4D97-AF65-F5344CB8AC3E}">
        <p14:creationId xmlns:p14="http://schemas.microsoft.com/office/powerpoint/2010/main" val="124542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2E2FF9-C5CE-310D-6179-CFD748D14FFE}"/>
              </a:ext>
            </a:extLst>
          </p:cNvPr>
          <p:cNvSpPr>
            <a:spLocks noGrp="1"/>
          </p:cNvSpPr>
          <p:nvPr>
            <p:ph type="title"/>
          </p:nvPr>
        </p:nvSpPr>
        <p:spPr>
          <a:xfrm>
            <a:off x="432223" y="248038"/>
            <a:ext cx="7063721" cy="1159200"/>
          </a:xfrm>
        </p:spPr>
        <p:txBody>
          <a:bodyPr vert="horz" lIns="91440" tIns="45720" rIns="91440" bIns="45720" rtlCol="0" anchor="ctr">
            <a:normAutofit/>
          </a:bodyPr>
          <a:lstStyle/>
          <a:p>
            <a:r>
              <a:rPr lang="en-US" sz="7200" b="1" kern="1200">
                <a:solidFill>
                  <a:srgbClr val="FFFFFF"/>
                </a:solidFill>
                <a:latin typeface="+mj-lt"/>
                <a:ea typeface="+mj-ea"/>
                <a:cs typeface="+mj-cs"/>
              </a:rPr>
              <a:t>Biblical Wisdom</a:t>
            </a:r>
          </a:p>
        </p:txBody>
      </p:sp>
      <p:pic>
        <p:nvPicPr>
          <p:cNvPr id="5" name="Graphic 4" descr="Scales of justice with solid fill">
            <a:extLst>
              <a:ext uri="{FF2B5EF4-FFF2-40B4-BE49-F238E27FC236}">
                <a16:creationId xmlns:a16="http://schemas.microsoft.com/office/drawing/2014/main" id="{8361DD68-0EA7-A5EC-1B6F-752881B41F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7043" y="1617785"/>
            <a:ext cx="1348207" cy="1348207"/>
          </a:xfrm>
          <a:prstGeom prst="rect">
            <a:avLst/>
          </a:prstGeom>
        </p:spPr>
      </p:pic>
      <p:pic>
        <p:nvPicPr>
          <p:cNvPr id="7" name="Graphic 6" descr="Candle with solid fill">
            <a:extLst>
              <a:ext uri="{FF2B5EF4-FFF2-40B4-BE49-F238E27FC236}">
                <a16:creationId xmlns:a16="http://schemas.microsoft.com/office/drawing/2014/main" id="{65D0DB0B-3E1A-3810-C6CC-F731E91B00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1896" y="1617785"/>
            <a:ext cx="1348207" cy="1348207"/>
          </a:xfrm>
          <a:prstGeom prst="rect">
            <a:avLst/>
          </a:prstGeom>
        </p:spPr>
      </p:pic>
      <p:pic>
        <p:nvPicPr>
          <p:cNvPr id="4" name="Picture 3" descr="Tower Icon Watchtower Black Silhouette Front Stock Vector (Royalty Free)  2571768335 | Shutterstock">
            <a:extLst>
              <a:ext uri="{FF2B5EF4-FFF2-40B4-BE49-F238E27FC236}">
                <a16:creationId xmlns:a16="http://schemas.microsoft.com/office/drawing/2014/main" id="{98F2509C-0006-7608-8003-06090963380E}"/>
              </a:ext>
            </a:extLst>
          </p:cNvPr>
          <p:cNvPicPr>
            <a:picLocks noChangeAspect="1"/>
          </p:cNvPicPr>
          <p:nvPr/>
        </p:nvPicPr>
        <p:blipFill>
          <a:blip r:embed="rId5"/>
          <a:srcRect l="27192" t="8346" r="27290" b="20761"/>
          <a:stretch>
            <a:fillRect/>
          </a:stretch>
        </p:blipFill>
        <p:spPr>
          <a:xfrm flipH="1">
            <a:off x="9536749" y="1574310"/>
            <a:ext cx="1126440" cy="1328730"/>
          </a:xfrm>
          <a:prstGeom prst="rect">
            <a:avLst/>
          </a:prstGeom>
        </p:spPr>
      </p:pic>
      <p:sp>
        <p:nvSpPr>
          <p:cNvPr id="6" name="Rectangle 5">
            <a:extLst>
              <a:ext uri="{FF2B5EF4-FFF2-40B4-BE49-F238E27FC236}">
                <a16:creationId xmlns:a16="http://schemas.microsoft.com/office/drawing/2014/main" id="{9D19644B-DA97-097F-5D80-217699BCDD2F}"/>
              </a:ext>
            </a:extLst>
          </p:cNvPr>
          <p:cNvSpPr/>
          <p:nvPr/>
        </p:nvSpPr>
        <p:spPr>
          <a:xfrm>
            <a:off x="7968343" y="1617785"/>
            <a:ext cx="4223656" cy="52402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EA0FBF6-08D7-786B-A06B-2CCFA6995ECE}"/>
              </a:ext>
            </a:extLst>
          </p:cNvPr>
          <p:cNvSpPr/>
          <p:nvPr/>
        </p:nvSpPr>
        <p:spPr>
          <a:xfrm>
            <a:off x="3677495" y="1596047"/>
            <a:ext cx="8581696" cy="52402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Content Placeholder 3">
            <a:extLst>
              <a:ext uri="{FF2B5EF4-FFF2-40B4-BE49-F238E27FC236}">
                <a16:creationId xmlns:a16="http://schemas.microsoft.com/office/drawing/2014/main" id="{F4480C77-68B4-95BD-AEF5-B84F3C2B66A0}"/>
              </a:ext>
            </a:extLst>
          </p:cNvPr>
          <p:cNvGraphicFramePr>
            <a:graphicFrameLocks/>
          </p:cNvGraphicFramePr>
          <p:nvPr>
            <p:extLst>
              <p:ext uri="{D42A27DB-BD31-4B8C-83A1-F6EECF244321}">
                <p14:modId xmlns:p14="http://schemas.microsoft.com/office/powerpoint/2010/main" val="700141505"/>
              </p:ext>
            </p:extLst>
          </p:nvPr>
        </p:nvGraphicFramePr>
        <p:xfrm>
          <a:off x="0" y="2876654"/>
          <a:ext cx="12297418" cy="4229384"/>
        </p:xfrm>
        <a:graphic>
          <a:graphicData uri="http://schemas.openxmlformats.org/drawingml/2006/table">
            <a:tbl>
              <a:tblPr firstRow="1" bandRow="1">
                <a:tableStyleId>{5C22544A-7EE6-4342-B048-85BDC9FD1C3A}</a:tableStyleId>
              </a:tblPr>
              <a:tblGrid>
                <a:gridCol w="3670871">
                  <a:extLst>
                    <a:ext uri="{9D8B030D-6E8A-4147-A177-3AD203B41FA5}">
                      <a16:colId xmlns:a16="http://schemas.microsoft.com/office/drawing/2014/main" val="341004517"/>
                    </a:ext>
                  </a:extLst>
                </a:gridCol>
                <a:gridCol w="4391358">
                  <a:extLst>
                    <a:ext uri="{9D8B030D-6E8A-4147-A177-3AD203B41FA5}">
                      <a16:colId xmlns:a16="http://schemas.microsoft.com/office/drawing/2014/main" val="1871333845"/>
                    </a:ext>
                  </a:extLst>
                </a:gridCol>
                <a:gridCol w="4235189">
                  <a:extLst>
                    <a:ext uri="{9D8B030D-6E8A-4147-A177-3AD203B41FA5}">
                      <a16:colId xmlns:a16="http://schemas.microsoft.com/office/drawing/2014/main" val="3151296229"/>
                    </a:ext>
                  </a:extLst>
                </a:gridCol>
              </a:tblGrid>
              <a:tr h="454175">
                <a:tc>
                  <a:txBody>
                    <a:bodyPr/>
                    <a:lstStyle/>
                    <a:p>
                      <a:r>
                        <a:rPr lang="en-US" sz="2400" dirty="0"/>
                        <a:t>Prudence</a:t>
                      </a:r>
                    </a:p>
                  </a:txBody>
                  <a:tcPr marL="98500" marR="98500" marT="49250" marB="49250"/>
                </a:tc>
                <a:tc>
                  <a:txBody>
                    <a:bodyPr/>
                    <a:lstStyle/>
                    <a:p>
                      <a:r>
                        <a:rPr lang="en-US" sz="2400"/>
                        <a:t>Discernment</a:t>
                      </a:r>
                    </a:p>
                  </a:txBody>
                  <a:tcPr marL="98500" marR="98500" marT="49250" marB="49250"/>
                </a:tc>
                <a:tc>
                  <a:txBody>
                    <a:bodyPr/>
                    <a:lstStyle/>
                    <a:p>
                      <a:r>
                        <a:rPr lang="en-US" sz="2400"/>
                        <a:t>Self-control</a:t>
                      </a:r>
                    </a:p>
                  </a:txBody>
                  <a:tcPr marL="98500" marR="98500" marT="49250" marB="49250"/>
                </a:tc>
                <a:extLst>
                  <a:ext uri="{0D108BD9-81ED-4DB2-BD59-A6C34878D82A}">
                    <a16:rowId xmlns:a16="http://schemas.microsoft.com/office/drawing/2014/main" val="3121230412"/>
                  </a:ext>
                </a:extLst>
              </a:tr>
              <a:tr h="454175">
                <a:tc>
                  <a:txBody>
                    <a:bodyPr/>
                    <a:lstStyle/>
                    <a:p>
                      <a:r>
                        <a:rPr lang="en-US" sz="2400" b="1" dirty="0"/>
                        <a:t>Logic</a:t>
                      </a:r>
                    </a:p>
                  </a:txBody>
                  <a:tcPr marL="98500" marR="98500" marT="49250" marB="4925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Spiritual </a:t>
                      </a:r>
                      <a:r>
                        <a:rPr lang="en-US" sz="2400" b="1" dirty="0"/>
                        <a:t>Perception</a:t>
                      </a:r>
                    </a:p>
                  </a:txBody>
                  <a:tcPr marL="98500" marR="98500" marT="49250" marB="4925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Will</a:t>
                      </a:r>
                    </a:p>
                  </a:txBody>
                  <a:tcPr marL="98500" marR="98500" marT="49250" marB="49250"/>
                </a:tc>
                <a:extLst>
                  <a:ext uri="{0D108BD9-81ED-4DB2-BD59-A6C34878D82A}">
                    <a16:rowId xmlns:a16="http://schemas.microsoft.com/office/drawing/2014/main" val="55554410"/>
                  </a:ext>
                </a:extLst>
              </a:tr>
              <a:tr h="1527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Shrewd vs. simple</a:t>
                      </a:r>
                    </a:p>
                    <a:p>
                      <a:pPr lvl="1"/>
                      <a:r>
                        <a:rPr lang="en-US" sz="2400" dirty="0"/>
                        <a:t>Prov 8:5</a:t>
                      </a:r>
                    </a:p>
                    <a:p>
                      <a:pPr lvl="1"/>
                      <a:r>
                        <a:rPr lang="en-US" sz="2400" dirty="0"/>
                        <a:t>Prov 14:15</a:t>
                      </a:r>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dirty="0"/>
                        <a:t>Prophet vs. scoffer</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8:6-12</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14:16</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1 Thes 2:13</a:t>
                      </a:r>
                      <a:endParaRPr lang="en-US" sz="2400" b="0" dirty="0"/>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dirty="0"/>
                        <a:t>Disciplined vs. sluggard</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b="0" i="0" dirty="0"/>
                        <a:t>Prov 25:28</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19:24</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4:23; 5:8; 7:8,25</a:t>
                      </a:r>
                    </a:p>
                  </a:txBody>
                  <a:tcPr marL="98500" marR="98500" marT="49250" marB="49250"/>
                </a:tc>
                <a:extLst>
                  <a:ext uri="{0D108BD9-81ED-4DB2-BD59-A6C34878D82A}">
                    <a16:rowId xmlns:a16="http://schemas.microsoft.com/office/drawing/2014/main" val="845988821"/>
                  </a:ext>
                </a:extLst>
              </a:tr>
              <a:tr h="1739324">
                <a:tc>
                  <a:txBody>
                    <a:bodyPr/>
                    <a:lstStyle/>
                    <a:p>
                      <a:pPr lvl="0"/>
                      <a:r>
                        <a:rPr lang="en-US" sz="2400" dirty="0"/>
                        <a:t>Constraints</a:t>
                      </a:r>
                    </a:p>
                    <a:p>
                      <a:pPr lvl="0"/>
                      <a:r>
                        <a:rPr lang="en-US" sz="2400" dirty="0"/>
                        <a:t>Cost/Benefit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Risk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Prioritization</a:t>
                      </a:r>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b="0" dirty="0"/>
                        <a:t>Can I see the truth?</a:t>
                      </a:r>
                      <a:endParaRPr lang="en-US" sz="2400" b="1" dirty="0"/>
                    </a:p>
                    <a:p>
                      <a:pPr marL="457200" lvl="1" indent="-457200"/>
                      <a:r>
                        <a:rPr lang="en-US" sz="2400" b="0" dirty="0"/>
                        <a:t>What is really going on?</a:t>
                      </a:r>
                    </a:p>
                    <a:p>
                      <a:pPr marL="457200" lvl="1" indent="-457200"/>
                      <a:r>
                        <a:rPr lang="en-US" sz="2400" b="0" dirty="0"/>
                        <a:t>What are motives or intentions?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marL="98500" marR="98500" marT="49250" marB="49250"/>
                </a:tc>
                <a:tc>
                  <a:txBody>
                    <a:bodyPr/>
                    <a:lstStyle/>
                    <a:p>
                      <a:pPr marL="457200" lvl="1" indent="-457200"/>
                      <a:r>
                        <a:rPr lang="en-US" sz="2400" b="0" dirty="0"/>
                        <a:t>Can I do the good thing I’ve already decided to do?</a:t>
                      </a:r>
                    </a:p>
                    <a:p>
                      <a:pPr marL="457200" lvl="1" indent="-457200"/>
                      <a:r>
                        <a:rPr lang="en-US" sz="2400" b="0" dirty="0"/>
                        <a:t>Can I avoid avoidable temptation?</a:t>
                      </a:r>
                      <a:endParaRPr lang="en-US" sz="2400" dirty="0"/>
                    </a:p>
                  </a:txBody>
                  <a:tcPr marL="98500" marR="98500" marT="49250" marB="49250"/>
                </a:tc>
                <a:extLst>
                  <a:ext uri="{0D108BD9-81ED-4DB2-BD59-A6C34878D82A}">
                    <a16:rowId xmlns:a16="http://schemas.microsoft.com/office/drawing/2014/main" val="1552138079"/>
                  </a:ext>
                </a:extLst>
              </a:tr>
            </a:tbl>
          </a:graphicData>
        </a:graphic>
      </p:graphicFrame>
      <p:sp>
        <p:nvSpPr>
          <p:cNvPr id="15" name="Rectangle 14">
            <a:extLst>
              <a:ext uri="{FF2B5EF4-FFF2-40B4-BE49-F238E27FC236}">
                <a16:creationId xmlns:a16="http://schemas.microsoft.com/office/drawing/2014/main" id="{FAC2F475-44E1-AFC3-1C5B-504C7097FD41}"/>
              </a:ext>
            </a:extLst>
          </p:cNvPr>
          <p:cNvSpPr/>
          <p:nvPr/>
        </p:nvSpPr>
        <p:spPr>
          <a:xfrm>
            <a:off x="3639268" y="1617785"/>
            <a:ext cx="8639037" cy="54882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947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C0FD86-F0C4-53B0-7A41-325DB9B761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3842FE-F324-3959-61F4-AC0DEFD8B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819D568-F48A-7A8D-9524-1F1FB1A64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CE764DE-7E55-7291-7EB7-4B587C1FA0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C07C673-104B-E98C-AA62-B492B81E5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5D3F8A-1B4B-62DC-3B17-79EDD4D6925A}"/>
              </a:ext>
            </a:extLst>
          </p:cNvPr>
          <p:cNvSpPr>
            <a:spLocks noGrp="1"/>
          </p:cNvSpPr>
          <p:nvPr>
            <p:ph type="title"/>
          </p:nvPr>
        </p:nvSpPr>
        <p:spPr>
          <a:xfrm>
            <a:off x="432223" y="248038"/>
            <a:ext cx="7063721" cy="1159200"/>
          </a:xfrm>
        </p:spPr>
        <p:txBody>
          <a:bodyPr vert="horz" lIns="91440" tIns="45720" rIns="91440" bIns="45720" rtlCol="0" anchor="ctr">
            <a:normAutofit/>
          </a:bodyPr>
          <a:lstStyle/>
          <a:p>
            <a:r>
              <a:rPr lang="en-US" sz="7200" b="1" kern="1200">
                <a:solidFill>
                  <a:srgbClr val="FFFFFF"/>
                </a:solidFill>
                <a:latin typeface="+mj-lt"/>
                <a:ea typeface="+mj-ea"/>
                <a:cs typeface="+mj-cs"/>
              </a:rPr>
              <a:t>Biblical Wisdom</a:t>
            </a:r>
          </a:p>
        </p:txBody>
      </p:sp>
      <p:pic>
        <p:nvPicPr>
          <p:cNvPr id="5" name="Graphic 4" descr="Scales of justice with solid fill">
            <a:extLst>
              <a:ext uri="{FF2B5EF4-FFF2-40B4-BE49-F238E27FC236}">
                <a16:creationId xmlns:a16="http://schemas.microsoft.com/office/drawing/2014/main" id="{EA6EB683-0EEC-DCC9-56E2-2BD58CA38F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7043" y="1617785"/>
            <a:ext cx="1348207" cy="1348207"/>
          </a:xfrm>
          <a:prstGeom prst="rect">
            <a:avLst/>
          </a:prstGeom>
        </p:spPr>
      </p:pic>
      <p:pic>
        <p:nvPicPr>
          <p:cNvPr id="7" name="Graphic 6" descr="Candle with solid fill">
            <a:extLst>
              <a:ext uri="{FF2B5EF4-FFF2-40B4-BE49-F238E27FC236}">
                <a16:creationId xmlns:a16="http://schemas.microsoft.com/office/drawing/2014/main" id="{22898D9B-6700-F424-E2BE-7848B3E343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1325" y="1617785"/>
            <a:ext cx="1348207" cy="1348207"/>
          </a:xfrm>
          <a:prstGeom prst="rect">
            <a:avLst/>
          </a:prstGeom>
        </p:spPr>
      </p:pic>
      <p:pic>
        <p:nvPicPr>
          <p:cNvPr id="4" name="Picture 3" descr="Tower Icon Watchtower Black Silhouette Front Stock Vector (Royalty Free)  2571768335 | Shutterstock">
            <a:extLst>
              <a:ext uri="{FF2B5EF4-FFF2-40B4-BE49-F238E27FC236}">
                <a16:creationId xmlns:a16="http://schemas.microsoft.com/office/drawing/2014/main" id="{6A9B335A-233A-AD2D-75B8-962A039A1B09}"/>
              </a:ext>
            </a:extLst>
          </p:cNvPr>
          <p:cNvPicPr>
            <a:picLocks noChangeAspect="1"/>
          </p:cNvPicPr>
          <p:nvPr/>
        </p:nvPicPr>
        <p:blipFill>
          <a:blip r:embed="rId5"/>
          <a:srcRect l="27192" t="8346" r="27290" b="20761"/>
          <a:stretch>
            <a:fillRect/>
          </a:stretch>
        </p:blipFill>
        <p:spPr>
          <a:xfrm flipH="1">
            <a:off x="9536749" y="1574310"/>
            <a:ext cx="1126440" cy="1328730"/>
          </a:xfrm>
          <a:prstGeom prst="rect">
            <a:avLst/>
          </a:prstGeom>
        </p:spPr>
      </p:pic>
      <p:graphicFrame>
        <p:nvGraphicFramePr>
          <p:cNvPr id="11" name="Content Placeholder 3">
            <a:extLst>
              <a:ext uri="{FF2B5EF4-FFF2-40B4-BE49-F238E27FC236}">
                <a16:creationId xmlns:a16="http://schemas.microsoft.com/office/drawing/2014/main" id="{AAA83ACA-079F-51EB-A66A-628070A834D3}"/>
              </a:ext>
            </a:extLst>
          </p:cNvPr>
          <p:cNvGraphicFramePr>
            <a:graphicFrameLocks/>
          </p:cNvGraphicFramePr>
          <p:nvPr>
            <p:extLst>
              <p:ext uri="{D42A27DB-BD31-4B8C-83A1-F6EECF244321}">
                <p14:modId xmlns:p14="http://schemas.microsoft.com/office/powerpoint/2010/main" val="4074478503"/>
              </p:ext>
            </p:extLst>
          </p:nvPr>
        </p:nvGraphicFramePr>
        <p:xfrm>
          <a:off x="0" y="2876654"/>
          <a:ext cx="12192000" cy="4229384"/>
        </p:xfrm>
        <a:graphic>
          <a:graphicData uri="http://schemas.openxmlformats.org/drawingml/2006/table">
            <a:tbl>
              <a:tblPr firstRow="1" bandRow="1">
                <a:tableStyleId>{5C22544A-7EE6-4342-B048-85BDC9FD1C3A}</a:tableStyleId>
              </a:tblPr>
              <a:tblGrid>
                <a:gridCol w="3639403">
                  <a:extLst>
                    <a:ext uri="{9D8B030D-6E8A-4147-A177-3AD203B41FA5}">
                      <a16:colId xmlns:a16="http://schemas.microsoft.com/office/drawing/2014/main" val="341004517"/>
                    </a:ext>
                  </a:extLst>
                </a:gridCol>
                <a:gridCol w="4353714">
                  <a:extLst>
                    <a:ext uri="{9D8B030D-6E8A-4147-A177-3AD203B41FA5}">
                      <a16:colId xmlns:a16="http://schemas.microsoft.com/office/drawing/2014/main" val="1871333845"/>
                    </a:ext>
                  </a:extLst>
                </a:gridCol>
                <a:gridCol w="4198883">
                  <a:extLst>
                    <a:ext uri="{9D8B030D-6E8A-4147-A177-3AD203B41FA5}">
                      <a16:colId xmlns:a16="http://schemas.microsoft.com/office/drawing/2014/main" val="3151296229"/>
                    </a:ext>
                  </a:extLst>
                </a:gridCol>
              </a:tblGrid>
              <a:tr h="454175">
                <a:tc>
                  <a:txBody>
                    <a:bodyPr/>
                    <a:lstStyle/>
                    <a:p>
                      <a:r>
                        <a:rPr lang="en-US" sz="2400" dirty="0"/>
                        <a:t>Prudence</a:t>
                      </a:r>
                    </a:p>
                  </a:txBody>
                  <a:tcPr marL="98500" marR="98500" marT="49250" marB="49250"/>
                </a:tc>
                <a:tc>
                  <a:txBody>
                    <a:bodyPr/>
                    <a:lstStyle/>
                    <a:p>
                      <a:r>
                        <a:rPr lang="en-US" sz="2400"/>
                        <a:t>Discernment</a:t>
                      </a:r>
                    </a:p>
                  </a:txBody>
                  <a:tcPr marL="98500" marR="98500" marT="49250" marB="49250"/>
                </a:tc>
                <a:tc>
                  <a:txBody>
                    <a:bodyPr/>
                    <a:lstStyle/>
                    <a:p>
                      <a:r>
                        <a:rPr lang="en-US" sz="2400"/>
                        <a:t>Self-control</a:t>
                      </a:r>
                    </a:p>
                  </a:txBody>
                  <a:tcPr marL="98500" marR="98500" marT="49250" marB="49250"/>
                </a:tc>
                <a:extLst>
                  <a:ext uri="{0D108BD9-81ED-4DB2-BD59-A6C34878D82A}">
                    <a16:rowId xmlns:a16="http://schemas.microsoft.com/office/drawing/2014/main" val="3121230412"/>
                  </a:ext>
                </a:extLst>
              </a:tr>
              <a:tr h="454175">
                <a:tc>
                  <a:txBody>
                    <a:bodyPr/>
                    <a:lstStyle/>
                    <a:p>
                      <a:r>
                        <a:rPr lang="en-US" sz="2400" b="1" dirty="0"/>
                        <a:t>Logic</a:t>
                      </a:r>
                    </a:p>
                  </a:txBody>
                  <a:tcPr marL="98500" marR="98500" marT="49250" marB="4925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Spiritual </a:t>
                      </a:r>
                      <a:r>
                        <a:rPr lang="en-US" sz="2400" b="1" dirty="0"/>
                        <a:t>Perception</a:t>
                      </a:r>
                    </a:p>
                  </a:txBody>
                  <a:tcPr marL="98500" marR="98500" marT="49250" marB="4925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Will</a:t>
                      </a:r>
                    </a:p>
                  </a:txBody>
                  <a:tcPr marL="98500" marR="98500" marT="49250" marB="49250"/>
                </a:tc>
                <a:extLst>
                  <a:ext uri="{0D108BD9-81ED-4DB2-BD59-A6C34878D82A}">
                    <a16:rowId xmlns:a16="http://schemas.microsoft.com/office/drawing/2014/main" val="55554410"/>
                  </a:ext>
                </a:extLst>
              </a:tr>
              <a:tr h="1527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Shrewd vs. simple</a:t>
                      </a:r>
                    </a:p>
                    <a:p>
                      <a:pPr lvl="1"/>
                      <a:r>
                        <a:rPr lang="en-US" sz="2400" dirty="0"/>
                        <a:t>Prov 8:5</a:t>
                      </a:r>
                    </a:p>
                    <a:p>
                      <a:pPr lvl="1"/>
                      <a:r>
                        <a:rPr lang="en-US" sz="2400" dirty="0"/>
                        <a:t>Prov 14:15</a:t>
                      </a:r>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dirty="0"/>
                        <a:t>Prophet vs. scoffer</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8:6-12</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14:16</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1 Thes 2:13</a:t>
                      </a:r>
                      <a:endParaRPr lang="en-US" sz="2400" b="0" dirty="0"/>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dirty="0"/>
                        <a:t>Disciplined vs. sluggard</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b="0" i="0" dirty="0"/>
                        <a:t>Prov 25:28</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19:24</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4:23; 5:8; 7:8,25</a:t>
                      </a:r>
                    </a:p>
                  </a:txBody>
                  <a:tcPr marL="98500" marR="98500" marT="49250" marB="49250"/>
                </a:tc>
                <a:extLst>
                  <a:ext uri="{0D108BD9-81ED-4DB2-BD59-A6C34878D82A}">
                    <a16:rowId xmlns:a16="http://schemas.microsoft.com/office/drawing/2014/main" val="845988821"/>
                  </a:ext>
                </a:extLst>
              </a:tr>
              <a:tr h="1739324">
                <a:tc>
                  <a:txBody>
                    <a:bodyPr/>
                    <a:lstStyle/>
                    <a:p>
                      <a:pPr lvl="0"/>
                      <a:r>
                        <a:rPr lang="en-US" sz="2400" dirty="0"/>
                        <a:t>Constraints</a:t>
                      </a:r>
                    </a:p>
                    <a:p>
                      <a:pPr lvl="0"/>
                      <a:r>
                        <a:rPr lang="en-US" sz="2400" dirty="0"/>
                        <a:t>Cost/Benefit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Risk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Prioritization</a:t>
                      </a:r>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b="0" dirty="0"/>
                        <a:t>Can I see the truth?</a:t>
                      </a:r>
                      <a:endParaRPr lang="en-US" sz="2400" b="1" dirty="0"/>
                    </a:p>
                    <a:p>
                      <a:pPr marL="457200" lvl="1" indent="-457200"/>
                      <a:r>
                        <a:rPr lang="en-US" sz="2400" b="0" dirty="0"/>
                        <a:t>What is really going on?</a:t>
                      </a:r>
                    </a:p>
                    <a:p>
                      <a:pPr marL="457200" lvl="1" indent="-457200"/>
                      <a:r>
                        <a:rPr lang="en-US" sz="2400" b="0" dirty="0"/>
                        <a:t>What are motives or intentions?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marL="98500" marR="98500" marT="49250" marB="49250"/>
                </a:tc>
                <a:tc>
                  <a:txBody>
                    <a:bodyPr/>
                    <a:lstStyle/>
                    <a:p>
                      <a:pPr marL="457200" lvl="1" indent="-457200"/>
                      <a:r>
                        <a:rPr lang="en-US" sz="2400" b="0" dirty="0"/>
                        <a:t>Can I do the good thing I’ve already decided to do?</a:t>
                      </a:r>
                    </a:p>
                    <a:p>
                      <a:pPr marL="457200" lvl="1" indent="-457200"/>
                      <a:r>
                        <a:rPr lang="en-US" sz="2400" b="0" dirty="0"/>
                        <a:t>Can I avoid avoidable temptation?</a:t>
                      </a:r>
                      <a:endParaRPr lang="en-US" sz="2400" dirty="0"/>
                    </a:p>
                  </a:txBody>
                  <a:tcPr marL="98500" marR="98500" marT="49250" marB="49250"/>
                </a:tc>
                <a:extLst>
                  <a:ext uri="{0D108BD9-81ED-4DB2-BD59-A6C34878D82A}">
                    <a16:rowId xmlns:a16="http://schemas.microsoft.com/office/drawing/2014/main" val="1552138079"/>
                  </a:ext>
                </a:extLst>
              </a:tr>
            </a:tbl>
          </a:graphicData>
        </a:graphic>
      </p:graphicFrame>
      <p:sp>
        <p:nvSpPr>
          <p:cNvPr id="6" name="Rectangle 5">
            <a:extLst>
              <a:ext uri="{FF2B5EF4-FFF2-40B4-BE49-F238E27FC236}">
                <a16:creationId xmlns:a16="http://schemas.microsoft.com/office/drawing/2014/main" id="{0733E73E-30EE-6A6F-DDC8-A44B301ECB3F}"/>
              </a:ext>
            </a:extLst>
          </p:cNvPr>
          <p:cNvSpPr/>
          <p:nvPr/>
        </p:nvSpPr>
        <p:spPr>
          <a:xfrm>
            <a:off x="7968343" y="1617785"/>
            <a:ext cx="4223656" cy="54882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7661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FAF533-EE08-4FE3-0763-8138F3E544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EDEA38-717B-0577-4436-4F97ACFC4E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4A73F3D-FFBA-FA19-3AAE-2BF0583DC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54FA1CB-9F2A-8607-D75C-0CDAEB426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447510-AE97-1F76-EE10-2AE7A427A2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3F2F99-438F-F996-BAE6-DEFA4D6F0A96}"/>
              </a:ext>
            </a:extLst>
          </p:cNvPr>
          <p:cNvSpPr>
            <a:spLocks noGrp="1"/>
          </p:cNvSpPr>
          <p:nvPr>
            <p:ph type="title"/>
          </p:nvPr>
        </p:nvSpPr>
        <p:spPr>
          <a:xfrm>
            <a:off x="432223" y="248038"/>
            <a:ext cx="7063721" cy="1159200"/>
          </a:xfrm>
        </p:spPr>
        <p:txBody>
          <a:bodyPr vert="horz" lIns="91440" tIns="45720" rIns="91440" bIns="45720" rtlCol="0" anchor="ctr">
            <a:normAutofit/>
          </a:bodyPr>
          <a:lstStyle/>
          <a:p>
            <a:r>
              <a:rPr lang="en-US" sz="7200" b="1" kern="1200">
                <a:solidFill>
                  <a:srgbClr val="FFFFFF"/>
                </a:solidFill>
                <a:latin typeface="+mj-lt"/>
                <a:ea typeface="+mj-ea"/>
                <a:cs typeface="+mj-cs"/>
              </a:rPr>
              <a:t>Biblical Wisdom</a:t>
            </a:r>
          </a:p>
        </p:txBody>
      </p:sp>
      <p:pic>
        <p:nvPicPr>
          <p:cNvPr id="5" name="Graphic 4" descr="Scales of justice with solid fill">
            <a:extLst>
              <a:ext uri="{FF2B5EF4-FFF2-40B4-BE49-F238E27FC236}">
                <a16:creationId xmlns:a16="http://schemas.microsoft.com/office/drawing/2014/main" id="{5EFD987B-5DDB-E468-807C-4C6BD6426E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7043" y="1617785"/>
            <a:ext cx="1348207" cy="1348207"/>
          </a:xfrm>
          <a:prstGeom prst="rect">
            <a:avLst/>
          </a:prstGeom>
        </p:spPr>
      </p:pic>
      <p:pic>
        <p:nvPicPr>
          <p:cNvPr id="7" name="Graphic 6" descr="Candle with solid fill">
            <a:extLst>
              <a:ext uri="{FF2B5EF4-FFF2-40B4-BE49-F238E27FC236}">
                <a16:creationId xmlns:a16="http://schemas.microsoft.com/office/drawing/2014/main" id="{AA62BEB1-745B-B7D1-8A0C-AF8C2EF990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1896" y="1617785"/>
            <a:ext cx="1348207" cy="1348207"/>
          </a:xfrm>
          <a:prstGeom prst="rect">
            <a:avLst/>
          </a:prstGeom>
        </p:spPr>
      </p:pic>
      <p:pic>
        <p:nvPicPr>
          <p:cNvPr id="4" name="Picture 3" descr="Tower Icon Watchtower Black Silhouette Front Stock Vector (Royalty Free)  2571768335 | Shutterstock">
            <a:extLst>
              <a:ext uri="{FF2B5EF4-FFF2-40B4-BE49-F238E27FC236}">
                <a16:creationId xmlns:a16="http://schemas.microsoft.com/office/drawing/2014/main" id="{6920C3CF-29F1-80CD-0256-CDBFDC9ADCF4}"/>
              </a:ext>
            </a:extLst>
          </p:cNvPr>
          <p:cNvPicPr>
            <a:picLocks noChangeAspect="1"/>
          </p:cNvPicPr>
          <p:nvPr/>
        </p:nvPicPr>
        <p:blipFill>
          <a:blip r:embed="rId5"/>
          <a:srcRect l="27192" t="8346" r="27290" b="20761"/>
          <a:stretch>
            <a:fillRect/>
          </a:stretch>
        </p:blipFill>
        <p:spPr>
          <a:xfrm flipH="1">
            <a:off x="9536749" y="1574310"/>
            <a:ext cx="1126440" cy="1328730"/>
          </a:xfrm>
          <a:prstGeom prst="rect">
            <a:avLst/>
          </a:prstGeom>
        </p:spPr>
      </p:pic>
      <p:graphicFrame>
        <p:nvGraphicFramePr>
          <p:cNvPr id="9" name="Content Placeholder 3">
            <a:extLst>
              <a:ext uri="{FF2B5EF4-FFF2-40B4-BE49-F238E27FC236}">
                <a16:creationId xmlns:a16="http://schemas.microsoft.com/office/drawing/2014/main" id="{A4D10488-DEE1-6EAB-00AA-A6A6102645CC}"/>
              </a:ext>
            </a:extLst>
          </p:cNvPr>
          <p:cNvGraphicFramePr>
            <a:graphicFrameLocks/>
          </p:cNvGraphicFramePr>
          <p:nvPr>
            <p:extLst>
              <p:ext uri="{D42A27DB-BD31-4B8C-83A1-F6EECF244321}">
                <p14:modId xmlns:p14="http://schemas.microsoft.com/office/powerpoint/2010/main" val="3804886567"/>
              </p:ext>
            </p:extLst>
          </p:nvPr>
        </p:nvGraphicFramePr>
        <p:xfrm>
          <a:off x="0" y="2876654"/>
          <a:ext cx="12297418" cy="4229384"/>
        </p:xfrm>
        <a:graphic>
          <a:graphicData uri="http://schemas.openxmlformats.org/drawingml/2006/table">
            <a:tbl>
              <a:tblPr firstRow="1" bandRow="1">
                <a:tableStyleId>{5C22544A-7EE6-4342-B048-85BDC9FD1C3A}</a:tableStyleId>
              </a:tblPr>
              <a:tblGrid>
                <a:gridCol w="3670871">
                  <a:extLst>
                    <a:ext uri="{9D8B030D-6E8A-4147-A177-3AD203B41FA5}">
                      <a16:colId xmlns:a16="http://schemas.microsoft.com/office/drawing/2014/main" val="341004517"/>
                    </a:ext>
                  </a:extLst>
                </a:gridCol>
                <a:gridCol w="4391358">
                  <a:extLst>
                    <a:ext uri="{9D8B030D-6E8A-4147-A177-3AD203B41FA5}">
                      <a16:colId xmlns:a16="http://schemas.microsoft.com/office/drawing/2014/main" val="1871333845"/>
                    </a:ext>
                  </a:extLst>
                </a:gridCol>
                <a:gridCol w="4235189">
                  <a:extLst>
                    <a:ext uri="{9D8B030D-6E8A-4147-A177-3AD203B41FA5}">
                      <a16:colId xmlns:a16="http://schemas.microsoft.com/office/drawing/2014/main" val="3151296229"/>
                    </a:ext>
                  </a:extLst>
                </a:gridCol>
              </a:tblGrid>
              <a:tr h="454175">
                <a:tc>
                  <a:txBody>
                    <a:bodyPr/>
                    <a:lstStyle/>
                    <a:p>
                      <a:r>
                        <a:rPr lang="en-US" sz="2400" dirty="0"/>
                        <a:t>Prudence</a:t>
                      </a:r>
                    </a:p>
                  </a:txBody>
                  <a:tcPr marL="98500" marR="98500" marT="49250" marB="49250"/>
                </a:tc>
                <a:tc>
                  <a:txBody>
                    <a:bodyPr/>
                    <a:lstStyle/>
                    <a:p>
                      <a:r>
                        <a:rPr lang="en-US" sz="2400"/>
                        <a:t>Discernment</a:t>
                      </a:r>
                    </a:p>
                  </a:txBody>
                  <a:tcPr marL="98500" marR="98500" marT="49250" marB="49250"/>
                </a:tc>
                <a:tc>
                  <a:txBody>
                    <a:bodyPr/>
                    <a:lstStyle/>
                    <a:p>
                      <a:r>
                        <a:rPr lang="en-US" sz="2400"/>
                        <a:t>Self-control</a:t>
                      </a:r>
                    </a:p>
                  </a:txBody>
                  <a:tcPr marL="98500" marR="98500" marT="49250" marB="49250"/>
                </a:tc>
                <a:extLst>
                  <a:ext uri="{0D108BD9-81ED-4DB2-BD59-A6C34878D82A}">
                    <a16:rowId xmlns:a16="http://schemas.microsoft.com/office/drawing/2014/main" val="3121230412"/>
                  </a:ext>
                </a:extLst>
              </a:tr>
              <a:tr h="454175">
                <a:tc>
                  <a:txBody>
                    <a:bodyPr/>
                    <a:lstStyle/>
                    <a:p>
                      <a:r>
                        <a:rPr lang="en-US" sz="2400" b="1" dirty="0"/>
                        <a:t>Logic</a:t>
                      </a:r>
                    </a:p>
                  </a:txBody>
                  <a:tcPr marL="98500" marR="98500" marT="49250" marB="4925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Spiritual </a:t>
                      </a:r>
                      <a:r>
                        <a:rPr lang="en-US" sz="2400" b="1" dirty="0"/>
                        <a:t>Perception</a:t>
                      </a:r>
                    </a:p>
                  </a:txBody>
                  <a:tcPr marL="98500" marR="98500" marT="49250" marB="4925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Will</a:t>
                      </a:r>
                    </a:p>
                  </a:txBody>
                  <a:tcPr marL="98500" marR="98500" marT="49250" marB="49250"/>
                </a:tc>
                <a:extLst>
                  <a:ext uri="{0D108BD9-81ED-4DB2-BD59-A6C34878D82A}">
                    <a16:rowId xmlns:a16="http://schemas.microsoft.com/office/drawing/2014/main" val="55554410"/>
                  </a:ext>
                </a:extLst>
              </a:tr>
              <a:tr h="1527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Shrewd vs. simple</a:t>
                      </a:r>
                    </a:p>
                    <a:p>
                      <a:pPr lvl="1"/>
                      <a:r>
                        <a:rPr lang="en-US" sz="2400" dirty="0"/>
                        <a:t>Prov 8:5</a:t>
                      </a:r>
                    </a:p>
                    <a:p>
                      <a:pPr lvl="1"/>
                      <a:r>
                        <a:rPr lang="en-US" sz="2400" dirty="0"/>
                        <a:t>Prov 14:15</a:t>
                      </a:r>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dirty="0"/>
                        <a:t>Prophet vs. scoffer</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8:6-12</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14:16</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1 Thes 2:13</a:t>
                      </a:r>
                      <a:endParaRPr lang="en-US" sz="2400" b="0" dirty="0"/>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dirty="0"/>
                        <a:t>Disciplined vs. sluggard</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b="0" i="0" dirty="0"/>
                        <a:t>Prov 25:28</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19:24</a:t>
                      </a:r>
                    </a:p>
                    <a:p>
                      <a:pPr marL="914400" marR="0" lvl="2" indent="-457200" algn="l" defTabSz="914400" rtl="0" eaLnBrk="1" fontAlgn="auto" latinLnBrk="0" hangingPunct="1">
                        <a:lnSpc>
                          <a:spcPct val="100000"/>
                        </a:lnSpc>
                        <a:spcBef>
                          <a:spcPts val="0"/>
                        </a:spcBef>
                        <a:spcAft>
                          <a:spcPts val="0"/>
                        </a:spcAft>
                        <a:buClrTx/>
                        <a:buSzTx/>
                        <a:buFontTx/>
                        <a:buNone/>
                        <a:tabLst/>
                        <a:defRPr/>
                      </a:pPr>
                      <a:r>
                        <a:rPr lang="en-US" sz="2400" dirty="0"/>
                        <a:t>Prov 4:23; 5:8; 7:8,25</a:t>
                      </a:r>
                    </a:p>
                  </a:txBody>
                  <a:tcPr marL="98500" marR="98500" marT="49250" marB="49250"/>
                </a:tc>
                <a:extLst>
                  <a:ext uri="{0D108BD9-81ED-4DB2-BD59-A6C34878D82A}">
                    <a16:rowId xmlns:a16="http://schemas.microsoft.com/office/drawing/2014/main" val="845988821"/>
                  </a:ext>
                </a:extLst>
              </a:tr>
              <a:tr h="1739324">
                <a:tc>
                  <a:txBody>
                    <a:bodyPr/>
                    <a:lstStyle/>
                    <a:p>
                      <a:pPr lvl="0"/>
                      <a:r>
                        <a:rPr lang="en-US" sz="2400" dirty="0"/>
                        <a:t>Constraints</a:t>
                      </a:r>
                    </a:p>
                    <a:p>
                      <a:pPr lvl="0"/>
                      <a:r>
                        <a:rPr lang="en-US" sz="2400" dirty="0"/>
                        <a:t>Cost/Benefit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Risk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Prioritization</a:t>
                      </a:r>
                    </a:p>
                  </a:txBody>
                  <a:tcPr marL="98500" marR="98500" marT="49250" marB="49250"/>
                </a:tc>
                <a:tc>
                  <a:txBody>
                    <a:bodyPr/>
                    <a:lstStyle/>
                    <a:p>
                      <a:pPr marL="457200" marR="0" lvl="1" indent="-457200" algn="l" defTabSz="914400" rtl="0" eaLnBrk="1" fontAlgn="auto" latinLnBrk="0" hangingPunct="1">
                        <a:lnSpc>
                          <a:spcPct val="100000"/>
                        </a:lnSpc>
                        <a:spcBef>
                          <a:spcPts val="0"/>
                        </a:spcBef>
                        <a:spcAft>
                          <a:spcPts val="0"/>
                        </a:spcAft>
                        <a:buClrTx/>
                        <a:buSzTx/>
                        <a:buFontTx/>
                        <a:buNone/>
                        <a:tabLst/>
                        <a:defRPr/>
                      </a:pPr>
                      <a:r>
                        <a:rPr lang="en-US" sz="2400" b="0" dirty="0"/>
                        <a:t>Can I see the truth?</a:t>
                      </a:r>
                      <a:endParaRPr lang="en-US" sz="2400" b="1" dirty="0"/>
                    </a:p>
                    <a:p>
                      <a:pPr marL="457200" lvl="1" indent="-457200"/>
                      <a:r>
                        <a:rPr lang="en-US" sz="2400" b="0" dirty="0"/>
                        <a:t>What is really going on?</a:t>
                      </a:r>
                    </a:p>
                    <a:p>
                      <a:pPr marL="457200" lvl="1" indent="-457200"/>
                      <a:r>
                        <a:rPr lang="en-US" sz="2400" b="0" dirty="0"/>
                        <a:t>What are motives or intentions?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marL="98500" marR="98500" marT="49250" marB="49250"/>
                </a:tc>
                <a:tc>
                  <a:txBody>
                    <a:bodyPr/>
                    <a:lstStyle/>
                    <a:p>
                      <a:pPr marL="457200" lvl="1" indent="-457200"/>
                      <a:r>
                        <a:rPr lang="en-US" sz="2400" b="0" dirty="0"/>
                        <a:t>Can I do the good thing I’ve already decided to do?</a:t>
                      </a:r>
                    </a:p>
                    <a:p>
                      <a:pPr marL="457200" lvl="1" indent="-457200"/>
                      <a:r>
                        <a:rPr lang="en-US" sz="2400" b="0" dirty="0"/>
                        <a:t>Can I avoid avoidable temptation?</a:t>
                      </a:r>
                      <a:endParaRPr lang="en-US" sz="2400" dirty="0"/>
                    </a:p>
                  </a:txBody>
                  <a:tcPr marL="98500" marR="98500" marT="49250" marB="49250"/>
                </a:tc>
                <a:extLst>
                  <a:ext uri="{0D108BD9-81ED-4DB2-BD59-A6C34878D82A}">
                    <a16:rowId xmlns:a16="http://schemas.microsoft.com/office/drawing/2014/main" val="1552138079"/>
                  </a:ext>
                </a:extLst>
              </a:tr>
            </a:tbl>
          </a:graphicData>
        </a:graphic>
      </p:graphicFrame>
    </p:spTree>
    <p:extLst>
      <p:ext uri="{BB962C8B-B14F-4D97-AF65-F5344CB8AC3E}">
        <p14:creationId xmlns:p14="http://schemas.microsoft.com/office/powerpoint/2010/main" val="237353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B038567-ACB8-5F99-D96E-99B378F58E55}"/>
              </a:ext>
            </a:extLst>
          </p:cNvPr>
          <p:cNvSpPr>
            <a:spLocks noGrp="1"/>
          </p:cNvSpPr>
          <p:nvPr>
            <p:ph type="title"/>
          </p:nvPr>
        </p:nvSpPr>
        <p:spPr/>
        <p:txBody>
          <a:bodyPr/>
          <a:lstStyle/>
          <a:p>
            <a:r>
              <a:rPr lang="en-US"/>
              <a:t>AI is Embodied</a:t>
            </a:r>
          </a:p>
        </p:txBody>
      </p:sp>
      <p:graphicFrame>
        <p:nvGraphicFramePr>
          <p:cNvPr id="4" name="Content Placeholder 3">
            <a:extLst>
              <a:ext uri="{FF2B5EF4-FFF2-40B4-BE49-F238E27FC236}">
                <a16:creationId xmlns:a16="http://schemas.microsoft.com/office/drawing/2014/main" id="{1B6DBF61-777B-A617-D98B-1A11E0129DF1}"/>
              </a:ext>
            </a:extLst>
          </p:cNvPr>
          <p:cNvGraphicFramePr>
            <a:graphicFrameLocks noGrp="1"/>
          </p:cNvGraphicFramePr>
          <p:nvPr>
            <p:ph idx="1"/>
            <p:extLst>
              <p:ext uri="{D42A27DB-BD31-4B8C-83A1-F6EECF244321}">
                <p14:modId xmlns:p14="http://schemas.microsoft.com/office/powerpoint/2010/main" val="3490466083"/>
              </p:ext>
            </p:extLst>
          </p:nvPr>
        </p:nvGraphicFramePr>
        <p:xfrm>
          <a:off x="140678" y="1690688"/>
          <a:ext cx="5676080" cy="493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944EDC6C-85E9-98A1-A969-9A3FC247DE56}"/>
              </a:ext>
            </a:extLst>
          </p:cNvPr>
          <p:cNvSpPr txBox="1"/>
          <p:nvPr/>
        </p:nvSpPr>
        <p:spPr>
          <a:xfrm>
            <a:off x="2503357" y="5062928"/>
            <a:ext cx="1034322" cy="369332"/>
          </a:xfrm>
          <a:prstGeom prst="rect">
            <a:avLst/>
          </a:prstGeom>
          <a:noFill/>
        </p:spPr>
        <p:txBody>
          <a:bodyPr wrap="square" rtlCol="0">
            <a:spAutoFit/>
          </a:bodyPr>
          <a:lstStyle/>
          <a:p>
            <a:r>
              <a:rPr lang="en-US"/>
              <a:t>Machine</a:t>
            </a:r>
          </a:p>
        </p:txBody>
      </p:sp>
      <p:sp>
        <p:nvSpPr>
          <p:cNvPr id="8" name="TextBox 7">
            <a:extLst>
              <a:ext uri="{FF2B5EF4-FFF2-40B4-BE49-F238E27FC236}">
                <a16:creationId xmlns:a16="http://schemas.microsoft.com/office/drawing/2014/main" id="{C4F99DB8-D72B-E7EA-B197-811A28271992}"/>
              </a:ext>
            </a:extLst>
          </p:cNvPr>
          <p:cNvSpPr txBox="1"/>
          <p:nvPr/>
        </p:nvSpPr>
        <p:spPr>
          <a:xfrm>
            <a:off x="2347522" y="4053004"/>
            <a:ext cx="1345992" cy="646331"/>
          </a:xfrm>
          <a:prstGeom prst="rect">
            <a:avLst/>
          </a:prstGeom>
          <a:noFill/>
        </p:spPr>
        <p:txBody>
          <a:bodyPr wrap="square" rtlCol="0">
            <a:spAutoFit/>
          </a:bodyPr>
          <a:lstStyle/>
          <a:p>
            <a:r>
              <a:rPr lang="en-US"/>
              <a:t>Computing</a:t>
            </a:r>
          </a:p>
          <a:p>
            <a:r>
              <a:rPr lang="en-US"/>
              <a:t>Machine</a:t>
            </a:r>
          </a:p>
        </p:txBody>
      </p:sp>
      <p:grpSp>
        <p:nvGrpSpPr>
          <p:cNvPr id="10" name="Group 9">
            <a:extLst>
              <a:ext uri="{FF2B5EF4-FFF2-40B4-BE49-F238E27FC236}">
                <a16:creationId xmlns:a16="http://schemas.microsoft.com/office/drawing/2014/main" id="{D4DB5DE8-7272-E4A6-4A94-F0D3ADD7D339}"/>
              </a:ext>
            </a:extLst>
          </p:cNvPr>
          <p:cNvGrpSpPr/>
          <p:nvPr/>
        </p:nvGrpSpPr>
        <p:grpSpPr>
          <a:xfrm>
            <a:off x="5816758" y="1270333"/>
            <a:ext cx="6234564" cy="3105837"/>
            <a:chOff x="4313363" y="164233"/>
            <a:chExt cx="7617462" cy="3460428"/>
          </a:xfrm>
        </p:grpSpPr>
        <p:pic>
          <p:nvPicPr>
            <p:cNvPr id="11" name="Picture 10">
              <a:extLst>
                <a:ext uri="{FF2B5EF4-FFF2-40B4-BE49-F238E27FC236}">
                  <a16:creationId xmlns:a16="http://schemas.microsoft.com/office/drawing/2014/main" id="{52C4C4C0-1A36-7B1E-7904-C94ED84250CF}"/>
                </a:ext>
              </a:extLst>
            </p:cNvPr>
            <p:cNvPicPr>
              <a:picLocks noChangeAspect="1"/>
            </p:cNvPicPr>
            <p:nvPr/>
          </p:nvPicPr>
          <p:blipFill>
            <a:blip r:embed="rId8"/>
            <a:stretch>
              <a:fillRect/>
            </a:stretch>
          </p:blipFill>
          <p:spPr>
            <a:xfrm>
              <a:off x="4313364" y="164233"/>
              <a:ext cx="7617461" cy="3030851"/>
            </a:xfrm>
            <a:prstGeom prst="rect">
              <a:avLst/>
            </a:prstGeom>
          </p:spPr>
        </p:pic>
        <p:sp>
          <p:nvSpPr>
            <p:cNvPr id="12" name="TextBox 11">
              <a:extLst>
                <a:ext uri="{FF2B5EF4-FFF2-40B4-BE49-F238E27FC236}">
                  <a16:creationId xmlns:a16="http://schemas.microsoft.com/office/drawing/2014/main" id="{47605D2D-DF49-2CFE-8684-02735736C6CA}"/>
                </a:ext>
              </a:extLst>
            </p:cNvPr>
            <p:cNvSpPr txBox="1"/>
            <p:nvPr/>
          </p:nvSpPr>
          <p:spPr>
            <a:xfrm>
              <a:off x="4313363" y="3213163"/>
              <a:ext cx="7617461" cy="411498"/>
            </a:xfrm>
            <a:prstGeom prst="rect">
              <a:avLst/>
            </a:prstGeom>
            <a:noFill/>
          </p:spPr>
          <p:txBody>
            <a:bodyPr wrap="square" rtlCol="0">
              <a:spAutoFit/>
            </a:bodyPr>
            <a:lstStyle/>
            <a:p>
              <a:r>
                <a:rPr lang="en-US"/>
                <a:t>Wall-I [proposed] Gibraltar, MI  (Raeden 2025)</a:t>
              </a:r>
            </a:p>
          </p:txBody>
        </p:sp>
      </p:grpSp>
    </p:spTree>
    <p:extLst>
      <p:ext uri="{BB962C8B-B14F-4D97-AF65-F5344CB8AC3E}">
        <p14:creationId xmlns:p14="http://schemas.microsoft.com/office/powerpoint/2010/main" val="89162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18A-7B72-14E6-65B7-B45B8B664556}"/>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BD42D885-DE7B-3ADD-A5AC-C8B3DB49D7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770" y="3514"/>
            <a:ext cx="11166230" cy="6699738"/>
          </a:xfrm>
          <a:prstGeom prst="rect">
            <a:avLst/>
          </a:prstGeom>
        </p:spPr>
      </p:pic>
      <p:sp>
        <p:nvSpPr>
          <p:cNvPr id="3" name="Rounded Rectangle 2">
            <a:extLst>
              <a:ext uri="{FF2B5EF4-FFF2-40B4-BE49-F238E27FC236}">
                <a16:creationId xmlns:a16="http://schemas.microsoft.com/office/drawing/2014/main" id="{36F78478-46C8-E670-16B2-9CB09427FFC0}"/>
              </a:ext>
            </a:extLst>
          </p:cNvPr>
          <p:cNvSpPr/>
          <p:nvPr/>
        </p:nvSpPr>
        <p:spPr>
          <a:xfrm>
            <a:off x="6489545" y="379829"/>
            <a:ext cx="2992082" cy="1926953"/>
          </a:xfrm>
          <a:prstGeom prst="roundRect">
            <a:avLst/>
          </a:prstGeom>
          <a:noFill/>
          <a:ln w="1016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BB2EE2F0-217F-B96B-6BF8-90535FA2C4A6}"/>
              </a:ext>
            </a:extLst>
          </p:cNvPr>
          <p:cNvSpPr>
            <a:spLocks noGrp="1"/>
          </p:cNvSpPr>
          <p:nvPr>
            <p:ph idx="1"/>
          </p:nvPr>
        </p:nvSpPr>
        <p:spPr>
          <a:xfrm>
            <a:off x="-63809" y="-70340"/>
            <a:ext cx="5115826" cy="837393"/>
          </a:xfrm>
        </p:spPr>
        <p:txBody>
          <a:bodyPr>
            <a:normAutofit/>
          </a:bodyPr>
          <a:lstStyle/>
          <a:p>
            <a:pPr marL="0" indent="0">
              <a:buNone/>
            </a:pPr>
            <a:r>
              <a:rPr lang="en-US" sz="4000"/>
              <a:t>100 MW data center</a:t>
            </a:r>
          </a:p>
        </p:txBody>
      </p:sp>
      <p:sp>
        <p:nvSpPr>
          <p:cNvPr id="7" name="Rounded Rectangle 6">
            <a:extLst>
              <a:ext uri="{FF2B5EF4-FFF2-40B4-BE49-F238E27FC236}">
                <a16:creationId xmlns:a16="http://schemas.microsoft.com/office/drawing/2014/main" id="{7829C81A-04D4-61D7-1556-463A4D618C78}"/>
              </a:ext>
            </a:extLst>
          </p:cNvPr>
          <p:cNvSpPr/>
          <p:nvPr/>
        </p:nvSpPr>
        <p:spPr>
          <a:xfrm>
            <a:off x="5188134" y="647298"/>
            <a:ext cx="1165294" cy="1490992"/>
          </a:xfrm>
          <a:prstGeom prst="roundRect">
            <a:avLst/>
          </a:prstGeom>
          <a:noFill/>
          <a:ln w="1016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1373028-6A0F-16ED-B458-63BCE993EE27}"/>
              </a:ext>
            </a:extLst>
          </p:cNvPr>
          <p:cNvPicPr>
            <a:picLocks noChangeAspect="1"/>
          </p:cNvPicPr>
          <p:nvPr/>
        </p:nvPicPr>
        <p:blipFill>
          <a:blip r:embed="rId4"/>
          <a:stretch>
            <a:fillRect/>
          </a:stretch>
        </p:blipFill>
        <p:spPr>
          <a:xfrm>
            <a:off x="750572" y="508853"/>
            <a:ext cx="1468022" cy="978681"/>
          </a:xfrm>
          <a:prstGeom prst="rect">
            <a:avLst/>
          </a:prstGeom>
        </p:spPr>
      </p:pic>
      <p:pic>
        <p:nvPicPr>
          <p:cNvPr id="15" name="Picture 14">
            <a:extLst>
              <a:ext uri="{FF2B5EF4-FFF2-40B4-BE49-F238E27FC236}">
                <a16:creationId xmlns:a16="http://schemas.microsoft.com/office/drawing/2014/main" id="{C582A11C-0EF5-4EA1-60A3-378F789FC393}"/>
              </a:ext>
            </a:extLst>
          </p:cNvPr>
          <p:cNvPicPr>
            <a:picLocks noChangeAspect="1"/>
          </p:cNvPicPr>
          <p:nvPr/>
        </p:nvPicPr>
        <p:blipFill>
          <a:blip r:embed="rId5"/>
          <a:srcRect l="11519" t="28508" r="11831" b="7117"/>
          <a:stretch>
            <a:fillRect/>
          </a:stretch>
        </p:blipFill>
        <p:spPr>
          <a:xfrm>
            <a:off x="0" y="1906890"/>
            <a:ext cx="1165294" cy="978681"/>
          </a:xfrm>
          <a:prstGeom prst="rect">
            <a:avLst/>
          </a:prstGeom>
        </p:spPr>
      </p:pic>
      <p:pic>
        <p:nvPicPr>
          <p:cNvPr id="16" name="Picture 15">
            <a:extLst>
              <a:ext uri="{FF2B5EF4-FFF2-40B4-BE49-F238E27FC236}">
                <a16:creationId xmlns:a16="http://schemas.microsoft.com/office/drawing/2014/main" id="{9DAE4490-37D2-84E4-F8C6-B2214D3CEBCF}"/>
              </a:ext>
            </a:extLst>
          </p:cNvPr>
          <p:cNvPicPr>
            <a:picLocks noChangeAspect="1"/>
          </p:cNvPicPr>
          <p:nvPr/>
        </p:nvPicPr>
        <p:blipFill>
          <a:blip r:embed="rId6"/>
          <a:stretch>
            <a:fillRect/>
          </a:stretch>
        </p:blipFill>
        <p:spPr>
          <a:xfrm>
            <a:off x="1346614" y="5297106"/>
            <a:ext cx="1121096" cy="737936"/>
          </a:xfrm>
          <a:prstGeom prst="rect">
            <a:avLst/>
          </a:prstGeom>
        </p:spPr>
      </p:pic>
      <p:pic>
        <p:nvPicPr>
          <p:cNvPr id="17" name="Picture 16">
            <a:extLst>
              <a:ext uri="{FF2B5EF4-FFF2-40B4-BE49-F238E27FC236}">
                <a16:creationId xmlns:a16="http://schemas.microsoft.com/office/drawing/2014/main" id="{863DFBB3-6D85-E602-E5CE-400B688F8F40}"/>
              </a:ext>
            </a:extLst>
          </p:cNvPr>
          <p:cNvPicPr>
            <a:picLocks noChangeAspect="1"/>
          </p:cNvPicPr>
          <p:nvPr/>
        </p:nvPicPr>
        <p:blipFill>
          <a:blip r:embed="rId7"/>
          <a:srcRect l="3544" r="17001"/>
          <a:stretch>
            <a:fillRect/>
          </a:stretch>
        </p:blipFill>
        <p:spPr>
          <a:xfrm>
            <a:off x="1484583" y="3005515"/>
            <a:ext cx="1166414" cy="978682"/>
          </a:xfrm>
          <a:prstGeom prst="rect">
            <a:avLst/>
          </a:prstGeom>
        </p:spPr>
      </p:pic>
      <p:pic>
        <p:nvPicPr>
          <p:cNvPr id="18" name="Picture 17">
            <a:extLst>
              <a:ext uri="{FF2B5EF4-FFF2-40B4-BE49-F238E27FC236}">
                <a16:creationId xmlns:a16="http://schemas.microsoft.com/office/drawing/2014/main" id="{012F21A1-117E-C1BB-A9AD-7C7FB9938175}"/>
              </a:ext>
            </a:extLst>
          </p:cNvPr>
          <p:cNvPicPr>
            <a:picLocks noChangeAspect="1"/>
          </p:cNvPicPr>
          <p:nvPr/>
        </p:nvPicPr>
        <p:blipFill>
          <a:blip r:embed="rId8"/>
          <a:stretch>
            <a:fillRect/>
          </a:stretch>
        </p:blipFill>
        <p:spPr>
          <a:xfrm>
            <a:off x="319309" y="3737526"/>
            <a:ext cx="862525" cy="1291968"/>
          </a:xfrm>
          <a:prstGeom prst="rect">
            <a:avLst/>
          </a:prstGeom>
        </p:spPr>
      </p:pic>
      <p:sp>
        <p:nvSpPr>
          <p:cNvPr id="2" name="Rounded Rectangle 1">
            <a:extLst>
              <a:ext uri="{FF2B5EF4-FFF2-40B4-BE49-F238E27FC236}">
                <a16:creationId xmlns:a16="http://schemas.microsoft.com/office/drawing/2014/main" id="{178E6256-C97C-0F04-ED51-900081C0F867}"/>
              </a:ext>
            </a:extLst>
          </p:cNvPr>
          <p:cNvSpPr/>
          <p:nvPr/>
        </p:nvSpPr>
        <p:spPr>
          <a:xfrm>
            <a:off x="1" y="379829"/>
            <a:ext cx="2886723" cy="6397277"/>
          </a:xfrm>
          <a:prstGeom prst="roundRect">
            <a:avLst/>
          </a:prstGeom>
          <a:noFill/>
          <a:ln w="1016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EB4FEF1E-FA95-831B-9644-4B3C74FC01A3}"/>
              </a:ext>
            </a:extLst>
          </p:cNvPr>
          <p:cNvSpPr/>
          <p:nvPr/>
        </p:nvSpPr>
        <p:spPr>
          <a:xfrm>
            <a:off x="9369083" y="379830"/>
            <a:ext cx="2746716" cy="5345722"/>
          </a:xfrm>
          <a:prstGeom prst="roundRect">
            <a:avLst/>
          </a:prstGeom>
          <a:noFill/>
          <a:ln w="1016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175A09-9688-63FD-6B57-4D3A54050120}"/>
              </a:ext>
            </a:extLst>
          </p:cNvPr>
          <p:cNvPicPr>
            <a:picLocks noChangeAspect="1"/>
          </p:cNvPicPr>
          <p:nvPr/>
        </p:nvPicPr>
        <p:blipFill>
          <a:blip r:embed="rId9"/>
          <a:stretch>
            <a:fillRect/>
          </a:stretch>
        </p:blipFill>
        <p:spPr>
          <a:xfrm>
            <a:off x="-10469" y="5374161"/>
            <a:ext cx="1366018" cy="1366018"/>
          </a:xfrm>
          <a:prstGeom prst="rect">
            <a:avLst/>
          </a:prstGeom>
        </p:spPr>
      </p:pic>
      <p:sp>
        <p:nvSpPr>
          <p:cNvPr id="6" name="Content Placeholder 2">
            <a:extLst>
              <a:ext uri="{FF2B5EF4-FFF2-40B4-BE49-F238E27FC236}">
                <a16:creationId xmlns:a16="http://schemas.microsoft.com/office/drawing/2014/main" id="{76652EE1-BB92-67A3-2965-F154C7E9998A}"/>
              </a:ext>
            </a:extLst>
          </p:cNvPr>
          <p:cNvSpPr txBox="1">
            <a:spLocks/>
          </p:cNvSpPr>
          <p:nvPr/>
        </p:nvSpPr>
        <p:spPr>
          <a:xfrm>
            <a:off x="7076174" y="6439303"/>
            <a:ext cx="5115826" cy="8373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pPr>
            <a:r>
              <a:rPr lang="en-US" sz="2000"/>
              <a:t>All units MW</a:t>
            </a:r>
          </a:p>
        </p:txBody>
      </p:sp>
    </p:spTree>
    <p:extLst>
      <p:ext uri="{BB962C8B-B14F-4D97-AF65-F5344CB8AC3E}">
        <p14:creationId xmlns:p14="http://schemas.microsoft.com/office/powerpoint/2010/main" val="2197026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2"/>
                                        </p:tgtEl>
                                      </p:cBhvr>
                                    </p:animEffect>
                                    <p:set>
                                      <p:cBhvr>
                                        <p:cTn id="28" dur="1" fill="hold">
                                          <p:stCondLst>
                                            <p:cond delay="499"/>
                                          </p:stCondLst>
                                        </p:cTn>
                                        <p:tgtEl>
                                          <p:spTgt spid="2"/>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7" grpId="0" animBg="1"/>
      <p:bldP spid="7" grpId="1" animBg="1"/>
      <p:bldP spid="2" grpId="0" animBg="1"/>
      <p:bldP spid="2" grpId="1"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3342-66F7-404B-2781-AECEE82F5C51}"/>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E13ACFC1-7273-FFED-B8F0-4911B6ED91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770" y="3514"/>
            <a:ext cx="11166230" cy="6699738"/>
          </a:xfrm>
          <a:prstGeom prst="rect">
            <a:avLst/>
          </a:prstGeom>
        </p:spPr>
      </p:pic>
      <p:sp>
        <p:nvSpPr>
          <p:cNvPr id="4" name="Content Placeholder 2">
            <a:extLst>
              <a:ext uri="{FF2B5EF4-FFF2-40B4-BE49-F238E27FC236}">
                <a16:creationId xmlns:a16="http://schemas.microsoft.com/office/drawing/2014/main" id="{DF73E053-C1C6-0781-CF9E-EA201BCE4443}"/>
              </a:ext>
            </a:extLst>
          </p:cNvPr>
          <p:cNvSpPr>
            <a:spLocks noGrp="1"/>
          </p:cNvSpPr>
          <p:nvPr>
            <p:ph idx="1"/>
          </p:nvPr>
        </p:nvSpPr>
        <p:spPr>
          <a:xfrm>
            <a:off x="-63809" y="-70340"/>
            <a:ext cx="5115826" cy="837393"/>
          </a:xfrm>
        </p:spPr>
        <p:txBody>
          <a:bodyPr>
            <a:normAutofit/>
          </a:bodyPr>
          <a:lstStyle/>
          <a:p>
            <a:pPr marL="0" indent="0">
              <a:buNone/>
            </a:pPr>
            <a:r>
              <a:rPr lang="en-US" sz="4000"/>
              <a:t>100 MW data center</a:t>
            </a:r>
          </a:p>
        </p:txBody>
      </p:sp>
      <p:sp>
        <p:nvSpPr>
          <p:cNvPr id="6" name="TextBox 5">
            <a:extLst>
              <a:ext uri="{FF2B5EF4-FFF2-40B4-BE49-F238E27FC236}">
                <a16:creationId xmlns:a16="http://schemas.microsoft.com/office/drawing/2014/main" id="{CE033DE6-297A-8FD8-CCCF-4EE36498A4B0}"/>
              </a:ext>
            </a:extLst>
          </p:cNvPr>
          <p:cNvSpPr txBox="1"/>
          <p:nvPr/>
        </p:nvSpPr>
        <p:spPr>
          <a:xfrm>
            <a:off x="-67284" y="464231"/>
            <a:ext cx="2803203" cy="1077218"/>
          </a:xfrm>
          <a:prstGeom prst="rect">
            <a:avLst/>
          </a:prstGeom>
          <a:noFill/>
        </p:spPr>
        <p:txBody>
          <a:bodyPr wrap="none" rtlCol="0">
            <a:spAutoFit/>
          </a:bodyPr>
          <a:lstStyle/>
          <a:p>
            <a:pPr algn="ctr"/>
            <a:r>
              <a:rPr lang="en-US" sz="3200" b="1">
                <a:solidFill>
                  <a:srgbClr val="FF0000"/>
                </a:solidFill>
              </a:rPr>
              <a:t>200,000</a:t>
            </a:r>
            <a:br>
              <a:rPr lang="en-US" sz="3200" b="1">
                <a:solidFill>
                  <a:srgbClr val="FF0000"/>
                </a:solidFill>
              </a:rPr>
            </a:br>
            <a:r>
              <a:rPr lang="en-US" sz="3200" b="1" err="1">
                <a:solidFill>
                  <a:srgbClr val="FF0000"/>
                </a:solidFill>
              </a:rPr>
              <a:t>tonnes</a:t>
            </a:r>
            <a:r>
              <a:rPr lang="en-US" sz="3200" b="1">
                <a:solidFill>
                  <a:srgbClr val="FF0000"/>
                </a:solidFill>
              </a:rPr>
              <a:t> CO</a:t>
            </a:r>
            <a:r>
              <a:rPr lang="en-US" sz="3200" b="1" baseline="-25000">
                <a:solidFill>
                  <a:srgbClr val="FF0000"/>
                </a:solidFill>
              </a:rPr>
              <a:t>2</a:t>
            </a:r>
            <a:r>
              <a:rPr lang="en-US" sz="3200" b="1">
                <a:solidFill>
                  <a:srgbClr val="FF0000"/>
                </a:solidFill>
              </a:rPr>
              <a:t>/yr</a:t>
            </a:r>
          </a:p>
        </p:txBody>
      </p:sp>
      <p:sp>
        <p:nvSpPr>
          <p:cNvPr id="9" name="TextBox 8">
            <a:extLst>
              <a:ext uri="{FF2B5EF4-FFF2-40B4-BE49-F238E27FC236}">
                <a16:creationId xmlns:a16="http://schemas.microsoft.com/office/drawing/2014/main" id="{BC2F75EA-F8F1-2CCC-BFC9-6534F90A2460}"/>
              </a:ext>
            </a:extLst>
          </p:cNvPr>
          <p:cNvSpPr txBox="1"/>
          <p:nvPr/>
        </p:nvSpPr>
        <p:spPr>
          <a:xfrm>
            <a:off x="-61330" y="2416120"/>
            <a:ext cx="2803203" cy="1077218"/>
          </a:xfrm>
          <a:prstGeom prst="rect">
            <a:avLst/>
          </a:prstGeom>
          <a:noFill/>
        </p:spPr>
        <p:txBody>
          <a:bodyPr wrap="none" rtlCol="0">
            <a:spAutoFit/>
          </a:bodyPr>
          <a:lstStyle/>
          <a:p>
            <a:pPr algn="ctr"/>
            <a:r>
              <a:rPr lang="en-US" sz="3200" b="1">
                <a:solidFill>
                  <a:srgbClr val="FF0000"/>
                </a:solidFill>
              </a:rPr>
              <a:t>175,000</a:t>
            </a:r>
            <a:br>
              <a:rPr lang="en-US" sz="3200" b="1">
                <a:solidFill>
                  <a:srgbClr val="FF0000"/>
                </a:solidFill>
              </a:rPr>
            </a:br>
            <a:r>
              <a:rPr lang="en-US" sz="3200" b="1" err="1">
                <a:solidFill>
                  <a:srgbClr val="FF0000"/>
                </a:solidFill>
              </a:rPr>
              <a:t>tonnes</a:t>
            </a:r>
            <a:r>
              <a:rPr lang="en-US" sz="3200" b="1">
                <a:solidFill>
                  <a:srgbClr val="FF0000"/>
                </a:solidFill>
              </a:rPr>
              <a:t> CO</a:t>
            </a:r>
            <a:r>
              <a:rPr lang="en-US" sz="3200" b="1" baseline="-25000">
                <a:solidFill>
                  <a:srgbClr val="FF0000"/>
                </a:solidFill>
              </a:rPr>
              <a:t>2</a:t>
            </a:r>
            <a:r>
              <a:rPr lang="en-US" sz="3200" b="1">
                <a:solidFill>
                  <a:srgbClr val="FF0000"/>
                </a:solidFill>
              </a:rPr>
              <a:t>/yr</a:t>
            </a:r>
          </a:p>
        </p:txBody>
      </p:sp>
      <p:sp>
        <p:nvSpPr>
          <p:cNvPr id="10" name="Content Placeholder 2">
            <a:extLst>
              <a:ext uri="{FF2B5EF4-FFF2-40B4-BE49-F238E27FC236}">
                <a16:creationId xmlns:a16="http://schemas.microsoft.com/office/drawing/2014/main" id="{C90B9DC3-1D7C-E737-E371-A5A2F294F70B}"/>
              </a:ext>
            </a:extLst>
          </p:cNvPr>
          <p:cNvSpPr txBox="1">
            <a:spLocks/>
          </p:cNvSpPr>
          <p:nvPr/>
        </p:nvSpPr>
        <p:spPr>
          <a:xfrm>
            <a:off x="7076174" y="6439303"/>
            <a:ext cx="5115826" cy="8373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pPr>
            <a:r>
              <a:rPr lang="en-US" sz="2000"/>
              <a:t>All units MW</a:t>
            </a:r>
          </a:p>
        </p:txBody>
      </p:sp>
      <p:sp>
        <p:nvSpPr>
          <p:cNvPr id="2" name="TextBox 1">
            <a:extLst>
              <a:ext uri="{FF2B5EF4-FFF2-40B4-BE49-F238E27FC236}">
                <a16:creationId xmlns:a16="http://schemas.microsoft.com/office/drawing/2014/main" id="{9568EC89-C788-39A8-4EBA-C397146267DB}"/>
              </a:ext>
            </a:extLst>
          </p:cNvPr>
          <p:cNvSpPr txBox="1"/>
          <p:nvPr/>
        </p:nvSpPr>
        <p:spPr>
          <a:xfrm>
            <a:off x="6892019" y="0"/>
            <a:ext cx="3459986" cy="584775"/>
          </a:xfrm>
          <a:prstGeom prst="rect">
            <a:avLst/>
          </a:prstGeom>
          <a:noFill/>
        </p:spPr>
        <p:txBody>
          <a:bodyPr wrap="none" rtlCol="0">
            <a:spAutoFit/>
          </a:bodyPr>
          <a:lstStyle/>
          <a:p>
            <a:pPr algn="ctr"/>
            <a:r>
              <a:rPr lang="en-US" sz="3200" b="1">
                <a:solidFill>
                  <a:srgbClr val="FF0000"/>
                </a:solidFill>
              </a:rPr>
              <a:t>180 </a:t>
            </a:r>
            <a:r>
              <a:rPr lang="en-US" sz="3200" b="1" err="1">
                <a:solidFill>
                  <a:srgbClr val="FF0000"/>
                </a:solidFill>
              </a:rPr>
              <a:t>Mgal</a:t>
            </a:r>
            <a:r>
              <a:rPr lang="en-US" sz="3200" b="1">
                <a:solidFill>
                  <a:srgbClr val="FF0000"/>
                </a:solidFill>
              </a:rPr>
              <a:t> water/yr</a:t>
            </a:r>
          </a:p>
        </p:txBody>
      </p:sp>
    </p:spTree>
    <p:extLst>
      <p:ext uri="{BB962C8B-B14F-4D97-AF65-F5344CB8AC3E}">
        <p14:creationId xmlns:p14="http://schemas.microsoft.com/office/powerpoint/2010/main" val="2627002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a:extLst>
              <a:ext uri="{FF2B5EF4-FFF2-40B4-BE49-F238E27FC236}">
                <a16:creationId xmlns:a16="http://schemas.microsoft.com/office/drawing/2014/main" id="{661F46E7-AB33-7F20-82A7-97DA83A597A5}"/>
              </a:ext>
            </a:extLst>
          </p:cNvPr>
          <p:cNvGraphicFramePr>
            <a:graphicFrameLocks/>
          </p:cNvGraphicFramePr>
          <p:nvPr>
            <p:extLst>
              <p:ext uri="{D42A27DB-BD31-4B8C-83A1-F6EECF244321}">
                <p14:modId xmlns:p14="http://schemas.microsoft.com/office/powerpoint/2010/main" val="3482691667"/>
              </p:ext>
            </p:extLst>
          </p:nvPr>
        </p:nvGraphicFramePr>
        <p:xfrm>
          <a:off x="6528816" y="1690688"/>
          <a:ext cx="5663184" cy="5167312"/>
        </p:xfrm>
        <a:graphic>
          <a:graphicData uri="http://schemas.openxmlformats.org/drawingml/2006/chart">
            <c:chart xmlns:c="http://schemas.openxmlformats.org/drawingml/2006/chart" xmlns:r="http://schemas.openxmlformats.org/officeDocument/2006/relationships" r:id="rId3"/>
          </a:graphicData>
        </a:graphic>
      </p:graphicFrame>
      <p:sp>
        <p:nvSpPr>
          <p:cNvPr id="8" name="Title 7">
            <a:extLst>
              <a:ext uri="{FF2B5EF4-FFF2-40B4-BE49-F238E27FC236}">
                <a16:creationId xmlns:a16="http://schemas.microsoft.com/office/drawing/2014/main" id="{0D212A50-7EBE-BF2A-940B-C43D387DAAD8}"/>
              </a:ext>
            </a:extLst>
          </p:cNvPr>
          <p:cNvSpPr>
            <a:spLocks noGrp="1"/>
          </p:cNvSpPr>
          <p:nvPr>
            <p:ph type="title"/>
          </p:nvPr>
        </p:nvSpPr>
        <p:spPr>
          <a:xfrm>
            <a:off x="1868215" y="365123"/>
            <a:ext cx="3481552" cy="1325563"/>
          </a:xfrm>
        </p:spPr>
        <p:txBody>
          <a:bodyPr/>
          <a:lstStyle/>
          <a:p>
            <a:r>
              <a:rPr lang="en-US" dirty="0"/>
              <a:t>Number of US </a:t>
            </a:r>
            <a:br>
              <a:rPr lang="en-US" dirty="0"/>
            </a:br>
            <a:r>
              <a:rPr lang="en-US" dirty="0"/>
              <a:t>data centers</a:t>
            </a:r>
          </a:p>
        </p:txBody>
      </p:sp>
      <p:sp>
        <p:nvSpPr>
          <p:cNvPr id="10" name="Title 7">
            <a:extLst>
              <a:ext uri="{FF2B5EF4-FFF2-40B4-BE49-F238E27FC236}">
                <a16:creationId xmlns:a16="http://schemas.microsoft.com/office/drawing/2014/main" id="{C66DD935-C8C2-00D8-C949-45D4AED9C1B8}"/>
              </a:ext>
            </a:extLst>
          </p:cNvPr>
          <p:cNvSpPr txBox="1">
            <a:spLocks/>
          </p:cNvSpPr>
          <p:nvPr/>
        </p:nvSpPr>
        <p:spPr>
          <a:xfrm>
            <a:off x="6957479" y="130154"/>
            <a:ext cx="480585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Total rated power</a:t>
            </a:r>
          </a:p>
        </p:txBody>
      </p:sp>
      <p:sp>
        <p:nvSpPr>
          <p:cNvPr id="7" name="TextBox 6">
            <a:extLst>
              <a:ext uri="{FF2B5EF4-FFF2-40B4-BE49-F238E27FC236}">
                <a16:creationId xmlns:a16="http://schemas.microsoft.com/office/drawing/2014/main" id="{DF7E2AEB-B6F9-2694-710F-43A0E1E2F53C}"/>
              </a:ext>
            </a:extLst>
          </p:cNvPr>
          <p:cNvSpPr txBox="1"/>
          <p:nvPr/>
        </p:nvSpPr>
        <p:spPr>
          <a:xfrm>
            <a:off x="7450525" y="4368462"/>
            <a:ext cx="1521749" cy="646331"/>
          </a:xfrm>
          <a:prstGeom prst="rect">
            <a:avLst/>
          </a:prstGeom>
          <a:noFill/>
        </p:spPr>
        <p:txBody>
          <a:bodyPr wrap="square" rtlCol="0">
            <a:spAutoFit/>
          </a:bodyPr>
          <a:lstStyle/>
          <a:p>
            <a:r>
              <a:rPr lang="en-US" sz="3600" dirty="0"/>
              <a:t>GW</a:t>
            </a:r>
            <a:endParaRPr lang="en-US" dirty="0"/>
          </a:p>
        </p:txBody>
      </p:sp>
      <p:sp>
        <p:nvSpPr>
          <p:cNvPr id="12" name="TextBox 11">
            <a:extLst>
              <a:ext uri="{FF2B5EF4-FFF2-40B4-BE49-F238E27FC236}">
                <a16:creationId xmlns:a16="http://schemas.microsoft.com/office/drawing/2014/main" id="{58D6C0F0-C65D-240A-231A-D7601B55689B}"/>
              </a:ext>
            </a:extLst>
          </p:cNvPr>
          <p:cNvSpPr txBox="1"/>
          <p:nvPr/>
        </p:nvSpPr>
        <p:spPr>
          <a:xfrm>
            <a:off x="7450525" y="5279540"/>
            <a:ext cx="1234586" cy="646331"/>
          </a:xfrm>
          <a:prstGeom prst="rect">
            <a:avLst/>
          </a:prstGeom>
          <a:noFill/>
        </p:spPr>
        <p:txBody>
          <a:bodyPr wrap="square" rtlCol="0">
            <a:spAutoFit/>
          </a:bodyPr>
          <a:lstStyle/>
          <a:p>
            <a:r>
              <a:rPr lang="en-US" sz="3600" dirty="0"/>
              <a:t>GW</a:t>
            </a:r>
            <a:endParaRPr lang="en-US" sz="2400" dirty="0"/>
          </a:p>
        </p:txBody>
      </p:sp>
      <p:sp>
        <p:nvSpPr>
          <p:cNvPr id="3" name="TextBox 2">
            <a:extLst>
              <a:ext uri="{FF2B5EF4-FFF2-40B4-BE49-F238E27FC236}">
                <a16:creationId xmlns:a16="http://schemas.microsoft.com/office/drawing/2014/main" id="{6F97F7FA-F3A6-60D8-4CA9-862AFC66A34C}"/>
              </a:ext>
            </a:extLst>
          </p:cNvPr>
          <p:cNvSpPr txBox="1"/>
          <p:nvPr/>
        </p:nvSpPr>
        <p:spPr>
          <a:xfrm>
            <a:off x="9287634" y="3429000"/>
            <a:ext cx="1284514" cy="830997"/>
          </a:xfrm>
          <a:prstGeom prst="rect">
            <a:avLst/>
          </a:prstGeom>
          <a:noFill/>
        </p:spPr>
        <p:txBody>
          <a:bodyPr wrap="square" rtlCol="0">
            <a:spAutoFit/>
          </a:bodyPr>
          <a:lstStyle/>
          <a:p>
            <a:r>
              <a:rPr lang="en-US" sz="2400" b="1" dirty="0">
                <a:solidFill>
                  <a:schemeClr val="bg1"/>
                </a:solidFill>
              </a:rPr>
              <a:t>175 MW average</a:t>
            </a:r>
          </a:p>
        </p:txBody>
      </p:sp>
      <p:sp>
        <p:nvSpPr>
          <p:cNvPr id="11" name="TextBox 10">
            <a:extLst>
              <a:ext uri="{FF2B5EF4-FFF2-40B4-BE49-F238E27FC236}">
                <a16:creationId xmlns:a16="http://schemas.microsoft.com/office/drawing/2014/main" id="{4F7E9BF5-CDD8-2A59-0B82-0A75B6F6041E}"/>
              </a:ext>
            </a:extLst>
          </p:cNvPr>
          <p:cNvSpPr txBox="1"/>
          <p:nvPr/>
        </p:nvSpPr>
        <p:spPr>
          <a:xfrm>
            <a:off x="9287634" y="5895158"/>
            <a:ext cx="1284514" cy="738664"/>
          </a:xfrm>
          <a:prstGeom prst="rect">
            <a:avLst/>
          </a:prstGeom>
          <a:noFill/>
        </p:spPr>
        <p:txBody>
          <a:bodyPr wrap="square" rtlCol="0">
            <a:spAutoFit/>
          </a:bodyPr>
          <a:lstStyle/>
          <a:p>
            <a:r>
              <a:rPr lang="en-US" b="1" dirty="0">
                <a:solidFill>
                  <a:schemeClr val="bg1"/>
                </a:solidFill>
              </a:rPr>
              <a:t>50 MW </a:t>
            </a:r>
            <a:r>
              <a:rPr lang="en-US" sz="2400" b="1" dirty="0">
                <a:solidFill>
                  <a:schemeClr val="bg1"/>
                </a:solidFill>
              </a:rPr>
              <a:t>average</a:t>
            </a:r>
            <a:endParaRPr lang="en-US" b="1" dirty="0">
              <a:solidFill>
                <a:schemeClr val="bg1"/>
              </a:solidFill>
            </a:endParaRPr>
          </a:p>
        </p:txBody>
      </p:sp>
      <p:graphicFrame>
        <p:nvGraphicFramePr>
          <p:cNvPr id="16" name="Chart 15">
            <a:extLst>
              <a:ext uri="{FF2B5EF4-FFF2-40B4-BE49-F238E27FC236}">
                <a16:creationId xmlns:a16="http://schemas.microsoft.com/office/drawing/2014/main" id="{6C4C4920-24C5-F496-9A12-76293892012F}"/>
              </a:ext>
            </a:extLst>
          </p:cNvPr>
          <p:cNvGraphicFramePr>
            <a:graphicFrameLocks/>
          </p:cNvGraphicFramePr>
          <p:nvPr>
            <p:extLst>
              <p:ext uri="{D42A27DB-BD31-4B8C-83A1-F6EECF244321}">
                <p14:modId xmlns:p14="http://schemas.microsoft.com/office/powerpoint/2010/main" val="2899302776"/>
              </p:ext>
            </p:extLst>
          </p:nvPr>
        </p:nvGraphicFramePr>
        <p:xfrm>
          <a:off x="0" y="1690687"/>
          <a:ext cx="7293807" cy="5176837"/>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Box 20">
            <a:extLst>
              <a:ext uri="{FF2B5EF4-FFF2-40B4-BE49-F238E27FC236}">
                <a16:creationId xmlns:a16="http://schemas.microsoft.com/office/drawing/2014/main" id="{FFDEF368-4171-0AD5-431B-165732EB2EA5}"/>
              </a:ext>
            </a:extLst>
          </p:cNvPr>
          <p:cNvSpPr txBox="1"/>
          <p:nvPr/>
        </p:nvSpPr>
        <p:spPr>
          <a:xfrm>
            <a:off x="7430548" y="3457385"/>
            <a:ext cx="1521749" cy="646331"/>
          </a:xfrm>
          <a:prstGeom prst="rect">
            <a:avLst/>
          </a:prstGeom>
          <a:noFill/>
        </p:spPr>
        <p:txBody>
          <a:bodyPr wrap="square" rtlCol="0">
            <a:spAutoFit/>
          </a:bodyPr>
          <a:lstStyle/>
          <a:p>
            <a:r>
              <a:rPr lang="en-US" sz="3600" dirty="0"/>
              <a:t>GW</a:t>
            </a:r>
            <a:endParaRPr lang="en-US" dirty="0"/>
          </a:p>
        </p:txBody>
      </p:sp>
    </p:spTree>
    <p:extLst>
      <p:ext uri="{BB962C8B-B14F-4D97-AF65-F5344CB8AC3E}">
        <p14:creationId xmlns:p14="http://schemas.microsoft.com/office/powerpoint/2010/main" val="1465036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B229FB8-E705-2CD0-A7A0-125146CABC28}"/>
              </a:ext>
            </a:extLst>
          </p:cNvPr>
          <p:cNvGrpSpPr/>
          <p:nvPr/>
        </p:nvGrpSpPr>
        <p:grpSpPr>
          <a:xfrm>
            <a:off x="451319" y="1212472"/>
            <a:ext cx="9955013" cy="5638576"/>
            <a:chOff x="1089079" y="50704"/>
            <a:chExt cx="10563696" cy="6800495"/>
          </a:xfrm>
        </p:grpSpPr>
        <p:pic>
          <p:nvPicPr>
            <p:cNvPr id="4" name="Picture 3">
              <a:extLst>
                <a:ext uri="{FF2B5EF4-FFF2-40B4-BE49-F238E27FC236}">
                  <a16:creationId xmlns:a16="http://schemas.microsoft.com/office/drawing/2014/main" id="{AFF1311A-EEB0-D76E-1057-652E565611B8}"/>
                </a:ext>
              </a:extLst>
            </p:cNvPr>
            <p:cNvPicPr>
              <a:picLocks noChangeAspect="1"/>
            </p:cNvPicPr>
            <p:nvPr/>
          </p:nvPicPr>
          <p:blipFill>
            <a:blip r:embed="rId3"/>
            <a:stretch>
              <a:fillRect/>
            </a:stretch>
          </p:blipFill>
          <p:spPr>
            <a:xfrm>
              <a:off x="1089079" y="50704"/>
              <a:ext cx="10548375" cy="6280817"/>
            </a:xfrm>
            <a:prstGeom prst="rect">
              <a:avLst/>
            </a:prstGeom>
          </p:spPr>
        </p:pic>
        <p:sp>
          <p:nvSpPr>
            <p:cNvPr id="5" name="TextBox 4">
              <a:extLst>
                <a:ext uri="{FF2B5EF4-FFF2-40B4-BE49-F238E27FC236}">
                  <a16:creationId xmlns:a16="http://schemas.microsoft.com/office/drawing/2014/main" id="{56C603ED-A8A1-AAED-7098-FC77F3C0BB96}"/>
                </a:ext>
              </a:extLst>
            </p:cNvPr>
            <p:cNvSpPr txBox="1"/>
            <p:nvPr/>
          </p:nvSpPr>
          <p:spPr>
            <a:xfrm>
              <a:off x="1892089" y="6331521"/>
              <a:ext cx="9760686" cy="519678"/>
            </a:xfrm>
            <a:prstGeom prst="rect">
              <a:avLst/>
            </a:prstGeom>
            <a:noFill/>
          </p:spPr>
          <p:txBody>
            <a:bodyPr wrap="square" rtlCol="0">
              <a:spAutoFit/>
            </a:bodyPr>
            <a:lstStyle/>
            <a:p>
              <a:r>
                <a:rPr lang="en-US" sz="1100"/>
                <a:t>Pinto, Ricardo, Tiago Domingos, Paul E. Brockway, Matthew Kuperus Heun, and Tânia Sousa. 2026. </a:t>
              </a:r>
              <a:r>
                <a:rPr lang="en-US" sz="1100" i="1"/>
                <a:t>Energy Demand of Computing Devices to 2035: Efficiency, Scenarios, and the Role of </a:t>
              </a:r>
              <a:r>
                <a:rPr lang="en-US" sz="1100" i="1" err="1"/>
                <a:t>Datacentres</a:t>
              </a:r>
              <a:r>
                <a:rPr lang="en-US" sz="1100" i="1"/>
                <a:t>.</a:t>
              </a:r>
              <a:r>
                <a:rPr lang="en-US" sz="1100"/>
                <a:t> Draft paper in preparation likely to be submitted to </a:t>
              </a:r>
              <a:r>
                <a:rPr lang="en-US" sz="1100" i="1"/>
                <a:t>Energy</a:t>
              </a:r>
              <a:r>
                <a:rPr lang="en-US" sz="1100"/>
                <a:t>. </a:t>
              </a:r>
              <a:endParaRPr lang="en-US" sz="1100" i="1"/>
            </a:p>
          </p:txBody>
        </p:sp>
      </p:grpSp>
      <p:sp>
        <p:nvSpPr>
          <p:cNvPr id="3" name="TextBox 2">
            <a:extLst>
              <a:ext uri="{FF2B5EF4-FFF2-40B4-BE49-F238E27FC236}">
                <a16:creationId xmlns:a16="http://schemas.microsoft.com/office/drawing/2014/main" id="{79FA8C8D-AC52-CFB0-6CC0-D622FEBB6A02}"/>
              </a:ext>
            </a:extLst>
          </p:cNvPr>
          <p:cNvSpPr txBox="1"/>
          <p:nvPr/>
        </p:nvSpPr>
        <p:spPr>
          <a:xfrm>
            <a:off x="274910" y="107930"/>
            <a:ext cx="8814226" cy="1446550"/>
          </a:xfrm>
          <a:prstGeom prst="rect">
            <a:avLst/>
          </a:prstGeom>
          <a:noFill/>
        </p:spPr>
        <p:txBody>
          <a:bodyPr wrap="square" rtlCol="0">
            <a:spAutoFit/>
          </a:bodyPr>
          <a:lstStyle/>
          <a:p>
            <a:r>
              <a:rPr lang="en-US" sz="4400" b="1" dirty="0"/>
              <a:t>Projected global data center electricity use 2005-2035</a:t>
            </a:r>
          </a:p>
        </p:txBody>
      </p:sp>
      <p:grpSp>
        <p:nvGrpSpPr>
          <p:cNvPr id="8" name="Group 7">
            <a:extLst>
              <a:ext uri="{FF2B5EF4-FFF2-40B4-BE49-F238E27FC236}">
                <a16:creationId xmlns:a16="http://schemas.microsoft.com/office/drawing/2014/main" id="{9946ED36-2C71-A959-55FF-0B44DFDB5F93}"/>
              </a:ext>
            </a:extLst>
          </p:cNvPr>
          <p:cNvGrpSpPr/>
          <p:nvPr/>
        </p:nvGrpSpPr>
        <p:grpSpPr>
          <a:xfrm>
            <a:off x="10213791" y="1223612"/>
            <a:ext cx="1708503" cy="2903552"/>
            <a:chOff x="10213791" y="1223612"/>
            <a:chExt cx="1708503" cy="2903552"/>
          </a:xfrm>
        </p:grpSpPr>
        <p:sp>
          <p:nvSpPr>
            <p:cNvPr id="6" name="Right Brace 5">
              <a:extLst>
                <a:ext uri="{FF2B5EF4-FFF2-40B4-BE49-F238E27FC236}">
                  <a16:creationId xmlns:a16="http://schemas.microsoft.com/office/drawing/2014/main" id="{1FCA9E10-C72E-6C59-E652-07FF14081FA5}"/>
                </a:ext>
              </a:extLst>
            </p:cNvPr>
            <p:cNvSpPr/>
            <p:nvPr/>
          </p:nvSpPr>
          <p:spPr>
            <a:xfrm>
              <a:off x="10213791" y="1744717"/>
              <a:ext cx="387406" cy="2060028"/>
            </a:xfrm>
            <a:prstGeom prst="rightBrace">
              <a:avLst>
                <a:gd name="adj1" fmla="val 8333"/>
                <a:gd name="adj2" fmla="val 51365"/>
              </a:avLst>
            </a:prstGeom>
            <a:ln w="508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7" name="TextBox 6">
              <a:extLst>
                <a:ext uri="{FF2B5EF4-FFF2-40B4-BE49-F238E27FC236}">
                  <a16:creationId xmlns:a16="http://schemas.microsoft.com/office/drawing/2014/main" id="{8792A591-E847-5F71-2F90-1638D2075019}"/>
                </a:ext>
              </a:extLst>
            </p:cNvPr>
            <p:cNvSpPr txBox="1"/>
            <p:nvPr/>
          </p:nvSpPr>
          <p:spPr>
            <a:xfrm rot="16200000">
              <a:off x="9747243" y="1952113"/>
              <a:ext cx="2903552" cy="1446550"/>
            </a:xfrm>
            <a:prstGeom prst="rect">
              <a:avLst/>
            </a:prstGeom>
            <a:noFill/>
          </p:spPr>
          <p:txBody>
            <a:bodyPr wrap="none" rtlCol="0">
              <a:spAutoFit/>
            </a:bodyPr>
            <a:lstStyle/>
            <a:p>
              <a:pPr algn="ctr"/>
              <a:r>
                <a:rPr lang="en-US" sz="4400" b="1">
                  <a:solidFill>
                    <a:srgbClr val="FF0000"/>
                  </a:solidFill>
                </a:rPr>
                <a:t>2–6x</a:t>
              </a:r>
            </a:p>
            <a:p>
              <a:pPr algn="ctr"/>
              <a:r>
                <a:rPr lang="en-US" sz="4400" b="1">
                  <a:solidFill>
                    <a:srgbClr val="FF0000"/>
                  </a:solidFill>
                </a:rPr>
                <a:t>in 10 years</a:t>
              </a:r>
              <a:endParaRPr lang="en-US" b="1">
                <a:solidFill>
                  <a:srgbClr val="FF0000"/>
                </a:solidFill>
              </a:endParaRPr>
            </a:p>
          </p:txBody>
        </p:sp>
      </p:grpSp>
    </p:spTree>
    <p:extLst>
      <p:ext uri="{BB962C8B-B14F-4D97-AF65-F5344CB8AC3E}">
        <p14:creationId xmlns:p14="http://schemas.microsoft.com/office/powerpoint/2010/main" val="3895530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0E422-5941-96CB-57D6-AD48C561AC4B}"/>
              </a:ext>
            </a:extLst>
          </p:cNvPr>
          <p:cNvSpPr>
            <a:spLocks noGrp="1"/>
          </p:cNvSpPr>
          <p:nvPr>
            <p:ph type="title"/>
          </p:nvPr>
        </p:nvSpPr>
        <p:spPr>
          <a:xfrm>
            <a:off x="15602" y="145669"/>
            <a:ext cx="12160795" cy="1325563"/>
          </a:xfrm>
        </p:spPr>
        <p:txBody>
          <a:bodyPr/>
          <a:lstStyle/>
          <a:p>
            <a:r>
              <a:rPr lang="en-US"/>
              <a:t>Net effect of AI on environment depends on economy</a:t>
            </a:r>
          </a:p>
        </p:txBody>
      </p:sp>
      <p:pic>
        <p:nvPicPr>
          <p:cNvPr id="12" name="Picture 11">
            <a:extLst>
              <a:ext uri="{FF2B5EF4-FFF2-40B4-BE49-F238E27FC236}">
                <a16:creationId xmlns:a16="http://schemas.microsoft.com/office/drawing/2014/main" id="{59AFE7AF-9028-77B5-18AF-7A296642E026}"/>
              </a:ext>
            </a:extLst>
          </p:cNvPr>
          <p:cNvPicPr>
            <a:picLocks noChangeAspect="1"/>
          </p:cNvPicPr>
          <p:nvPr/>
        </p:nvPicPr>
        <p:blipFill>
          <a:blip r:embed="rId3"/>
          <a:stretch>
            <a:fillRect/>
          </a:stretch>
        </p:blipFill>
        <p:spPr>
          <a:xfrm>
            <a:off x="4644" y="2274753"/>
            <a:ext cx="3424355" cy="2063121"/>
          </a:xfrm>
          <a:prstGeom prst="rect">
            <a:avLst/>
          </a:prstGeom>
        </p:spPr>
      </p:pic>
      <p:pic>
        <p:nvPicPr>
          <p:cNvPr id="14" name="Picture 13">
            <a:extLst>
              <a:ext uri="{FF2B5EF4-FFF2-40B4-BE49-F238E27FC236}">
                <a16:creationId xmlns:a16="http://schemas.microsoft.com/office/drawing/2014/main" id="{846D1742-D095-C12D-2455-8C77DAA2C7A0}"/>
              </a:ext>
            </a:extLst>
          </p:cNvPr>
          <p:cNvPicPr>
            <a:picLocks noChangeAspect="1"/>
          </p:cNvPicPr>
          <p:nvPr/>
        </p:nvPicPr>
        <p:blipFill>
          <a:blip r:embed="rId4"/>
          <a:stretch>
            <a:fillRect/>
          </a:stretch>
        </p:blipFill>
        <p:spPr>
          <a:xfrm>
            <a:off x="4644" y="4462369"/>
            <a:ext cx="3424355" cy="2063121"/>
          </a:xfrm>
          <a:prstGeom prst="rect">
            <a:avLst/>
          </a:prstGeom>
        </p:spPr>
      </p:pic>
      <p:sp>
        <p:nvSpPr>
          <p:cNvPr id="15" name="TextBox 14">
            <a:extLst>
              <a:ext uri="{FF2B5EF4-FFF2-40B4-BE49-F238E27FC236}">
                <a16:creationId xmlns:a16="http://schemas.microsoft.com/office/drawing/2014/main" id="{ED4F363A-8934-150D-63C0-0B314F6D1E70}"/>
              </a:ext>
            </a:extLst>
          </p:cNvPr>
          <p:cNvSpPr txBox="1"/>
          <p:nvPr/>
        </p:nvSpPr>
        <p:spPr>
          <a:xfrm>
            <a:off x="254928" y="1482281"/>
            <a:ext cx="3762523" cy="769441"/>
          </a:xfrm>
          <a:prstGeom prst="rect">
            <a:avLst/>
          </a:prstGeom>
          <a:noFill/>
        </p:spPr>
        <p:txBody>
          <a:bodyPr wrap="square" rtlCol="0">
            <a:spAutoFit/>
          </a:bodyPr>
          <a:lstStyle/>
          <a:p>
            <a:r>
              <a:rPr lang="en-US" sz="4400" b="1" dirty="0">
                <a:solidFill>
                  <a:srgbClr val="C00000"/>
                </a:solidFill>
              </a:rPr>
              <a:t>Energy +20%</a:t>
            </a:r>
          </a:p>
        </p:txBody>
      </p:sp>
      <p:sp>
        <p:nvSpPr>
          <p:cNvPr id="17" name="TextBox 16">
            <a:extLst>
              <a:ext uri="{FF2B5EF4-FFF2-40B4-BE49-F238E27FC236}">
                <a16:creationId xmlns:a16="http://schemas.microsoft.com/office/drawing/2014/main" id="{470756B5-996F-6D2D-6EA4-B7A996CC851D}"/>
              </a:ext>
            </a:extLst>
          </p:cNvPr>
          <p:cNvSpPr txBox="1"/>
          <p:nvPr/>
        </p:nvSpPr>
        <p:spPr>
          <a:xfrm>
            <a:off x="10306033" y="1180284"/>
            <a:ext cx="2010657" cy="2123658"/>
          </a:xfrm>
          <a:prstGeom prst="rect">
            <a:avLst/>
          </a:prstGeom>
          <a:noFill/>
        </p:spPr>
        <p:txBody>
          <a:bodyPr wrap="square" rtlCol="0">
            <a:spAutoFit/>
          </a:bodyPr>
          <a:lstStyle/>
          <a:p>
            <a:r>
              <a:rPr lang="en-US" sz="4400" b="1" dirty="0">
                <a:solidFill>
                  <a:schemeClr val="tx2">
                    <a:lumMod val="75000"/>
                    <a:lumOff val="25000"/>
                  </a:schemeClr>
                </a:solidFill>
              </a:rPr>
              <a:t>+3.6 °C</a:t>
            </a:r>
          </a:p>
          <a:p>
            <a:endParaRPr lang="en-US" sz="4400" b="1" dirty="0">
              <a:solidFill>
                <a:schemeClr val="accent2">
                  <a:lumMod val="75000"/>
                </a:schemeClr>
              </a:solidFill>
            </a:endParaRPr>
          </a:p>
          <a:p>
            <a:r>
              <a:rPr lang="en-US" sz="4400" b="1" dirty="0">
                <a:solidFill>
                  <a:schemeClr val="accent2">
                    <a:lumMod val="75000"/>
                  </a:schemeClr>
                </a:solidFill>
              </a:rPr>
              <a:t>+3.3 °C</a:t>
            </a:r>
          </a:p>
        </p:txBody>
      </p:sp>
      <p:sp>
        <p:nvSpPr>
          <p:cNvPr id="23" name="TextBox 22">
            <a:extLst>
              <a:ext uri="{FF2B5EF4-FFF2-40B4-BE49-F238E27FC236}">
                <a16:creationId xmlns:a16="http://schemas.microsoft.com/office/drawing/2014/main" id="{096DC4E8-7E63-5BCF-EAD1-ED67BC8DB331}"/>
              </a:ext>
            </a:extLst>
          </p:cNvPr>
          <p:cNvSpPr txBox="1"/>
          <p:nvPr/>
        </p:nvSpPr>
        <p:spPr>
          <a:xfrm>
            <a:off x="519545" y="2191422"/>
            <a:ext cx="794889" cy="769441"/>
          </a:xfrm>
          <a:prstGeom prst="rect">
            <a:avLst/>
          </a:prstGeom>
          <a:noFill/>
        </p:spPr>
        <p:txBody>
          <a:bodyPr wrap="square" rtlCol="0">
            <a:spAutoFit/>
          </a:bodyPr>
          <a:lstStyle/>
          <a:p>
            <a:r>
              <a:rPr lang="en-US" sz="4400" b="1" dirty="0">
                <a:solidFill>
                  <a:schemeClr val="tx2">
                    <a:lumMod val="75000"/>
                    <a:lumOff val="25000"/>
                  </a:schemeClr>
                </a:solidFill>
              </a:rPr>
              <a:t>AI</a:t>
            </a:r>
          </a:p>
        </p:txBody>
      </p:sp>
      <p:sp>
        <p:nvSpPr>
          <p:cNvPr id="25" name="TextBox 24">
            <a:extLst>
              <a:ext uri="{FF2B5EF4-FFF2-40B4-BE49-F238E27FC236}">
                <a16:creationId xmlns:a16="http://schemas.microsoft.com/office/drawing/2014/main" id="{DE23CF5A-BDEB-5BBF-43D1-D9F2C0EDEA31}"/>
              </a:ext>
            </a:extLst>
          </p:cNvPr>
          <p:cNvSpPr txBox="1"/>
          <p:nvPr/>
        </p:nvSpPr>
        <p:spPr>
          <a:xfrm>
            <a:off x="519545" y="4462369"/>
            <a:ext cx="954436" cy="769441"/>
          </a:xfrm>
          <a:prstGeom prst="rect">
            <a:avLst/>
          </a:prstGeom>
          <a:noFill/>
        </p:spPr>
        <p:txBody>
          <a:bodyPr wrap="square" rtlCol="0">
            <a:spAutoFit/>
          </a:bodyPr>
          <a:lstStyle/>
          <a:p>
            <a:r>
              <a:rPr lang="en-US" sz="4400" b="1" dirty="0">
                <a:solidFill>
                  <a:schemeClr val="accent2">
                    <a:lumMod val="75000"/>
                  </a:schemeClr>
                </a:solidFill>
              </a:rPr>
              <a:t>2%</a:t>
            </a:r>
          </a:p>
        </p:txBody>
      </p:sp>
      <p:pic>
        <p:nvPicPr>
          <p:cNvPr id="4" name="Picture 3">
            <a:extLst>
              <a:ext uri="{FF2B5EF4-FFF2-40B4-BE49-F238E27FC236}">
                <a16:creationId xmlns:a16="http://schemas.microsoft.com/office/drawing/2014/main" id="{E0A2A8D5-361E-AE5A-EF71-4D94B2920D8F}"/>
              </a:ext>
            </a:extLst>
          </p:cNvPr>
          <p:cNvPicPr>
            <a:picLocks noChangeAspect="1"/>
          </p:cNvPicPr>
          <p:nvPr/>
        </p:nvPicPr>
        <p:blipFill>
          <a:blip r:embed="rId5"/>
          <a:stretch>
            <a:fillRect/>
          </a:stretch>
        </p:blipFill>
        <p:spPr>
          <a:xfrm>
            <a:off x="3228276" y="965973"/>
            <a:ext cx="7856035" cy="5892027"/>
          </a:xfrm>
          <a:prstGeom prst="rect">
            <a:avLst/>
          </a:prstGeom>
        </p:spPr>
      </p:pic>
      <p:cxnSp>
        <p:nvCxnSpPr>
          <p:cNvPr id="6" name="Straight Arrow Connector 5">
            <a:extLst>
              <a:ext uri="{FF2B5EF4-FFF2-40B4-BE49-F238E27FC236}">
                <a16:creationId xmlns:a16="http://schemas.microsoft.com/office/drawing/2014/main" id="{563AF925-6A3C-D379-5B10-84F99A5FD266}"/>
              </a:ext>
            </a:extLst>
          </p:cNvPr>
          <p:cNvCxnSpPr/>
          <p:nvPr/>
        </p:nvCxnSpPr>
        <p:spPr>
          <a:xfrm>
            <a:off x="2542478" y="2274753"/>
            <a:ext cx="685798" cy="301389"/>
          </a:xfrm>
          <a:prstGeom prst="straightConnector1">
            <a:avLst/>
          </a:prstGeom>
          <a:ln w="1016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2178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352DDB-ACCB-7EBC-BAA6-C71B3BC3D79F}"/>
              </a:ext>
            </a:extLst>
          </p:cNvPr>
          <p:cNvSpPr>
            <a:spLocks noGrp="1"/>
          </p:cNvSpPr>
          <p:nvPr>
            <p:ph type="title"/>
          </p:nvPr>
        </p:nvSpPr>
        <p:spPr>
          <a:xfrm>
            <a:off x="457200" y="166242"/>
            <a:ext cx="5323715" cy="860222"/>
          </a:xfrm>
        </p:spPr>
        <p:txBody>
          <a:bodyPr vert="horz" lIns="91440" tIns="45720" rIns="91440" bIns="45720" rtlCol="0" anchor="b">
            <a:normAutofit/>
          </a:bodyPr>
          <a:lstStyle/>
          <a:p>
            <a:r>
              <a:rPr lang="en-US" sz="4000" kern="1200">
                <a:solidFill>
                  <a:schemeClr val="tx1"/>
                </a:solidFill>
                <a:latin typeface="+mj-lt"/>
                <a:ea typeface="+mj-ea"/>
                <a:cs typeface="+mj-cs"/>
              </a:rPr>
              <a:t>Prudential Wisdom</a:t>
            </a:r>
          </a:p>
        </p:txBody>
      </p:sp>
      <p:sp>
        <p:nvSpPr>
          <p:cNvPr id="4" name="Text Placeholder 3">
            <a:extLst>
              <a:ext uri="{FF2B5EF4-FFF2-40B4-BE49-F238E27FC236}">
                <a16:creationId xmlns:a16="http://schemas.microsoft.com/office/drawing/2014/main" id="{0DA8BD21-4C19-6FA6-260A-987BFC1F67AA}"/>
              </a:ext>
            </a:extLst>
          </p:cNvPr>
          <p:cNvSpPr>
            <a:spLocks noGrp="1"/>
          </p:cNvSpPr>
          <p:nvPr>
            <p:ph type="body" sz="half" idx="2"/>
          </p:nvPr>
        </p:nvSpPr>
        <p:spPr>
          <a:xfrm>
            <a:off x="746214" y="940611"/>
            <a:ext cx="2144243" cy="1371601"/>
          </a:xfrm>
        </p:spPr>
        <p:txBody>
          <a:bodyPr vert="horz" lIns="91440" tIns="45720" rIns="91440" bIns="45720" rtlCol="0" anchor="t">
            <a:normAutofit fontScale="92500" lnSpcReduction="20000"/>
          </a:bodyPr>
          <a:lstStyle/>
          <a:p>
            <a:pPr>
              <a:lnSpc>
                <a:spcPct val="110000"/>
              </a:lnSpc>
              <a:spcBef>
                <a:spcPts val="0"/>
              </a:spcBef>
            </a:pPr>
            <a:r>
              <a:rPr lang="en-US" sz="2400"/>
              <a:t>Cost/Benefit</a:t>
            </a:r>
          </a:p>
          <a:p>
            <a:pPr>
              <a:lnSpc>
                <a:spcPct val="110000"/>
              </a:lnSpc>
              <a:spcBef>
                <a:spcPts val="0"/>
              </a:spcBef>
            </a:pPr>
            <a:r>
              <a:rPr lang="en-US" sz="2400"/>
              <a:t>Constraints</a:t>
            </a:r>
          </a:p>
          <a:p>
            <a:pPr>
              <a:lnSpc>
                <a:spcPct val="110000"/>
              </a:lnSpc>
              <a:spcBef>
                <a:spcPts val="0"/>
              </a:spcBef>
              <a:defRPr/>
            </a:pPr>
            <a:r>
              <a:rPr lang="en-US" sz="2400"/>
              <a:t>Priorities</a:t>
            </a:r>
          </a:p>
          <a:p>
            <a:pPr>
              <a:lnSpc>
                <a:spcPct val="110000"/>
              </a:lnSpc>
              <a:spcBef>
                <a:spcPts val="0"/>
              </a:spcBef>
              <a:defRPr/>
            </a:pPr>
            <a:r>
              <a:rPr lang="en-US" sz="2400"/>
              <a:t>Risk</a:t>
            </a:r>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3292146-F7AD-C122-98A8-5F5A56FFEF4E}"/>
              </a:ext>
            </a:extLst>
          </p:cNvPr>
          <p:cNvGrpSpPr/>
          <p:nvPr/>
        </p:nvGrpSpPr>
        <p:grpSpPr>
          <a:xfrm>
            <a:off x="7666133" y="457633"/>
            <a:ext cx="3886510" cy="6077800"/>
            <a:chOff x="7666133" y="457633"/>
            <a:chExt cx="3886510" cy="6077800"/>
          </a:xfrm>
        </p:grpSpPr>
        <p:pic>
          <p:nvPicPr>
            <p:cNvPr id="5" name="Picture 4" descr="My daughter is obsessed with chainsaws... : r/Chainsaw">
              <a:extLst>
                <a:ext uri="{FF2B5EF4-FFF2-40B4-BE49-F238E27FC236}">
                  <a16:creationId xmlns:a16="http://schemas.microsoft.com/office/drawing/2014/main" id="{491C0F5B-7446-D8FC-4A26-3C85403B5C23}"/>
                </a:ext>
              </a:extLst>
            </p:cNvPr>
            <p:cNvPicPr>
              <a:picLocks noChangeAspect="1"/>
            </p:cNvPicPr>
            <p:nvPr/>
          </p:nvPicPr>
          <p:blipFill>
            <a:blip r:embed="rId3"/>
            <a:srcRect l="5847" t="7841" r="15577"/>
            <a:stretch>
              <a:fillRect/>
            </a:stretch>
          </p:blipFill>
          <p:spPr>
            <a:xfrm>
              <a:off x="7666133" y="457633"/>
              <a:ext cx="3886510" cy="6077800"/>
            </a:xfrm>
            <a:prstGeom prst="rect">
              <a:avLst/>
            </a:prstGeom>
          </p:spPr>
        </p:pic>
        <p:sp>
          <p:nvSpPr>
            <p:cNvPr id="3" name="TextBox 2">
              <a:extLst>
                <a:ext uri="{FF2B5EF4-FFF2-40B4-BE49-F238E27FC236}">
                  <a16:creationId xmlns:a16="http://schemas.microsoft.com/office/drawing/2014/main" id="{C3F111F8-F9FF-36D6-C630-6EEBD4758168}"/>
                </a:ext>
              </a:extLst>
            </p:cNvPr>
            <p:cNvSpPr txBox="1"/>
            <p:nvPr/>
          </p:nvSpPr>
          <p:spPr>
            <a:xfrm>
              <a:off x="7814690" y="5088883"/>
              <a:ext cx="3611467" cy="1446550"/>
            </a:xfrm>
            <a:prstGeom prst="rect">
              <a:avLst/>
            </a:prstGeom>
            <a:solidFill>
              <a:schemeClr val="bg1">
                <a:alpha val="32000"/>
              </a:schemeClr>
            </a:solidFill>
          </p:spPr>
          <p:txBody>
            <a:bodyPr wrap="square" rtlCol="0">
              <a:spAutoFit/>
            </a:bodyPr>
            <a:lstStyle/>
            <a:p>
              <a:r>
                <a:rPr lang="en-US" sz="4400" b="1">
                  <a:solidFill>
                    <a:srgbClr val="FF0000"/>
                  </a:solidFill>
                </a:rPr>
                <a:t>Is this a good idea?</a:t>
              </a:r>
            </a:p>
          </p:txBody>
        </p:sp>
      </p:grpSp>
      <p:graphicFrame>
        <p:nvGraphicFramePr>
          <p:cNvPr id="8" name="Diagram 7">
            <a:extLst>
              <a:ext uri="{FF2B5EF4-FFF2-40B4-BE49-F238E27FC236}">
                <a16:creationId xmlns:a16="http://schemas.microsoft.com/office/drawing/2014/main" id="{62ED2181-232F-1750-2F5F-B92A1611B0D4}"/>
              </a:ext>
            </a:extLst>
          </p:cNvPr>
          <p:cNvGraphicFramePr/>
          <p:nvPr>
            <p:extLst>
              <p:ext uri="{D42A27DB-BD31-4B8C-83A1-F6EECF244321}">
                <p14:modId xmlns:p14="http://schemas.microsoft.com/office/powerpoint/2010/main" val="4098923923"/>
              </p:ext>
            </p:extLst>
          </p:nvPr>
        </p:nvGraphicFramePr>
        <p:xfrm>
          <a:off x="639357" y="3148431"/>
          <a:ext cx="5321506" cy="32850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Graphic 8" descr="Scales of justice with solid fill">
            <a:extLst>
              <a:ext uri="{FF2B5EF4-FFF2-40B4-BE49-F238E27FC236}">
                <a16:creationId xmlns:a16="http://schemas.microsoft.com/office/drawing/2014/main" id="{3826CB95-2225-A672-6D98-C4B8AAC86ED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23715" y="104394"/>
            <a:ext cx="1371600" cy="1371600"/>
          </a:xfrm>
          <a:prstGeom prst="rect">
            <a:avLst/>
          </a:prstGeom>
        </p:spPr>
      </p:pic>
      <p:pic>
        <p:nvPicPr>
          <p:cNvPr id="17" name="Graphic 16" descr="Magnifying glass with solid fill">
            <a:extLst>
              <a:ext uri="{FF2B5EF4-FFF2-40B4-BE49-F238E27FC236}">
                <a16:creationId xmlns:a16="http://schemas.microsoft.com/office/drawing/2014/main" id="{22269B81-15BD-8632-DB32-583BD93917C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134621" y="3863437"/>
            <a:ext cx="1225446" cy="1225446"/>
          </a:xfrm>
          <a:prstGeom prst="rect">
            <a:avLst/>
          </a:prstGeom>
        </p:spPr>
      </p:pic>
    </p:spTree>
    <p:extLst>
      <p:ext uri="{BB962C8B-B14F-4D97-AF65-F5344CB8AC3E}">
        <p14:creationId xmlns:p14="http://schemas.microsoft.com/office/powerpoint/2010/main" val="211913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A12A5B-F26B-65FE-DF3F-E92E83E9936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449AEB-11B2-5C85-5FE4-67410BB07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6279A8-2E4F-D05D-9F9C-2E2223B904C5}"/>
              </a:ext>
            </a:extLst>
          </p:cNvPr>
          <p:cNvSpPr>
            <a:spLocks noGrp="1"/>
          </p:cNvSpPr>
          <p:nvPr>
            <p:ph type="title"/>
          </p:nvPr>
        </p:nvSpPr>
        <p:spPr>
          <a:xfrm>
            <a:off x="457200" y="166242"/>
            <a:ext cx="5323715" cy="860222"/>
          </a:xfrm>
        </p:spPr>
        <p:txBody>
          <a:bodyPr vert="horz" lIns="91440" tIns="45720" rIns="91440" bIns="45720" rtlCol="0" anchor="b">
            <a:normAutofit/>
          </a:bodyPr>
          <a:lstStyle/>
          <a:p>
            <a:r>
              <a:rPr lang="en-US" sz="4000" kern="1200">
                <a:solidFill>
                  <a:schemeClr val="tx1"/>
                </a:solidFill>
                <a:latin typeface="+mj-lt"/>
                <a:ea typeface="+mj-ea"/>
                <a:cs typeface="+mj-cs"/>
              </a:rPr>
              <a:t>Prudential Wisdom</a:t>
            </a:r>
          </a:p>
        </p:txBody>
      </p:sp>
      <p:sp>
        <p:nvSpPr>
          <p:cNvPr id="4" name="Text Placeholder 3">
            <a:extLst>
              <a:ext uri="{FF2B5EF4-FFF2-40B4-BE49-F238E27FC236}">
                <a16:creationId xmlns:a16="http://schemas.microsoft.com/office/drawing/2014/main" id="{7D6BF0DD-6B0D-FC65-456A-52CA551461DF}"/>
              </a:ext>
            </a:extLst>
          </p:cNvPr>
          <p:cNvSpPr>
            <a:spLocks noGrp="1"/>
          </p:cNvSpPr>
          <p:nvPr>
            <p:ph type="body" sz="half" idx="2"/>
          </p:nvPr>
        </p:nvSpPr>
        <p:spPr>
          <a:xfrm>
            <a:off x="746214" y="940611"/>
            <a:ext cx="2144243" cy="1371601"/>
          </a:xfrm>
        </p:spPr>
        <p:txBody>
          <a:bodyPr vert="horz" lIns="91440" tIns="45720" rIns="91440" bIns="45720" rtlCol="0" anchor="t">
            <a:normAutofit fontScale="92500" lnSpcReduction="20000"/>
          </a:bodyPr>
          <a:lstStyle/>
          <a:p>
            <a:pPr>
              <a:lnSpc>
                <a:spcPct val="110000"/>
              </a:lnSpc>
              <a:spcBef>
                <a:spcPts val="0"/>
              </a:spcBef>
            </a:pPr>
            <a:r>
              <a:rPr lang="en-US" sz="2400"/>
              <a:t>Cost/Benefit</a:t>
            </a:r>
          </a:p>
          <a:p>
            <a:pPr>
              <a:lnSpc>
                <a:spcPct val="110000"/>
              </a:lnSpc>
              <a:spcBef>
                <a:spcPts val="0"/>
              </a:spcBef>
            </a:pPr>
            <a:r>
              <a:rPr lang="en-US" sz="2400"/>
              <a:t>Constraints</a:t>
            </a:r>
          </a:p>
          <a:p>
            <a:pPr>
              <a:lnSpc>
                <a:spcPct val="110000"/>
              </a:lnSpc>
              <a:spcBef>
                <a:spcPts val="0"/>
              </a:spcBef>
              <a:defRPr/>
            </a:pPr>
            <a:r>
              <a:rPr lang="en-US" sz="2400"/>
              <a:t>Priorities</a:t>
            </a:r>
          </a:p>
          <a:p>
            <a:pPr>
              <a:lnSpc>
                <a:spcPct val="110000"/>
              </a:lnSpc>
              <a:spcBef>
                <a:spcPts val="0"/>
              </a:spcBef>
              <a:defRPr/>
            </a:pPr>
            <a:r>
              <a:rPr lang="en-US" sz="2400"/>
              <a:t>Risk</a:t>
            </a:r>
          </a:p>
        </p:txBody>
      </p:sp>
      <p:sp>
        <p:nvSpPr>
          <p:cNvPr id="12" name="Rectangle 11">
            <a:extLst>
              <a:ext uri="{FF2B5EF4-FFF2-40B4-BE49-F238E27FC236}">
                <a16:creationId xmlns:a16="http://schemas.microsoft.com/office/drawing/2014/main" id="{0B226874-85BC-C0D9-ACF9-B3D5E378A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4794325-9F92-16D9-E997-D9AF74FF8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E0DE903-F290-D52D-C42B-80EC72A95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5AC635-3C32-B972-5D79-65DC9CAEC8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3637A9E-6617-FA40-1DED-D568B3903C5F}"/>
              </a:ext>
            </a:extLst>
          </p:cNvPr>
          <p:cNvGrpSpPr/>
          <p:nvPr/>
        </p:nvGrpSpPr>
        <p:grpSpPr>
          <a:xfrm>
            <a:off x="7666133" y="457633"/>
            <a:ext cx="3886510" cy="6077800"/>
            <a:chOff x="7666133" y="457633"/>
            <a:chExt cx="3886510" cy="6077800"/>
          </a:xfrm>
        </p:grpSpPr>
        <p:pic>
          <p:nvPicPr>
            <p:cNvPr id="5" name="Picture 4" descr="My daughter is obsessed with chainsaws... : r/Chainsaw">
              <a:extLst>
                <a:ext uri="{FF2B5EF4-FFF2-40B4-BE49-F238E27FC236}">
                  <a16:creationId xmlns:a16="http://schemas.microsoft.com/office/drawing/2014/main" id="{6E2CA6A1-77F8-4668-5950-8BD265F0BA53}"/>
                </a:ext>
              </a:extLst>
            </p:cNvPr>
            <p:cNvPicPr>
              <a:picLocks noChangeAspect="1"/>
            </p:cNvPicPr>
            <p:nvPr/>
          </p:nvPicPr>
          <p:blipFill>
            <a:blip r:embed="rId3"/>
            <a:srcRect l="5847" t="7841" r="15577"/>
            <a:stretch>
              <a:fillRect/>
            </a:stretch>
          </p:blipFill>
          <p:spPr>
            <a:xfrm>
              <a:off x="7666133" y="457633"/>
              <a:ext cx="3886510" cy="6077800"/>
            </a:xfrm>
            <a:prstGeom prst="rect">
              <a:avLst/>
            </a:prstGeom>
          </p:spPr>
        </p:pic>
        <p:sp>
          <p:nvSpPr>
            <p:cNvPr id="3" name="TextBox 2">
              <a:extLst>
                <a:ext uri="{FF2B5EF4-FFF2-40B4-BE49-F238E27FC236}">
                  <a16:creationId xmlns:a16="http://schemas.microsoft.com/office/drawing/2014/main" id="{B383EAAC-D953-47DF-07AC-E34AEB78CE44}"/>
                </a:ext>
              </a:extLst>
            </p:cNvPr>
            <p:cNvSpPr txBox="1"/>
            <p:nvPr/>
          </p:nvSpPr>
          <p:spPr>
            <a:xfrm>
              <a:off x="7814690" y="5088883"/>
              <a:ext cx="3611467" cy="1446550"/>
            </a:xfrm>
            <a:prstGeom prst="rect">
              <a:avLst/>
            </a:prstGeom>
            <a:solidFill>
              <a:schemeClr val="bg1">
                <a:alpha val="32000"/>
              </a:schemeClr>
            </a:solidFill>
          </p:spPr>
          <p:txBody>
            <a:bodyPr wrap="square" rtlCol="0">
              <a:spAutoFit/>
            </a:bodyPr>
            <a:lstStyle/>
            <a:p>
              <a:r>
                <a:rPr lang="en-US" sz="4400" b="1">
                  <a:solidFill>
                    <a:srgbClr val="FF0000"/>
                  </a:solidFill>
                </a:rPr>
                <a:t>Is this a good idea?</a:t>
              </a:r>
            </a:p>
          </p:txBody>
        </p:sp>
      </p:grpSp>
      <p:graphicFrame>
        <p:nvGraphicFramePr>
          <p:cNvPr id="8" name="Diagram 7">
            <a:extLst>
              <a:ext uri="{FF2B5EF4-FFF2-40B4-BE49-F238E27FC236}">
                <a16:creationId xmlns:a16="http://schemas.microsoft.com/office/drawing/2014/main" id="{A6D1B3A8-5A14-F448-173A-F92161238410}"/>
              </a:ext>
            </a:extLst>
          </p:cNvPr>
          <p:cNvGraphicFramePr/>
          <p:nvPr/>
        </p:nvGraphicFramePr>
        <p:xfrm>
          <a:off x="639357" y="3148431"/>
          <a:ext cx="5321506" cy="32850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Graphic 8" descr="Scales of justice with solid fill">
            <a:extLst>
              <a:ext uri="{FF2B5EF4-FFF2-40B4-BE49-F238E27FC236}">
                <a16:creationId xmlns:a16="http://schemas.microsoft.com/office/drawing/2014/main" id="{A554577B-8160-BB6F-DDEE-4BB03AC2429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23715" y="104394"/>
            <a:ext cx="1371600" cy="1371600"/>
          </a:xfrm>
          <a:prstGeom prst="rect">
            <a:avLst/>
          </a:prstGeom>
        </p:spPr>
      </p:pic>
      <p:sp>
        <p:nvSpPr>
          <p:cNvPr id="11" name="Rectangle: Rounded Corners 10">
            <a:extLst>
              <a:ext uri="{FF2B5EF4-FFF2-40B4-BE49-F238E27FC236}">
                <a16:creationId xmlns:a16="http://schemas.microsoft.com/office/drawing/2014/main" id="{57A60A91-717C-13C0-784D-9CD8E58EAF7E}"/>
              </a:ext>
            </a:extLst>
          </p:cNvPr>
          <p:cNvSpPr/>
          <p:nvPr/>
        </p:nvSpPr>
        <p:spPr>
          <a:xfrm>
            <a:off x="616901" y="1815036"/>
            <a:ext cx="979887" cy="472966"/>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D44BA3A-52EC-D857-E90F-900A45043B16}"/>
              </a:ext>
            </a:extLst>
          </p:cNvPr>
          <p:cNvSpPr txBox="1"/>
          <p:nvPr/>
        </p:nvSpPr>
        <p:spPr>
          <a:xfrm>
            <a:off x="211540" y="2333480"/>
            <a:ext cx="1578124" cy="461665"/>
          </a:xfrm>
          <a:prstGeom prst="rect">
            <a:avLst/>
          </a:prstGeom>
          <a:noFill/>
          <a:ln>
            <a:noFill/>
          </a:ln>
        </p:spPr>
        <p:txBody>
          <a:bodyPr wrap="none" rtlCol="0">
            <a:spAutoFit/>
          </a:bodyPr>
          <a:lstStyle/>
          <a:p>
            <a:r>
              <a:rPr lang="en-US" sz="2400" b="1" dirty="0">
                <a:solidFill>
                  <a:srgbClr val="C00000"/>
                </a:solidFill>
              </a:rPr>
              <a:t>Ignorance</a:t>
            </a:r>
          </a:p>
        </p:txBody>
      </p:sp>
      <p:sp>
        <p:nvSpPr>
          <p:cNvPr id="19" name="TextBox 18">
            <a:extLst>
              <a:ext uri="{FF2B5EF4-FFF2-40B4-BE49-F238E27FC236}">
                <a16:creationId xmlns:a16="http://schemas.microsoft.com/office/drawing/2014/main" id="{1A997D5E-11DF-D6AE-D4BD-0591391D60A6}"/>
              </a:ext>
            </a:extLst>
          </p:cNvPr>
          <p:cNvSpPr txBox="1"/>
          <p:nvPr/>
        </p:nvSpPr>
        <p:spPr>
          <a:xfrm>
            <a:off x="2795048" y="2339220"/>
            <a:ext cx="1830501" cy="461665"/>
          </a:xfrm>
          <a:prstGeom prst="rect">
            <a:avLst/>
          </a:prstGeom>
          <a:noFill/>
          <a:ln>
            <a:noFill/>
          </a:ln>
        </p:spPr>
        <p:txBody>
          <a:bodyPr wrap="none" rtlCol="0">
            <a:spAutoFit/>
          </a:bodyPr>
          <a:lstStyle/>
          <a:p>
            <a:r>
              <a:rPr lang="en-US" sz="2400" b="1" dirty="0">
                <a:solidFill>
                  <a:srgbClr val="C00000"/>
                </a:solidFill>
              </a:rPr>
              <a:t>Uncertainty</a:t>
            </a:r>
          </a:p>
        </p:txBody>
      </p:sp>
      <p:sp>
        <p:nvSpPr>
          <p:cNvPr id="21" name="TextBox 20">
            <a:extLst>
              <a:ext uri="{FF2B5EF4-FFF2-40B4-BE49-F238E27FC236}">
                <a16:creationId xmlns:a16="http://schemas.microsoft.com/office/drawing/2014/main" id="{05E9C126-E310-4DC1-F8D5-F82667CB80FD}"/>
              </a:ext>
            </a:extLst>
          </p:cNvPr>
          <p:cNvSpPr txBox="1"/>
          <p:nvPr/>
        </p:nvSpPr>
        <p:spPr>
          <a:xfrm>
            <a:off x="5464884" y="2312212"/>
            <a:ext cx="3252345" cy="1200329"/>
          </a:xfrm>
          <a:prstGeom prst="rect">
            <a:avLst/>
          </a:prstGeom>
          <a:noFill/>
          <a:ln>
            <a:noFill/>
          </a:ln>
        </p:spPr>
        <p:txBody>
          <a:bodyPr wrap="square" rtlCol="0">
            <a:spAutoFit/>
          </a:bodyPr>
          <a:lstStyle/>
          <a:p>
            <a:r>
              <a:rPr lang="en-US" sz="2400" b="1">
                <a:solidFill>
                  <a:srgbClr val="C00000"/>
                </a:solidFill>
              </a:rPr>
              <a:t>Risk</a:t>
            </a:r>
          </a:p>
          <a:p>
            <a:r>
              <a:rPr lang="en-US" sz="2400" b="1">
                <a:solidFill>
                  <a:srgbClr val="C00000"/>
                </a:solidFill>
              </a:rPr>
              <a:t>= likelihood x</a:t>
            </a:r>
          </a:p>
          <a:p>
            <a:r>
              <a:rPr lang="en-US" sz="2400" b="1">
                <a:solidFill>
                  <a:srgbClr val="C00000"/>
                </a:solidFill>
              </a:rPr>
              <a:t>consequences</a:t>
            </a:r>
          </a:p>
        </p:txBody>
      </p:sp>
    </p:spTree>
    <p:extLst>
      <p:ext uri="{BB962C8B-B14F-4D97-AF65-F5344CB8AC3E}">
        <p14:creationId xmlns:p14="http://schemas.microsoft.com/office/powerpoint/2010/main" val="1030441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278C03-82C0-C0CD-23B7-9B1C031DADB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5C2010-E8A9-5B09-9557-0A99E78F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21F8F7-9C1D-794B-9E58-82F6F173D8BB}"/>
              </a:ext>
            </a:extLst>
          </p:cNvPr>
          <p:cNvSpPr>
            <a:spLocks noGrp="1"/>
          </p:cNvSpPr>
          <p:nvPr>
            <p:ph type="title"/>
          </p:nvPr>
        </p:nvSpPr>
        <p:spPr>
          <a:xfrm>
            <a:off x="457200" y="166242"/>
            <a:ext cx="5323715" cy="860222"/>
          </a:xfrm>
        </p:spPr>
        <p:txBody>
          <a:bodyPr vert="horz" lIns="91440" tIns="45720" rIns="91440" bIns="45720" rtlCol="0" anchor="b">
            <a:normAutofit/>
          </a:bodyPr>
          <a:lstStyle/>
          <a:p>
            <a:r>
              <a:rPr lang="en-US" sz="4000" kern="1200">
                <a:solidFill>
                  <a:schemeClr val="tx1"/>
                </a:solidFill>
                <a:latin typeface="+mj-lt"/>
                <a:ea typeface="+mj-ea"/>
                <a:cs typeface="+mj-cs"/>
              </a:rPr>
              <a:t>Prudential Wisdom</a:t>
            </a:r>
          </a:p>
        </p:txBody>
      </p:sp>
      <p:sp>
        <p:nvSpPr>
          <p:cNvPr id="4" name="Text Placeholder 3">
            <a:extLst>
              <a:ext uri="{FF2B5EF4-FFF2-40B4-BE49-F238E27FC236}">
                <a16:creationId xmlns:a16="http://schemas.microsoft.com/office/drawing/2014/main" id="{32181419-56A9-67D9-1EF0-00482FD5CE45}"/>
              </a:ext>
            </a:extLst>
          </p:cNvPr>
          <p:cNvSpPr>
            <a:spLocks noGrp="1"/>
          </p:cNvSpPr>
          <p:nvPr>
            <p:ph type="body" sz="half" idx="2"/>
          </p:nvPr>
        </p:nvSpPr>
        <p:spPr>
          <a:xfrm>
            <a:off x="746214" y="940611"/>
            <a:ext cx="2144243" cy="1371601"/>
          </a:xfrm>
        </p:spPr>
        <p:txBody>
          <a:bodyPr vert="horz" lIns="91440" tIns="45720" rIns="91440" bIns="45720" rtlCol="0" anchor="t">
            <a:normAutofit fontScale="92500" lnSpcReduction="20000"/>
          </a:bodyPr>
          <a:lstStyle/>
          <a:p>
            <a:pPr>
              <a:lnSpc>
                <a:spcPct val="110000"/>
              </a:lnSpc>
              <a:spcBef>
                <a:spcPts val="0"/>
              </a:spcBef>
            </a:pPr>
            <a:r>
              <a:rPr lang="en-US" sz="2400"/>
              <a:t>Cost/Benefit</a:t>
            </a:r>
          </a:p>
          <a:p>
            <a:pPr>
              <a:lnSpc>
                <a:spcPct val="110000"/>
              </a:lnSpc>
              <a:spcBef>
                <a:spcPts val="0"/>
              </a:spcBef>
            </a:pPr>
            <a:r>
              <a:rPr lang="en-US" sz="2400"/>
              <a:t>Constraints</a:t>
            </a:r>
          </a:p>
          <a:p>
            <a:pPr>
              <a:lnSpc>
                <a:spcPct val="110000"/>
              </a:lnSpc>
              <a:spcBef>
                <a:spcPts val="0"/>
              </a:spcBef>
              <a:defRPr/>
            </a:pPr>
            <a:r>
              <a:rPr lang="en-US" sz="2400"/>
              <a:t>Priorities</a:t>
            </a:r>
          </a:p>
          <a:p>
            <a:pPr>
              <a:lnSpc>
                <a:spcPct val="110000"/>
              </a:lnSpc>
              <a:spcBef>
                <a:spcPts val="0"/>
              </a:spcBef>
              <a:defRPr/>
            </a:pPr>
            <a:r>
              <a:rPr lang="en-US" sz="2400"/>
              <a:t>Risk</a:t>
            </a:r>
          </a:p>
        </p:txBody>
      </p:sp>
      <p:sp>
        <p:nvSpPr>
          <p:cNvPr id="12" name="Rectangle 11">
            <a:extLst>
              <a:ext uri="{FF2B5EF4-FFF2-40B4-BE49-F238E27FC236}">
                <a16:creationId xmlns:a16="http://schemas.microsoft.com/office/drawing/2014/main" id="{6E8094E5-5EF8-695C-9FBD-6D45E5548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8803512-8F43-2988-AE2E-8FBA5A8CF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1A864D6-2A15-AB99-1A39-57494FB42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ABACDFB-B1A4-1013-9AED-9332E68DC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00EFB9A6-9554-6068-132E-D1D8B35C9923}"/>
              </a:ext>
            </a:extLst>
          </p:cNvPr>
          <p:cNvGrpSpPr/>
          <p:nvPr/>
        </p:nvGrpSpPr>
        <p:grpSpPr>
          <a:xfrm>
            <a:off x="7666133" y="457633"/>
            <a:ext cx="3886510" cy="6077800"/>
            <a:chOff x="7666133" y="457633"/>
            <a:chExt cx="3886510" cy="6077800"/>
          </a:xfrm>
        </p:grpSpPr>
        <p:pic>
          <p:nvPicPr>
            <p:cNvPr id="5" name="Picture 4" descr="My daughter is obsessed with chainsaws... : r/Chainsaw">
              <a:extLst>
                <a:ext uri="{FF2B5EF4-FFF2-40B4-BE49-F238E27FC236}">
                  <a16:creationId xmlns:a16="http://schemas.microsoft.com/office/drawing/2014/main" id="{08ACCDF4-8FA5-A038-F994-7A25283DE4DB}"/>
                </a:ext>
              </a:extLst>
            </p:cNvPr>
            <p:cNvPicPr>
              <a:picLocks noChangeAspect="1"/>
            </p:cNvPicPr>
            <p:nvPr/>
          </p:nvPicPr>
          <p:blipFill>
            <a:blip r:embed="rId3"/>
            <a:srcRect l="5847" t="7841" r="15577"/>
            <a:stretch>
              <a:fillRect/>
            </a:stretch>
          </p:blipFill>
          <p:spPr>
            <a:xfrm>
              <a:off x="7666133" y="457633"/>
              <a:ext cx="3886510" cy="6077800"/>
            </a:xfrm>
            <a:prstGeom prst="rect">
              <a:avLst/>
            </a:prstGeom>
          </p:spPr>
        </p:pic>
        <p:sp>
          <p:nvSpPr>
            <p:cNvPr id="3" name="TextBox 2">
              <a:extLst>
                <a:ext uri="{FF2B5EF4-FFF2-40B4-BE49-F238E27FC236}">
                  <a16:creationId xmlns:a16="http://schemas.microsoft.com/office/drawing/2014/main" id="{84DE5A18-3836-61CB-6D08-9946C8438E95}"/>
                </a:ext>
              </a:extLst>
            </p:cNvPr>
            <p:cNvSpPr txBox="1"/>
            <p:nvPr/>
          </p:nvSpPr>
          <p:spPr>
            <a:xfrm>
              <a:off x="7814690" y="5088883"/>
              <a:ext cx="3611467" cy="1446550"/>
            </a:xfrm>
            <a:prstGeom prst="rect">
              <a:avLst/>
            </a:prstGeom>
            <a:solidFill>
              <a:schemeClr val="bg1">
                <a:alpha val="32000"/>
              </a:schemeClr>
            </a:solidFill>
          </p:spPr>
          <p:txBody>
            <a:bodyPr wrap="square" rtlCol="0">
              <a:spAutoFit/>
            </a:bodyPr>
            <a:lstStyle/>
            <a:p>
              <a:r>
                <a:rPr lang="en-US" sz="4400" b="1">
                  <a:solidFill>
                    <a:srgbClr val="FF0000"/>
                  </a:solidFill>
                </a:rPr>
                <a:t>Is this a good idea?</a:t>
              </a:r>
            </a:p>
          </p:txBody>
        </p:sp>
      </p:grpSp>
      <p:graphicFrame>
        <p:nvGraphicFramePr>
          <p:cNvPr id="8" name="Diagram 7">
            <a:extLst>
              <a:ext uri="{FF2B5EF4-FFF2-40B4-BE49-F238E27FC236}">
                <a16:creationId xmlns:a16="http://schemas.microsoft.com/office/drawing/2014/main" id="{6E076CF9-67E0-E680-3DFB-4626083075BE}"/>
              </a:ext>
            </a:extLst>
          </p:cNvPr>
          <p:cNvGraphicFramePr/>
          <p:nvPr>
            <p:extLst>
              <p:ext uri="{D42A27DB-BD31-4B8C-83A1-F6EECF244321}">
                <p14:modId xmlns:p14="http://schemas.microsoft.com/office/powerpoint/2010/main" val="3712616550"/>
              </p:ext>
            </p:extLst>
          </p:nvPr>
        </p:nvGraphicFramePr>
        <p:xfrm>
          <a:off x="129509" y="3100784"/>
          <a:ext cx="7410138" cy="32850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Graphic 8" descr="Scales of justice with solid fill">
            <a:extLst>
              <a:ext uri="{FF2B5EF4-FFF2-40B4-BE49-F238E27FC236}">
                <a16:creationId xmlns:a16="http://schemas.microsoft.com/office/drawing/2014/main" id="{90B3DC46-C040-80E3-FB16-8F4FFDECA2A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23715" y="104394"/>
            <a:ext cx="1371600" cy="1371600"/>
          </a:xfrm>
          <a:prstGeom prst="rect">
            <a:avLst/>
          </a:prstGeom>
        </p:spPr>
      </p:pic>
      <p:sp>
        <p:nvSpPr>
          <p:cNvPr id="11" name="Rectangle: Rounded Corners 10">
            <a:extLst>
              <a:ext uri="{FF2B5EF4-FFF2-40B4-BE49-F238E27FC236}">
                <a16:creationId xmlns:a16="http://schemas.microsoft.com/office/drawing/2014/main" id="{E3B423E8-01B0-CF3C-06F6-94CBEDA731BF}"/>
              </a:ext>
            </a:extLst>
          </p:cNvPr>
          <p:cNvSpPr/>
          <p:nvPr/>
        </p:nvSpPr>
        <p:spPr>
          <a:xfrm>
            <a:off x="616901" y="1815036"/>
            <a:ext cx="979887" cy="472966"/>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664E0F4-8BC2-A8F8-DC19-28D876DA7A27}"/>
              </a:ext>
            </a:extLst>
          </p:cNvPr>
          <p:cNvSpPr txBox="1"/>
          <p:nvPr/>
        </p:nvSpPr>
        <p:spPr>
          <a:xfrm>
            <a:off x="211540" y="2333480"/>
            <a:ext cx="1578124" cy="461665"/>
          </a:xfrm>
          <a:prstGeom prst="rect">
            <a:avLst/>
          </a:prstGeom>
          <a:noFill/>
          <a:ln>
            <a:noFill/>
          </a:ln>
        </p:spPr>
        <p:txBody>
          <a:bodyPr wrap="none" rtlCol="0">
            <a:spAutoFit/>
          </a:bodyPr>
          <a:lstStyle/>
          <a:p>
            <a:r>
              <a:rPr lang="en-US" sz="2400" b="1" dirty="0">
                <a:solidFill>
                  <a:srgbClr val="C00000"/>
                </a:solidFill>
              </a:rPr>
              <a:t>Ignorance</a:t>
            </a:r>
          </a:p>
        </p:txBody>
      </p:sp>
      <p:sp>
        <p:nvSpPr>
          <p:cNvPr id="19" name="TextBox 18">
            <a:extLst>
              <a:ext uri="{FF2B5EF4-FFF2-40B4-BE49-F238E27FC236}">
                <a16:creationId xmlns:a16="http://schemas.microsoft.com/office/drawing/2014/main" id="{6AEB358B-DED2-4858-2EB6-FF9ABAAE7AFB}"/>
              </a:ext>
            </a:extLst>
          </p:cNvPr>
          <p:cNvSpPr txBox="1"/>
          <p:nvPr/>
        </p:nvSpPr>
        <p:spPr>
          <a:xfrm>
            <a:off x="2795048" y="2339220"/>
            <a:ext cx="1830501" cy="461665"/>
          </a:xfrm>
          <a:prstGeom prst="rect">
            <a:avLst/>
          </a:prstGeom>
          <a:noFill/>
          <a:ln>
            <a:noFill/>
          </a:ln>
        </p:spPr>
        <p:txBody>
          <a:bodyPr wrap="none" rtlCol="0">
            <a:spAutoFit/>
          </a:bodyPr>
          <a:lstStyle/>
          <a:p>
            <a:r>
              <a:rPr lang="en-US" sz="2400" b="1" dirty="0">
                <a:solidFill>
                  <a:srgbClr val="C00000"/>
                </a:solidFill>
              </a:rPr>
              <a:t>Uncertainty</a:t>
            </a:r>
          </a:p>
        </p:txBody>
      </p:sp>
      <p:sp>
        <p:nvSpPr>
          <p:cNvPr id="21" name="TextBox 20">
            <a:extLst>
              <a:ext uri="{FF2B5EF4-FFF2-40B4-BE49-F238E27FC236}">
                <a16:creationId xmlns:a16="http://schemas.microsoft.com/office/drawing/2014/main" id="{CAFA5685-A724-0C42-C1B4-8EC0D82C294A}"/>
              </a:ext>
            </a:extLst>
          </p:cNvPr>
          <p:cNvSpPr txBox="1"/>
          <p:nvPr/>
        </p:nvSpPr>
        <p:spPr>
          <a:xfrm>
            <a:off x="5464884" y="2312212"/>
            <a:ext cx="3252345" cy="1200329"/>
          </a:xfrm>
          <a:prstGeom prst="rect">
            <a:avLst/>
          </a:prstGeom>
          <a:noFill/>
          <a:ln>
            <a:noFill/>
          </a:ln>
        </p:spPr>
        <p:txBody>
          <a:bodyPr wrap="square" rtlCol="0">
            <a:spAutoFit/>
          </a:bodyPr>
          <a:lstStyle/>
          <a:p>
            <a:r>
              <a:rPr lang="en-US" sz="2400" b="1">
                <a:solidFill>
                  <a:srgbClr val="C00000"/>
                </a:solidFill>
              </a:rPr>
              <a:t>Risk</a:t>
            </a:r>
          </a:p>
          <a:p>
            <a:r>
              <a:rPr lang="en-US" sz="2400" b="1">
                <a:solidFill>
                  <a:srgbClr val="C00000"/>
                </a:solidFill>
              </a:rPr>
              <a:t>= likelihood x</a:t>
            </a:r>
          </a:p>
          <a:p>
            <a:r>
              <a:rPr lang="en-US" sz="2400" b="1">
                <a:solidFill>
                  <a:srgbClr val="C00000"/>
                </a:solidFill>
              </a:rPr>
              <a:t>consequences</a:t>
            </a:r>
          </a:p>
        </p:txBody>
      </p:sp>
    </p:spTree>
    <p:extLst>
      <p:ext uri="{BB962C8B-B14F-4D97-AF65-F5344CB8AC3E}">
        <p14:creationId xmlns:p14="http://schemas.microsoft.com/office/powerpoint/2010/main" val="306716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C07274-95B5-6BE8-E68E-D5468F9904E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9189D94-B185-3DED-F347-1BEA782B2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D847F7-3A3D-D358-D009-A7E447D4819C}"/>
              </a:ext>
            </a:extLst>
          </p:cNvPr>
          <p:cNvSpPr>
            <a:spLocks noGrp="1"/>
          </p:cNvSpPr>
          <p:nvPr>
            <p:ph type="title"/>
          </p:nvPr>
        </p:nvSpPr>
        <p:spPr>
          <a:xfrm>
            <a:off x="457200" y="166242"/>
            <a:ext cx="5323715" cy="860222"/>
          </a:xfrm>
        </p:spPr>
        <p:txBody>
          <a:bodyPr vert="horz" lIns="91440" tIns="45720" rIns="91440" bIns="45720" rtlCol="0" anchor="b">
            <a:normAutofit/>
          </a:bodyPr>
          <a:lstStyle/>
          <a:p>
            <a:r>
              <a:rPr lang="en-US" sz="4000" kern="1200">
                <a:solidFill>
                  <a:schemeClr val="tx1"/>
                </a:solidFill>
                <a:latin typeface="+mj-lt"/>
                <a:ea typeface="+mj-ea"/>
                <a:cs typeface="+mj-cs"/>
              </a:rPr>
              <a:t>Prudential Wisdom</a:t>
            </a:r>
          </a:p>
        </p:txBody>
      </p:sp>
      <p:sp>
        <p:nvSpPr>
          <p:cNvPr id="4" name="Text Placeholder 3">
            <a:extLst>
              <a:ext uri="{FF2B5EF4-FFF2-40B4-BE49-F238E27FC236}">
                <a16:creationId xmlns:a16="http://schemas.microsoft.com/office/drawing/2014/main" id="{AE28C4FC-456B-9F65-7EF7-61C0261B1540}"/>
              </a:ext>
            </a:extLst>
          </p:cNvPr>
          <p:cNvSpPr>
            <a:spLocks noGrp="1"/>
          </p:cNvSpPr>
          <p:nvPr>
            <p:ph type="body" sz="half" idx="2"/>
          </p:nvPr>
        </p:nvSpPr>
        <p:spPr>
          <a:xfrm>
            <a:off x="746214" y="940611"/>
            <a:ext cx="2144243" cy="1371601"/>
          </a:xfrm>
        </p:spPr>
        <p:txBody>
          <a:bodyPr vert="horz" lIns="91440" tIns="45720" rIns="91440" bIns="45720" rtlCol="0" anchor="t">
            <a:normAutofit fontScale="92500" lnSpcReduction="20000"/>
          </a:bodyPr>
          <a:lstStyle/>
          <a:p>
            <a:pPr>
              <a:lnSpc>
                <a:spcPct val="110000"/>
              </a:lnSpc>
              <a:spcBef>
                <a:spcPts val="0"/>
              </a:spcBef>
            </a:pPr>
            <a:r>
              <a:rPr lang="en-US" sz="2400"/>
              <a:t>Cost/Benefit</a:t>
            </a:r>
          </a:p>
          <a:p>
            <a:pPr>
              <a:lnSpc>
                <a:spcPct val="110000"/>
              </a:lnSpc>
              <a:spcBef>
                <a:spcPts val="0"/>
              </a:spcBef>
            </a:pPr>
            <a:r>
              <a:rPr lang="en-US" sz="2400"/>
              <a:t>Constraints</a:t>
            </a:r>
          </a:p>
          <a:p>
            <a:pPr>
              <a:lnSpc>
                <a:spcPct val="110000"/>
              </a:lnSpc>
              <a:spcBef>
                <a:spcPts val="0"/>
              </a:spcBef>
              <a:defRPr/>
            </a:pPr>
            <a:r>
              <a:rPr lang="en-US" sz="2400"/>
              <a:t>Priorities</a:t>
            </a:r>
          </a:p>
          <a:p>
            <a:pPr>
              <a:lnSpc>
                <a:spcPct val="110000"/>
              </a:lnSpc>
              <a:spcBef>
                <a:spcPts val="0"/>
              </a:spcBef>
              <a:defRPr/>
            </a:pPr>
            <a:r>
              <a:rPr lang="en-US" sz="2400"/>
              <a:t>Risk</a:t>
            </a:r>
          </a:p>
        </p:txBody>
      </p:sp>
      <p:sp>
        <p:nvSpPr>
          <p:cNvPr id="12" name="Rectangle 11">
            <a:extLst>
              <a:ext uri="{FF2B5EF4-FFF2-40B4-BE49-F238E27FC236}">
                <a16:creationId xmlns:a16="http://schemas.microsoft.com/office/drawing/2014/main" id="{ED4C8A4B-7B2A-5312-7980-123B78B09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A0DB079-5E78-19C4-8B25-792AF1F10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D79DA78-08B5-B65D-8871-321D58E7B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B8D69C-F218-B50D-78E9-0B5A5C6C1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8D63B78-234C-C73E-A947-7EC8EB9CFAAB}"/>
              </a:ext>
            </a:extLst>
          </p:cNvPr>
          <p:cNvGrpSpPr/>
          <p:nvPr/>
        </p:nvGrpSpPr>
        <p:grpSpPr>
          <a:xfrm>
            <a:off x="7666133" y="457633"/>
            <a:ext cx="3886510" cy="6077800"/>
            <a:chOff x="7666133" y="457633"/>
            <a:chExt cx="3886510" cy="6077800"/>
          </a:xfrm>
        </p:grpSpPr>
        <p:pic>
          <p:nvPicPr>
            <p:cNvPr id="5" name="Picture 4" descr="My daughter is obsessed with chainsaws... : r/Chainsaw">
              <a:extLst>
                <a:ext uri="{FF2B5EF4-FFF2-40B4-BE49-F238E27FC236}">
                  <a16:creationId xmlns:a16="http://schemas.microsoft.com/office/drawing/2014/main" id="{77D0C696-CBA2-C7F6-8EE2-6ED91CCD6E34}"/>
                </a:ext>
              </a:extLst>
            </p:cNvPr>
            <p:cNvPicPr>
              <a:picLocks noChangeAspect="1"/>
            </p:cNvPicPr>
            <p:nvPr/>
          </p:nvPicPr>
          <p:blipFill>
            <a:blip r:embed="rId3"/>
            <a:srcRect l="5847" t="7841" r="15577"/>
            <a:stretch>
              <a:fillRect/>
            </a:stretch>
          </p:blipFill>
          <p:spPr>
            <a:xfrm>
              <a:off x="7666133" y="457633"/>
              <a:ext cx="3886510" cy="6077800"/>
            </a:xfrm>
            <a:prstGeom prst="rect">
              <a:avLst/>
            </a:prstGeom>
          </p:spPr>
        </p:pic>
        <p:sp>
          <p:nvSpPr>
            <p:cNvPr id="3" name="TextBox 2">
              <a:extLst>
                <a:ext uri="{FF2B5EF4-FFF2-40B4-BE49-F238E27FC236}">
                  <a16:creationId xmlns:a16="http://schemas.microsoft.com/office/drawing/2014/main" id="{47EF4EC2-B4D9-B0D5-64B4-DA39DA35AC34}"/>
                </a:ext>
              </a:extLst>
            </p:cNvPr>
            <p:cNvSpPr txBox="1"/>
            <p:nvPr/>
          </p:nvSpPr>
          <p:spPr>
            <a:xfrm>
              <a:off x="7814690" y="5088883"/>
              <a:ext cx="3611467" cy="1446550"/>
            </a:xfrm>
            <a:prstGeom prst="rect">
              <a:avLst/>
            </a:prstGeom>
            <a:solidFill>
              <a:schemeClr val="bg1">
                <a:alpha val="32000"/>
              </a:schemeClr>
            </a:solidFill>
          </p:spPr>
          <p:txBody>
            <a:bodyPr wrap="square" rtlCol="0">
              <a:spAutoFit/>
            </a:bodyPr>
            <a:lstStyle/>
            <a:p>
              <a:r>
                <a:rPr lang="en-US" sz="4400" b="1">
                  <a:solidFill>
                    <a:srgbClr val="FF0000"/>
                  </a:solidFill>
                </a:rPr>
                <a:t>Is this a good idea?</a:t>
              </a:r>
            </a:p>
          </p:txBody>
        </p:sp>
      </p:grpSp>
      <p:graphicFrame>
        <p:nvGraphicFramePr>
          <p:cNvPr id="8" name="Diagram 7">
            <a:extLst>
              <a:ext uri="{FF2B5EF4-FFF2-40B4-BE49-F238E27FC236}">
                <a16:creationId xmlns:a16="http://schemas.microsoft.com/office/drawing/2014/main" id="{E8900A58-FC00-3823-EBDD-BDEAC1F6BB6F}"/>
              </a:ext>
            </a:extLst>
          </p:cNvPr>
          <p:cNvGraphicFramePr/>
          <p:nvPr/>
        </p:nvGraphicFramePr>
        <p:xfrm>
          <a:off x="129509" y="3100784"/>
          <a:ext cx="7410138" cy="32850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Graphic 8" descr="Scales of justice with solid fill">
            <a:extLst>
              <a:ext uri="{FF2B5EF4-FFF2-40B4-BE49-F238E27FC236}">
                <a16:creationId xmlns:a16="http://schemas.microsoft.com/office/drawing/2014/main" id="{010B2FF1-3B84-D1EE-7864-F8B4725780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23715" y="104394"/>
            <a:ext cx="1371600" cy="1371600"/>
          </a:xfrm>
          <a:prstGeom prst="rect">
            <a:avLst/>
          </a:prstGeom>
        </p:spPr>
      </p:pic>
      <p:sp>
        <p:nvSpPr>
          <p:cNvPr id="11" name="Rectangle: Rounded Corners 10">
            <a:extLst>
              <a:ext uri="{FF2B5EF4-FFF2-40B4-BE49-F238E27FC236}">
                <a16:creationId xmlns:a16="http://schemas.microsoft.com/office/drawing/2014/main" id="{F87FCB4C-B627-F765-6F63-15418FCAC1CC}"/>
              </a:ext>
            </a:extLst>
          </p:cNvPr>
          <p:cNvSpPr/>
          <p:nvPr/>
        </p:nvSpPr>
        <p:spPr>
          <a:xfrm>
            <a:off x="616901" y="1815036"/>
            <a:ext cx="979887" cy="472966"/>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2127360-DE6D-850B-2259-004CF87FC34A}"/>
              </a:ext>
            </a:extLst>
          </p:cNvPr>
          <p:cNvSpPr txBox="1"/>
          <p:nvPr/>
        </p:nvSpPr>
        <p:spPr>
          <a:xfrm>
            <a:off x="211540" y="2333480"/>
            <a:ext cx="1578124" cy="461665"/>
          </a:xfrm>
          <a:prstGeom prst="rect">
            <a:avLst/>
          </a:prstGeom>
          <a:noFill/>
          <a:ln>
            <a:noFill/>
          </a:ln>
        </p:spPr>
        <p:txBody>
          <a:bodyPr wrap="none" rtlCol="0">
            <a:spAutoFit/>
          </a:bodyPr>
          <a:lstStyle/>
          <a:p>
            <a:r>
              <a:rPr lang="en-US" sz="2400" b="1" dirty="0">
                <a:solidFill>
                  <a:srgbClr val="C00000"/>
                </a:solidFill>
              </a:rPr>
              <a:t>Ignorance</a:t>
            </a:r>
          </a:p>
        </p:txBody>
      </p:sp>
      <p:sp>
        <p:nvSpPr>
          <p:cNvPr id="19" name="TextBox 18">
            <a:extLst>
              <a:ext uri="{FF2B5EF4-FFF2-40B4-BE49-F238E27FC236}">
                <a16:creationId xmlns:a16="http://schemas.microsoft.com/office/drawing/2014/main" id="{20B7B1A7-373A-3572-823A-7640DDA90474}"/>
              </a:ext>
            </a:extLst>
          </p:cNvPr>
          <p:cNvSpPr txBox="1"/>
          <p:nvPr/>
        </p:nvSpPr>
        <p:spPr>
          <a:xfrm>
            <a:off x="2795048" y="2339220"/>
            <a:ext cx="1830501" cy="461665"/>
          </a:xfrm>
          <a:prstGeom prst="rect">
            <a:avLst/>
          </a:prstGeom>
          <a:noFill/>
          <a:ln>
            <a:noFill/>
          </a:ln>
        </p:spPr>
        <p:txBody>
          <a:bodyPr wrap="none" rtlCol="0">
            <a:spAutoFit/>
          </a:bodyPr>
          <a:lstStyle/>
          <a:p>
            <a:r>
              <a:rPr lang="en-US" sz="2400" b="1" dirty="0">
                <a:solidFill>
                  <a:srgbClr val="C00000"/>
                </a:solidFill>
              </a:rPr>
              <a:t>Uncertainty</a:t>
            </a:r>
          </a:p>
        </p:txBody>
      </p:sp>
      <p:sp>
        <p:nvSpPr>
          <p:cNvPr id="21" name="TextBox 20">
            <a:extLst>
              <a:ext uri="{FF2B5EF4-FFF2-40B4-BE49-F238E27FC236}">
                <a16:creationId xmlns:a16="http://schemas.microsoft.com/office/drawing/2014/main" id="{87454384-B091-D82F-4147-1AF5CC744D8F}"/>
              </a:ext>
            </a:extLst>
          </p:cNvPr>
          <p:cNvSpPr txBox="1"/>
          <p:nvPr/>
        </p:nvSpPr>
        <p:spPr>
          <a:xfrm>
            <a:off x="5464884" y="2312212"/>
            <a:ext cx="3252345" cy="1200329"/>
          </a:xfrm>
          <a:prstGeom prst="rect">
            <a:avLst/>
          </a:prstGeom>
          <a:noFill/>
          <a:ln>
            <a:noFill/>
          </a:ln>
        </p:spPr>
        <p:txBody>
          <a:bodyPr wrap="square" rtlCol="0">
            <a:spAutoFit/>
          </a:bodyPr>
          <a:lstStyle/>
          <a:p>
            <a:r>
              <a:rPr lang="en-US" sz="2400" b="1">
                <a:solidFill>
                  <a:srgbClr val="C00000"/>
                </a:solidFill>
              </a:rPr>
              <a:t>Risk</a:t>
            </a:r>
          </a:p>
          <a:p>
            <a:r>
              <a:rPr lang="en-US" sz="2400" b="1">
                <a:solidFill>
                  <a:srgbClr val="C00000"/>
                </a:solidFill>
              </a:rPr>
              <a:t>= likelihood x</a:t>
            </a:r>
          </a:p>
          <a:p>
            <a:r>
              <a:rPr lang="en-US" sz="2400" b="1">
                <a:solidFill>
                  <a:srgbClr val="C00000"/>
                </a:solidFill>
              </a:rPr>
              <a:t>consequences</a:t>
            </a:r>
          </a:p>
        </p:txBody>
      </p:sp>
      <p:cxnSp>
        <p:nvCxnSpPr>
          <p:cNvPr id="15" name="Straight Arrow Connector 14">
            <a:extLst>
              <a:ext uri="{FF2B5EF4-FFF2-40B4-BE49-F238E27FC236}">
                <a16:creationId xmlns:a16="http://schemas.microsoft.com/office/drawing/2014/main" id="{BCF6476E-5B52-7E76-BA07-2B7BE8C1A954}"/>
              </a:ext>
            </a:extLst>
          </p:cNvPr>
          <p:cNvCxnSpPr/>
          <p:nvPr/>
        </p:nvCxnSpPr>
        <p:spPr>
          <a:xfrm>
            <a:off x="1106844" y="2912376"/>
            <a:ext cx="0" cy="1291134"/>
          </a:xfrm>
          <a:prstGeom prst="straightConnector1">
            <a:avLst/>
          </a:prstGeom>
          <a:ln w="101600">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70379650-15B2-740C-BF7A-DC7F14554181}"/>
              </a:ext>
            </a:extLst>
          </p:cNvPr>
          <p:cNvPicPr>
            <a:picLocks noChangeAspect="1"/>
          </p:cNvPicPr>
          <p:nvPr/>
        </p:nvPicPr>
        <p:blipFill>
          <a:blip r:embed="rId10"/>
          <a:srcRect l="35889" r="15107"/>
          <a:stretch>
            <a:fillRect/>
          </a:stretch>
        </p:blipFill>
        <p:spPr>
          <a:xfrm>
            <a:off x="1240523" y="3619227"/>
            <a:ext cx="1440894" cy="1565019"/>
          </a:xfrm>
          <a:prstGeom prst="rect">
            <a:avLst/>
          </a:prstGeom>
        </p:spPr>
      </p:pic>
    </p:spTree>
    <p:extLst>
      <p:ext uri="{BB962C8B-B14F-4D97-AF65-F5344CB8AC3E}">
        <p14:creationId xmlns:p14="http://schemas.microsoft.com/office/powerpoint/2010/main" val="1717292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EC8FEB-8EA9-62E9-AAAD-FFE5FFDC0F1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AD7201-2BCA-AFBA-BCB4-6600B97EC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E7B543-268B-CB9E-8CE3-4359283F977A}"/>
              </a:ext>
            </a:extLst>
          </p:cNvPr>
          <p:cNvSpPr>
            <a:spLocks noGrp="1"/>
          </p:cNvSpPr>
          <p:nvPr>
            <p:ph type="title"/>
          </p:nvPr>
        </p:nvSpPr>
        <p:spPr>
          <a:xfrm>
            <a:off x="457200" y="166242"/>
            <a:ext cx="5323715" cy="860222"/>
          </a:xfrm>
        </p:spPr>
        <p:txBody>
          <a:bodyPr vert="horz" lIns="91440" tIns="45720" rIns="91440" bIns="45720" rtlCol="0" anchor="b">
            <a:normAutofit/>
          </a:bodyPr>
          <a:lstStyle/>
          <a:p>
            <a:r>
              <a:rPr lang="en-US" sz="4000" kern="1200">
                <a:solidFill>
                  <a:schemeClr val="tx1"/>
                </a:solidFill>
                <a:latin typeface="+mj-lt"/>
                <a:ea typeface="+mj-ea"/>
                <a:cs typeface="+mj-cs"/>
              </a:rPr>
              <a:t>Prudential Wisdom</a:t>
            </a:r>
          </a:p>
        </p:txBody>
      </p:sp>
      <p:sp>
        <p:nvSpPr>
          <p:cNvPr id="4" name="Text Placeholder 3">
            <a:extLst>
              <a:ext uri="{FF2B5EF4-FFF2-40B4-BE49-F238E27FC236}">
                <a16:creationId xmlns:a16="http://schemas.microsoft.com/office/drawing/2014/main" id="{742E87B6-354F-AB62-2391-6B671657AF06}"/>
              </a:ext>
            </a:extLst>
          </p:cNvPr>
          <p:cNvSpPr>
            <a:spLocks noGrp="1"/>
          </p:cNvSpPr>
          <p:nvPr>
            <p:ph type="body" sz="half" idx="2"/>
          </p:nvPr>
        </p:nvSpPr>
        <p:spPr>
          <a:xfrm>
            <a:off x="746214" y="940611"/>
            <a:ext cx="2144243" cy="1371601"/>
          </a:xfrm>
        </p:spPr>
        <p:txBody>
          <a:bodyPr vert="horz" lIns="91440" tIns="45720" rIns="91440" bIns="45720" rtlCol="0" anchor="t">
            <a:normAutofit fontScale="92500" lnSpcReduction="20000"/>
          </a:bodyPr>
          <a:lstStyle/>
          <a:p>
            <a:pPr>
              <a:lnSpc>
                <a:spcPct val="110000"/>
              </a:lnSpc>
              <a:spcBef>
                <a:spcPts val="0"/>
              </a:spcBef>
            </a:pPr>
            <a:r>
              <a:rPr lang="en-US" sz="2400"/>
              <a:t>Cost/Benefit</a:t>
            </a:r>
          </a:p>
          <a:p>
            <a:pPr>
              <a:lnSpc>
                <a:spcPct val="110000"/>
              </a:lnSpc>
              <a:spcBef>
                <a:spcPts val="0"/>
              </a:spcBef>
            </a:pPr>
            <a:r>
              <a:rPr lang="en-US" sz="2400"/>
              <a:t>Constraints</a:t>
            </a:r>
          </a:p>
          <a:p>
            <a:pPr>
              <a:lnSpc>
                <a:spcPct val="110000"/>
              </a:lnSpc>
              <a:spcBef>
                <a:spcPts val="0"/>
              </a:spcBef>
              <a:defRPr/>
            </a:pPr>
            <a:r>
              <a:rPr lang="en-US" sz="2400"/>
              <a:t>Priorities</a:t>
            </a:r>
          </a:p>
          <a:p>
            <a:pPr>
              <a:lnSpc>
                <a:spcPct val="110000"/>
              </a:lnSpc>
              <a:spcBef>
                <a:spcPts val="0"/>
              </a:spcBef>
              <a:defRPr/>
            </a:pPr>
            <a:r>
              <a:rPr lang="en-US" sz="2400"/>
              <a:t>Risk</a:t>
            </a:r>
          </a:p>
        </p:txBody>
      </p:sp>
      <p:sp>
        <p:nvSpPr>
          <p:cNvPr id="12" name="Rectangle 11">
            <a:extLst>
              <a:ext uri="{FF2B5EF4-FFF2-40B4-BE49-F238E27FC236}">
                <a16:creationId xmlns:a16="http://schemas.microsoft.com/office/drawing/2014/main" id="{22145D04-2F43-E258-7302-4313E1EE8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554DD13-78A8-D80C-AC01-905812311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AB684A6-8B20-2AFF-D10B-660003A91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08364C-A245-D7C0-AB7B-6C9BD2F9D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BF06C2B9-2DF4-25A5-3B22-3F9823C858D9}"/>
              </a:ext>
            </a:extLst>
          </p:cNvPr>
          <p:cNvGrpSpPr/>
          <p:nvPr/>
        </p:nvGrpSpPr>
        <p:grpSpPr>
          <a:xfrm>
            <a:off x="7666133" y="457633"/>
            <a:ext cx="3886510" cy="6077800"/>
            <a:chOff x="7666133" y="457633"/>
            <a:chExt cx="3886510" cy="6077800"/>
          </a:xfrm>
        </p:grpSpPr>
        <p:pic>
          <p:nvPicPr>
            <p:cNvPr id="5" name="Picture 4" descr="My daughter is obsessed with chainsaws... : r/Chainsaw">
              <a:extLst>
                <a:ext uri="{FF2B5EF4-FFF2-40B4-BE49-F238E27FC236}">
                  <a16:creationId xmlns:a16="http://schemas.microsoft.com/office/drawing/2014/main" id="{E754065E-C639-BE98-F88C-00513359522E}"/>
                </a:ext>
              </a:extLst>
            </p:cNvPr>
            <p:cNvPicPr>
              <a:picLocks noChangeAspect="1"/>
            </p:cNvPicPr>
            <p:nvPr/>
          </p:nvPicPr>
          <p:blipFill>
            <a:blip r:embed="rId3"/>
            <a:srcRect l="5847" t="7841" r="15577"/>
            <a:stretch>
              <a:fillRect/>
            </a:stretch>
          </p:blipFill>
          <p:spPr>
            <a:xfrm>
              <a:off x="7666133" y="457633"/>
              <a:ext cx="3886510" cy="6077800"/>
            </a:xfrm>
            <a:prstGeom prst="rect">
              <a:avLst/>
            </a:prstGeom>
          </p:spPr>
        </p:pic>
        <p:sp>
          <p:nvSpPr>
            <p:cNvPr id="3" name="TextBox 2">
              <a:extLst>
                <a:ext uri="{FF2B5EF4-FFF2-40B4-BE49-F238E27FC236}">
                  <a16:creationId xmlns:a16="http://schemas.microsoft.com/office/drawing/2014/main" id="{9FEDF4C9-A79F-DA7D-98F2-A1BD16963E20}"/>
                </a:ext>
              </a:extLst>
            </p:cNvPr>
            <p:cNvSpPr txBox="1"/>
            <p:nvPr/>
          </p:nvSpPr>
          <p:spPr>
            <a:xfrm>
              <a:off x="7814690" y="5088883"/>
              <a:ext cx="3611467" cy="1446550"/>
            </a:xfrm>
            <a:prstGeom prst="rect">
              <a:avLst/>
            </a:prstGeom>
            <a:solidFill>
              <a:schemeClr val="bg1">
                <a:alpha val="32000"/>
              </a:schemeClr>
            </a:solidFill>
          </p:spPr>
          <p:txBody>
            <a:bodyPr wrap="square" rtlCol="0">
              <a:spAutoFit/>
            </a:bodyPr>
            <a:lstStyle/>
            <a:p>
              <a:r>
                <a:rPr lang="en-US" sz="4400" b="1">
                  <a:solidFill>
                    <a:srgbClr val="FF0000"/>
                  </a:solidFill>
                </a:rPr>
                <a:t>Is this a good idea?</a:t>
              </a:r>
            </a:p>
          </p:txBody>
        </p:sp>
      </p:grpSp>
      <p:graphicFrame>
        <p:nvGraphicFramePr>
          <p:cNvPr id="8" name="Diagram 7">
            <a:extLst>
              <a:ext uri="{FF2B5EF4-FFF2-40B4-BE49-F238E27FC236}">
                <a16:creationId xmlns:a16="http://schemas.microsoft.com/office/drawing/2014/main" id="{CABBC8D0-20EE-B153-6740-5AA9F47E448D}"/>
              </a:ext>
            </a:extLst>
          </p:cNvPr>
          <p:cNvGraphicFramePr/>
          <p:nvPr/>
        </p:nvGraphicFramePr>
        <p:xfrm>
          <a:off x="129509" y="3100784"/>
          <a:ext cx="7410138" cy="32850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Graphic 8" descr="Scales of justice with solid fill">
            <a:extLst>
              <a:ext uri="{FF2B5EF4-FFF2-40B4-BE49-F238E27FC236}">
                <a16:creationId xmlns:a16="http://schemas.microsoft.com/office/drawing/2014/main" id="{1C6A0391-D1A4-60FC-28A5-CF6678F0113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23715" y="104394"/>
            <a:ext cx="1371600" cy="1371600"/>
          </a:xfrm>
          <a:prstGeom prst="rect">
            <a:avLst/>
          </a:prstGeom>
        </p:spPr>
      </p:pic>
      <p:sp>
        <p:nvSpPr>
          <p:cNvPr id="11" name="Rectangle: Rounded Corners 10">
            <a:extLst>
              <a:ext uri="{FF2B5EF4-FFF2-40B4-BE49-F238E27FC236}">
                <a16:creationId xmlns:a16="http://schemas.microsoft.com/office/drawing/2014/main" id="{D2FE5243-CA2D-BFEB-87B5-E11B61EDDAAF}"/>
              </a:ext>
            </a:extLst>
          </p:cNvPr>
          <p:cNvSpPr/>
          <p:nvPr/>
        </p:nvSpPr>
        <p:spPr>
          <a:xfrm>
            <a:off x="616901" y="1815036"/>
            <a:ext cx="979887" cy="472966"/>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A782D3E-34A4-7EF1-AE9E-D8A0C794CDC0}"/>
              </a:ext>
            </a:extLst>
          </p:cNvPr>
          <p:cNvSpPr txBox="1"/>
          <p:nvPr/>
        </p:nvSpPr>
        <p:spPr>
          <a:xfrm>
            <a:off x="211540" y="2333480"/>
            <a:ext cx="1578124" cy="461665"/>
          </a:xfrm>
          <a:prstGeom prst="rect">
            <a:avLst/>
          </a:prstGeom>
          <a:noFill/>
          <a:ln>
            <a:noFill/>
          </a:ln>
        </p:spPr>
        <p:txBody>
          <a:bodyPr wrap="none" rtlCol="0">
            <a:spAutoFit/>
          </a:bodyPr>
          <a:lstStyle/>
          <a:p>
            <a:r>
              <a:rPr lang="en-US" sz="2400" b="1" dirty="0">
                <a:solidFill>
                  <a:srgbClr val="C00000"/>
                </a:solidFill>
              </a:rPr>
              <a:t>Ignorance</a:t>
            </a:r>
          </a:p>
        </p:txBody>
      </p:sp>
      <p:sp>
        <p:nvSpPr>
          <p:cNvPr id="19" name="TextBox 18">
            <a:extLst>
              <a:ext uri="{FF2B5EF4-FFF2-40B4-BE49-F238E27FC236}">
                <a16:creationId xmlns:a16="http://schemas.microsoft.com/office/drawing/2014/main" id="{0E754C33-93AD-3E29-5A09-02527CA04EAD}"/>
              </a:ext>
            </a:extLst>
          </p:cNvPr>
          <p:cNvSpPr txBox="1"/>
          <p:nvPr/>
        </p:nvSpPr>
        <p:spPr>
          <a:xfrm>
            <a:off x="2795048" y="2339220"/>
            <a:ext cx="1830501" cy="461665"/>
          </a:xfrm>
          <a:prstGeom prst="rect">
            <a:avLst/>
          </a:prstGeom>
          <a:noFill/>
          <a:ln>
            <a:noFill/>
          </a:ln>
        </p:spPr>
        <p:txBody>
          <a:bodyPr wrap="none" rtlCol="0">
            <a:spAutoFit/>
          </a:bodyPr>
          <a:lstStyle/>
          <a:p>
            <a:r>
              <a:rPr lang="en-US" sz="2400" b="1" dirty="0">
                <a:solidFill>
                  <a:srgbClr val="C00000"/>
                </a:solidFill>
              </a:rPr>
              <a:t>Uncertainty</a:t>
            </a:r>
          </a:p>
        </p:txBody>
      </p:sp>
      <p:sp>
        <p:nvSpPr>
          <p:cNvPr id="21" name="TextBox 20">
            <a:extLst>
              <a:ext uri="{FF2B5EF4-FFF2-40B4-BE49-F238E27FC236}">
                <a16:creationId xmlns:a16="http://schemas.microsoft.com/office/drawing/2014/main" id="{4A61FA66-271B-F508-ECBF-0989F1253C48}"/>
              </a:ext>
            </a:extLst>
          </p:cNvPr>
          <p:cNvSpPr txBox="1"/>
          <p:nvPr/>
        </p:nvSpPr>
        <p:spPr>
          <a:xfrm>
            <a:off x="5464884" y="2312212"/>
            <a:ext cx="3252345" cy="1200329"/>
          </a:xfrm>
          <a:prstGeom prst="rect">
            <a:avLst/>
          </a:prstGeom>
          <a:noFill/>
          <a:ln>
            <a:noFill/>
          </a:ln>
        </p:spPr>
        <p:txBody>
          <a:bodyPr wrap="square" rtlCol="0">
            <a:spAutoFit/>
          </a:bodyPr>
          <a:lstStyle/>
          <a:p>
            <a:r>
              <a:rPr lang="en-US" sz="2400" b="1">
                <a:solidFill>
                  <a:srgbClr val="C00000"/>
                </a:solidFill>
              </a:rPr>
              <a:t>Risk</a:t>
            </a:r>
          </a:p>
          <a:p>
            <a:r>
              <a:rPr lang="en-US" sz="2400" b="1">
                <a:solidFill>
                  <a:srgbClr val="C00000"/>
                </a:solidFill>
              </a:rPr>
              <a:t>= likelihood x</a:t>
            </a:r>
          </a:p>
          <a:p>
            <a:r>
              <a:rPr lang="en-US" sz="2400" b="1">
                <a:solidFill>
                  <a:srgbClr val="C00000"/>
                </a:solidFill>
              </a:rPr>
              <a:t>consequences</a:t>
            </a:r>
          </a:p>
        </p:txBody>
      </p:sp>
      <p:cxnSp>
        <p:nvCxnSpPr>
          <p:cNvPr id="15" name="Straight Arrow Connector 14">
            <a:extLst>
              <a:ext uri="{FF2B5EF4-FFF2-40B4-BE49-F238E27FC236}">
                <a16:creationId xmlns:a16="http://schemas.microsoft.com/office/drawing/2014/main" id="{86470152-7EB4-6565-5847-B64B8093EDCD}"/>
              </a:ext>
            </a:extLst>
          </p:cNvPr>
          <p:cNvCxnSpPr/>
          <p:nvPr/>
        </p:nvCxnSpPr>
        <p:spPr>
          <a:xfrm>
            <a:off x="1106844" y="2912376"/>
            <a:ext cx="0" cy="1291134"/>
          </a:xfrm>
          <a:prstGeom prst="straightConnector1">
            <a:avLst/>
          </a:prstGeom>
          <a:ln w="1016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C891B23-2F7E-E99D-3011-2C1256DAD8AB}"/>
              </a:ext>
            </a:extLst>
          </p:cNvPr>
          <p:cNvCxnSpPr/>
          <p:nvPr/>
        </p:nvCxnSpPr>
        <p:spPr>
          <a:xfrm>
            <a:off x="3834578" y="2866974"/>
            <a:ext cx="0" cy="1291134"/>
          </a:xfrm>
          <a:prstGeom prst="straightConnector1">
            <a:avLst/>
          </a:prstGeom>
          <a:ln w="101600">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647954AF-BAB2-6512-490B-76910A1B6D15}"/>
              </a:ext>
            </a:extLst>
          </p:cNvPr>
          <p:cNvPicPr>
            <a:picLocks noChangeAspect="1"/>
          </p:cNvPicPr>
          <p:nvPr/>
        </p:nvPicPr>
        <p:blipFill>
          <a:blip r:embed="rId10"/>
          <a:srcRect l="35889" r="15107"/>
          <a:stretch>
            <a:fillRect/>
          </a:stretch>
        </p:blipFill>
        <p:spPr>
          <a:xfrm>
            <a:off x="1240523" y="3619227"/>
            <a:ext cx="1440894" cy="1565019"/>
          </a:xfrm>
          <a:prstGeom prst="rect">
            <a:avLst/>
          </a:prstGeom>
        </p:spPr>
      </p:pic>
      <p:pic>
        <p:nvPicPr>
          <p:cNvPr id="23" name="Picture 22" descr="Graph on document with pen">
            <a:extLst>
              <a:ext uri="{FF2B5EF4-FFF2-40B4-BE49-F238E27FC236}">
                <a16:creationId xmlns:a16="http://schemas.microsoft.com/office/drawing/2014/main" id="{9F072AE7-B8B0-8522-85AD-FEB359B21BE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83136" y="3619227"/>
            <a:ext cx="1452931" cy="1552667"/>
          </a:xfrm>
          <a:prstGeom prst="rect">
            <a:avLst/>
          </a:prstGeom>
        </p:spPr>
      </p:pic>
    </p:spTree>
    <p:extLst>
      <p:ext uri="{BB962C8B-B14F-4D97-AF65-F5344CB8AC3E}">
        <p14:creationId xmlns:p14="http://schemas.microsoft.com/office/powerpoint/2010/main" val="164725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352FC5-DC7B-4D65-2B06-D24B671CE68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FEC8CF-D145-00F3-BF3B-12BCE3245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34F9F-05B1-08AF-BFDB-F491C910C705}"/>
              </a:ext>
            </a:extLst>
          </p:cNvPr>
          <p:cNvSpPr>
            <a:spLocks noGrp="1"/>
          </p:cNvSpPr>
          <p:nvPr>
            <p:ph type="title"/>
          </p:nvPr>
        </p:nvSpPr>
        <p:spPr>
          <a:xfrm>
            <a:off x="457200" y="166242"/>
            <a:ext cx="5323715" cy="860222"/>
          </a:xfrm>
        </p:spPr>
        <p:txBody>
          <a:bodyPr vert="horz" lIns="91440" tIns="45720" rIns="91440" bIns="45720" rtlCol="0" anchor="b">
            <a:normAutofit/>
          </a:bodyPr>
          <a:lstStyle/>
          <a:p>
            <a:r>
              <a:rPr lang="en-US" sz="4000" kern="1200">
                <a:solidFill>
                  <a:schemeClr val="tx1"/>
                </a:solidFill>
                <a:latin typeface="+mj-lt"/>
                <a:ea typeface="+mj-ea"/>
                <a:cs typeface="+mj-cs"/>
              </a:rPr>
              <a:t>Prudential Wisdom</a:t>
            </a:r>
          </a:p>
        </p:txBody>
      </p:sp>
      <p:sp>
        <p:nvSpPr>
          <p:cNvPr id="4" name="Text Placeholder 3">
            <a:extLst>
              <a:ext uri="{FF2B5EF4-FFF2-40B4-BE49-F238E27FC236}">
                <a16:creationId xmlns:a16="http://schemas.microsoft.com/office/drawing/2014/main" id="{C7FD21F5-8318-6008-4181-B3FB3241E5FA}"/>
              </a:ext>
            </a:extLst>
          </p:cNvPr>
          <p:cNvSpPr>
            <a:spLocks noGrp="1"/>
          </p:cNvSpPr>
          <p:nvPr>
            <p:ph type="body" sz="half" idx="2"/>
          </p:nvPr>
        </p:nvSpPr>
        <p:spPr>
          <a:xfrm>
            <a:off x="746214" y="940611"/>
            <a:ext cx="2144243" cy="1371601"/>
          </a:xfrm>
        </p:spPr>
        <p:txBody>
          <a:bodyPr vert="horz" lIns="91440" tIns="45720" rIns="91440" bIns="45720" rtlCol="0" anchor="t">
            <a:normAutofit fontScale="92500" lnSpcReduction="20000"/>
          </a:bodyPr>
          <a:lstStyle/>
          <a:p>
            <a:pPr>
              <a:lnSpc>
                <a:spcPct val="110000"/>
              </a:lnSpc>
              <a:spcBef>
                <a:spcPts val="0"/>
              </a:spcBef>
            </a:pPr>
            <a:r>
              <a:rPr lang="en-US" sz="2400" dirty="0"/>
              <a:t>Cost/Benefit</a:t>
            </a:r>
          </a:p>
          <a:p>
            <a:pPr>
              <a:lnSpc>
                <a:spcPct val="110000"/>
              </a:lnSpc>
              <a:spcBef>
                <a:spcPts val="0"/>
              </a:spcBef>
            </a:pPr>
            <a:r>
              <a:rPr lang="en-US" sz="2400" dirty="0"/>
              <a:t>Constraints</a:t>
            </a:r>
          </a:p>
          <a:p>
            <a:pPr>
              <a:lnSpc>
                <a:spcPct val="110000"/>
              </a:lnSpc>
              <a:spcBef>
                <a:spcPts val="0"/>
              </a:spcBef>
              <a:defRPr/>
            </a:pPr>
            <a:r>
              <a:rPr lang="en-US" sz="2400" dirty="0"/>
              <a:t>Priorities</a:t>
            </a:r>
          </a:p>
          <a:p>
            <a:pPr>
              <a:lnSpc>
                <a:spcPct val="110000"/>
              </a:lnSpc>
              <a:spcBef>
                <a:spcPts val="0"/>
              </a:spcBef>
              <a:defRPr/>
            </a:pPr>
            <a:r>
              <a:rPr lang="en-US" sz="2400" dirty="0"/>
              <a:t>Risk</a:t>
            </a:r>
          </a:p>
        </p:txBody>
      </p:sp>
      <p:sp>
        <p:nvSpPr>
          <p:cNvPr id="12" name="Rectangle 11">
            <a:extLst>
              <a:ext uri="{FF2B5EF4-FFF2-40B4-BE49-F238E27FC236}">
                <a16:creationId xmlns:a16="http://schemas.microsoft.com/office/drawing/2014/main" id="{B203BAEE-81E2-6D5D-27D6-D9B40FBC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4FF93A-AF43-5C0D-9F7B-40F41D781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348E185-5BDC-36D0-E6F8-17F189DE60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20BF638-F5AA-CEF4-3D5C-E764FEAB1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5D461A41-CBB5-75A7-2694-1D826467E129}"/>
              </a:ext>
            </a:extLst>
          </p:cNvPr>
          <p:cNvGrpSpPr/>
          <p:nvPr/>
        </p:nvGrpSpPr>
        <p:grpSpPr>
          <a:xfrm>
            <a:off x="7666133" y="457633"/>
            <a:ext cx="3886510" cy="6077800"/>
            <a:chOff x="7666133" y="457633"/>
            <a:chExt cx="3886510" cy="6077800"/>
          </a:xfrm>
        </p:grpSpPr>
        <p:pic>
          <p:nvPicPr>
            <p:cNvPr id="5" name="Picture 4" descr="My daughter is obsessed with chainsaws... : r/Chainsaw">
              <a:extLst>
                <a:ext uri="{FF2B5EF4-FFF2-40B4-BE49-F238E27FC236}">
                  <a16:creationId xmlns:a16="http://schemas.microsoft.com/office/drawing/2014/main" id="{600F6E09-4FFD-CC06-F8BD-C64853785DC0}"/>
                </a:ext>
              </a:extLst>
            </p:cNvPr>
            <p:cNvPicPr>
              <a:picLocks noChangeAspect="1"/>
            </p:cNvPicPr>
            <p:nvPr/>
          </p:nvPicPr>
          <p:blipFill>
            <a:blip r:embed="rId3"/>
            <a:srcRect l="5847" t="7841" r="15577"/>
            <a:stretch>
              <a:fillRect/>
            </a:stretch>
          </p:blipFill>
          <p:spPr>
            <a:xfrm>
              <a:off x="7666133" y="457633"/>
              <a:ext cx="3886510" cy="6077800"/>
            </a:xfrm>
            <a:prstGeom prst="rect">
              <a:avLst/>
            </a:prstGeom>
          </p:spPr>
        </p:pic>
        <p:sp>
          <p:nvSpPr>
            <p:cNvPr id="3" name="TextBox 2">
              <a:extLst>
                <a:ext uri="{FF2B5EF4-FFF2-40B4-BE49-F238E27FC236}">
                  <a16:creationId xmlns:a16="http://schemas.microsoft.com/office/drawing/2014/main" id="{C7FBC889-6DF4-0DC5-F20A-28AC51F9FDB9}"/>
                </a:ext>
              </a:extLst>
            </p:cNvPr>
            <p:cNvSpPr txBox="1"/>
            <p:nvPr/>
          </p:nvSpPr>
          <p:spPr>
            <a:xfrm>
              <a:off x="7814690" y="5088883"/>
              <a:ext cx="3611467" cy="1446550"/>
            </a:xfrm>
            <a:prstGeom prst="rect">
              <a:avLst/>
            </a:prstGeom>
            <a:solidFill>
              <a:schemeClr val="bg1">
                <a:alpha val="32000"/>
              </a:schemeClr>
            </a:solidFill>
          </p:spPr>
          <p:txBody>
            <a:bodyPr wrap="square" rtlCol="0">
              <a:spAutoFit/>
            </a:bodyPr>
            <a:lstStyle/>
            <a:p>
              <a:r>
                <a:rPr lang="en-US" sz="4400" b="1">
                  <a:solidFill>
                    <a:srgbClr val="FF0000"/>
                  </a:solidFill>
                </a:rPr>
                <a:t>Is this a good idea?</a:t>
              </a:r>
            </a:p>
          </p:txBody>
        </p:sp>
      </p:grpSp>
      <p:graphicFrame>
        <p:nvGraphicFramePr>
          <p:cNvPr id="8" name="Diagram 7">
            <a:extLst>
              <a:ext uri="{FF2B5EF4-FFF2-40B4-BE49-F238E27FC236}">
                <a16:creationId xmlns:a16="http://schemas.microsoft.com/office/drawing/2014/main" id="{75A67A4B-AEDB-AE5B-E519-383C12EC38A0}"/>
              </a:ext>
            </a:extLst>
          </p:cNvPr>
          <p:cNvGraphicFramePr/>
          <p:nvPr/>
        </p:nvGraphicFramePr>
        <p:xfrm>
          <a:off x="129509" y="3100784"/>
          <a:ext cx="7410138" cy="32850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Graphic 8" descr="Scales of justice with solid fill">
            <a:extLst>
              <a:ext uri="{FF2B5EF4-FFF2-40B4-BE49-F238E27FC236}">
                <a16:creationId xmlns:a16="http://schemas.microsoft.com/office/drawing/2014/main" id="{40B0293E-226B-88F6-CCFF-E667620AB9D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23715" y="104394"/>
            <a:ext cx="1371600" cy="1371600"/>
          </a:xfrm>
          <a:prstGeom prst="rect">
            <a:avLst/>
          </a:prstGeom>
        </p:spPr>
      </p:pic>
      <p:sp>
        <p:nvSpPr>
          <p:cNvPr id="11" name="Rectangle: Rounded Corners 10">
            <a:extLst>
              <a:ext uri="{FF2B5EF4-FFF2-40B4-BE49-F238E27FC236}">
                <a16:creationId xmlns:a16="http://schemas.microsoft.com/office/drawing/2014/main" id="{CF4C094E-6F10-BFC2-A211-80A7714FDD0E}"/>
              </a:ext>
            </a:extLst>
          </p:cNvPr>
          <p:cNvSpPr/>
          <p:nvPr/>
        </p:nvSpPr>
        <p:spPr>
          <a:xfrm>
            <a:off x="616901" y="1815036"/>
            <a:ext cx="979887" cy="472966"/>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8457A8F-D161-5062-8ADD-1D7A07A1AEFA}"/>
              </a:ext>
            </a:extLst>
          </p:cNvPr>
          <p:cNvSpPr txBox="1"/>
          <p:nvPr/>
        </p:nvSpPr>
        <p:spPr>
          <a:xfrm>
            <a:off x="211540" y="2333480"/>
            <a:ext cx="1578124" cy="461665"/>
          </a:xfrm>
          <a:prstGeom prst="rect">
            <a:avLst/>
          </a:prstGeom>
          <a:noFill/>
          <a:ln>
            <a:noFill/>
          </a:ln>
        </p:spPr>
        <p:txBody>
          <a:bodyPr wrap="none" rtlCol="0">
            <a:spAutoFit/>
          </a:bodyPr>
          <a:lstStyle/>
          <a:p>
            <a:r>
              <a:rPr lang="en-US" sz="2400" b="1" dirty="0">
                <a:solidFill>
                  <a:srgbClr val="C00000"/>
                </a:solidFill>
              </a:rPr>
              <a:t>Ignorance</a:t>
            </a:r>
          </a:p>
        </p:txBody>
      </p:sp>
      <p:sp>
        <p:nvSpPr>
          <p:cNvPr id="19" name="TextBox 18">
            <a:extLst>
              <a:ext uri="{FF2B5EF4-FFF2-40B4-BE49-F238E27FC236}">
                <a16:creationId xmlns:a16="http://schemas.microsoft.com/office/drawing/2014/main" id="{561A6FBB-D9BC-DCD5-9C69-899E8BD543E8}"/>
              </a:ext>
            </a:extLst>
          </p:cNvPr>
          <p:cNvSpPr txBox="1"/>
          <p:nvPr/>
        </p:nvSpPr>
        <p:spPr>
          <a:xfrm>
            <a:off x="2795048" y="2339220"/>
            <a:ext cx="1830501" cy="461665"/>
          </a:xfrm>
          <a:prstGeom prst="rect">
            <a:avLst/>
          </a:prstGeom>
          <a:noFill/>
          <a:ln>
            <a:noFill/>
          </a:ln>
        </p:spPr>
        <p:txBody>
          <a:bodyPr wrap="none" rtlCol="0">
            <a:spAutoFit/>
          </a:bodyPr>
          <a:lstStyle/>
          <a:p>
            <a:r>
              <a:rPr lang="en-US" sz="2400" b="1" dirty="0">
                <a:solidFill>
                  <a:srgbClr val="C00000"/>
                </a:solidFill>
              </a:rPr>
              <a:t>Uncertainty</a:t>
            </a:r>
          </a:p>
        </p:txBody>
      </p:sp>
      <p:sp>
        <p:nvSpPr>
          <p:cNvPr id="21" name="TextBox 20">
            <a:extLst>
              <a:ext uri="{FF2B5EF4-FFF2-40B4-BE49-F238E27FC236}">
                <a16:creationId xmlns:a16="http://schemas.microsoft.com/office/drawing/2014/main" id="{42B90DF8-7DA2-38CC-3EDD-028D1743AFC0}"/>
              </a:ext>
            </a:extLst>
          </p:cNvPr>
          <p:cNvSpPr txBox="1"/>
          <p:nvPr/>
        </p:nvSpPr>
        <p:spPr>
          <a:xfrm>
            <a:off x="5464884" y="2312212"/>
            <a:ext cx="3252345" cy="1200329"/>
          </a:xfrm>
          <a:prstGeom prst="rect">
            <a:avLst/>
          </a:prstGeom>
          <a:noFill/>
          <a:ln>
            <a:noFill/>
          </a:ln>
        </p:spPr>
        <p:txBody>
          <a:bodyPr wrap="square" rtlCol="0">
            <a:spAutoFit/>
          </a:bodyPr>
          <a:lstStyle/>
          <a:p>
            <a:r>
              <a:rPr lang="en-US" sz="2400" b="1">
                <a:solidFill>
                  <a:srgbClr val="C00000"/>
                </a:solidFill>
              </a:rPr>
              <a:t>Risk</a:t>
            </a:r>
          </a:p>
          <a:p>
            <a:r>
              <a:rPr lang="en-US" sz="2400" b="1">
                <a:solidFill>
                  <a:srgbClr val="C00000"/>
                </a:solidFill>
              </a:rPr>
              <a:t>= likelihood x</a:t>
            </a:r>
          </a:p>
          <a:p>
            <a:r>
              <a:rPr lang="en-US" sz="2400" b="1">
                <a:solidFill>
                  <a:srgbClr val="C00000"/>
                </a:solidFill>
              </a:rPr>
              <a:t>consequences</a:t>
            </a:r>
          </a:p>
        </p:txBody>
      </p:sp>
      <p:cxnSp>
        <p:nvCxnSpPr>
          <p:cNvPr id="15" name="Straight Arrow Connector 14">
            <a:extLst>
              <a:ext uri="{FF2B5EF4-FFF2-40B4-BE49-F238E27FC236}">
                <a16:creationId xmlns:a16="http://schemas.microsoft.com/office/drawing/2014/main" id="{A9BF777C-E722-1145-4ABE-6957F4D89D7B}"/>
              </a:ext>
            </a:extLst>
          </p:cNvPr>
          <p:cNvCxnSpPr/>
          <p:nvPr/>
        </p:nvCxnSpPr>
        <p:spPr>
          <a:xfrm>
            <a:off x="1106844" y="2912376"/>
            <a:ext cx="0" cy="1291134"/>
          </a:xfrm>
          <a:prstGeom prst="straightConnector1">
            <a:avLst/>
          </a:prstGeom>
          <a:ln w="1016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B5D30E9-DBD3-3FD2-AEE7-F3D69E72F13C}"/>
              </a:ext>
            </a:extLst>
          </p:cNvPr>
          <p:cNvCxnSpPr/>
          <p:nvPr/>
        </p:nvCxnSpPr>
        <p:spPr>
          <a:xfrm>
            <a:off x="3834578" y="2866974"/>
            <a:ext cx="0" cy="1291134"/>
          </a:xfrm>
          <a:prstGeom prst="straightConnector1">
            <a:avLst/>
          </a:prstGeom>
          <a:ln w="1016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9E19F2C-C8F2-F8DC-9B7C-7BC00D7EF7DB}"/>
              </a:ext>
            </a:extLst>
          </p:cNvPr>
          <p:cNvCxnSpPr>
            <a:cxnSpLocks/>
          </p:cNvCxnSpPr>
          <p:nvPr/>
        </p:nvCxnSpPr>
        <p:spPr>
          <a:xfrm>
            <a:off x="6589558" y="3557943"/>
            <a:ext cx="0" cy="645567"/>
          </a:xfrm>
          <a:prstGeom prst="straightConnector1">
            <a:avLst/>
          </a:prstGeom>
          <a:ln w="101600">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E4670DCC-8355-BDD2-4535-B603B4084DD9}"/>
              </a:ext>
            </a:extLst>
          </p:cNvPr>
          <p:cNvPicPr>
            <a:picLocks noChangeAspect="1"/>
          </p:cNvPicPr>
          <p:nvPr/>
        </p:nvPicPr>
        <p:blipFill>
          <a:blip r:embed="rId10"/>
          <a:srcRect l="35889" r="15107"/>
          <a:stretch>
            <a:fillRect/>
          </a:stretch>
        </p:blipFill>
        <p:spPr>
          <a:xfrm>
            <a:off x="1240523" y="3619227"/>
            <a:ext cx="1440894" cy="1565019"/>
          </a:xfrm>
          <a:prstGeom prst="rect">
            <a:avLst/>
          </a:prstGeom>
        </p:spPr>
      </p:pic>
      <p:pic>
        <p:nvPicPr>
          <p:cNvPr id="23" name="Picture 22" descr="Graph on document with pen">
            <a:extLst>
              <a:ext uri="{FF2B5EF4-FFF2-40B4-BE49-F238E27FC236}">
                <a16:creationId xmlns:a16="http://schemas.microsoft.com/office/drawing/2014/main" id="{A4FC2CD6-268D-5FDC-4DA6-0B5EB8B3085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83136" y="3619227"/>
            <a:ext cx="1452931" cy="1552667"/>
          </a:xfrm>
          <a:prstGeom prst="rect">
            <a:avLst/>
          </a:prstGeom>
        </p:spPr>
      </p:pic>
      <p:pic>
        <p:nvPicPr>
          <p:cNvPr id="24" name="Picture 23" descr="Climate change - Wikipedia">
            <a:extLst>
              <a:ext uri="{FF2B5EF4-FFF2-40B4-BE49-F238E27FC236}">
                <a16:creationId xmlns:a16="http://schemas.microsoft.com/office/drawing/2014/main" id="{12503BF0-B474-2268-A046-BC43C2CD8579}"/>
              </a:ext>
            </a:extLst>
          </p:cNvPr>
          <p:cNvPicPr>
            <a:picLocks noChangeAspect="1"/>
          </p:cNvPicPr>
          <p:nvPr/>
        </p:nvPicPr>
        <p:blipFill>
          <a:blip r:embed="rId12"/>
          <a:stretch>
            <a:fillRect/>
          </a:stretch>
        </p:blipFill>
        <p:spPr>
          <a:xfrm>
            <a:off x="6716045" y="3528539"/>
            <a:ext cx="1662108" cy="1495898"/>
          </a:xfrm>
          <a:prstGeom prst="rect">
            <a:avLst/>
          </a:prstGeom>
        </p:spPr>
      </p:pic>
      <p:sp>
        <p:nvSpPr>
          <p:cNvPr id="22" name="TextBox 21">
            <a:extLst>
              <a:ext uri="{FF2B5EF4-FFF2-40B4-BE49-F238E27FC236}">
                <a16:creationId xmlns:a16="http://schemas.microsoft.com/office/drawing/2014/main" id="{131F3DD4-4D1B-A0D0-2EF8-7F46DD3A8BD0}"/>
              </a:ext>
            </a:extLst>
          </p:cNvPr>
          <p:cNvSpPr txBox="1"/>
          <p:nvPr/>
        </p:nvSpPr>
        <p:spPr>
          <a:xfrm>
            <a:off x="1095107" y="2288002"/>
            <a:ext cx="1898093" cy="3770263"/>
          </a:xfrm>
          <a:prstGeom prst="rect">
            <a:avLst/>
          </a:prstGeom>
          <a:noFill/>
        </p:spPr>
        <p:txBody>
          <a:bodyPr wrap="square" rtlCol="0">
            <a:spAutoFit/>
          </a:bodyPr>
          <a:lstStyle/>
          <a:p>
            <a:r>
              <a:rPr lang="en-US" sz="23900" b="1" dirty="0">
                <a:solidFill>
                  <a:srgbClr val="C00000"/>
                </a:solidFill>
              </a:rPr>
              <a:t>x</a:t>
            </a:r>
            <a:endParaRPr lang="en-US" sz="9600" b="1" dirty="0">
              <a:solidFill>
                <a:srgbClr val="C00000"/>
              </a:solidFill>
            </a:endParaRPr>
          </a:p>
        </p:txBody>
      </p:sp>
    </p:spTree>
    <p:extLst>
      <p:ext uri="{BB962C8B-B14F-4D97-AF65-F5344CB8AC3E}">
        <p14:creationId xmlns:p14="http://schemas.microsoft.com/office/powerpoint/2010/main" val="1954025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0A744-EC37-5F7E-ED0C-A85C35E3EF1A}"/>
              </a:ext>
            </a:extLst>
          </p:cNvPr>
          <p:cNvSpPr>
            <a:spLocks noGrp="1"/>
          </p:cNvSpPr>
          <p:nvPr>
            <p:ph type="title"/>
          </p:nvPr>
        </p:nvSpPr>
        <p:spPr>
          <a:xfrm>
            <a:off x="449706" y="457200"/>
            <a:ext cx="3807502" cy="800100"/>
          </a:xfrm>
        </p:spPr>
        <p:txBody>
          <a:bodyPr>
            <a:normAutofit/>
          </a:bodyPr>
          <a:lstStyle/>
          <a:p>
            <a:r>
              <a:rPr lang="en-US" sz="4000" dirty="0"/>
              <a:t>Discernment</a:t>
            </a:r>
          </a:p>
        </p:txBody>
      </p:sp>
      <p:sp>
        <p:nvSpPr>
          <p:cNvPr id="3" name="Content Placeholder 2">
            <a:extLst>
              <a:ext uri="{FF2B5EF4-FFF2-40B4-BE49-F238E27FC236}">
                <a16:creationId xmlns:a16="http://schemas.microsoft.com/office/drawing/2014/main" id="{8581ECAF-B65A-C485-2854-F297F51E474B}"/>
              </a:ext>
            </a:extLst>
          </p:cNvPr>
          <p:cNvSpPr>
            <a:spLocks noGrp="1"/>
          </p:cNvSpPr>
          <p:nvPr>
            <p:ph idx="1"/>
          </p:nvPr>
        </p:nvSpPr>
        <p:spPr>
          <a:xfrm>
            <a:off x="576678" y="2610348"/>
            <a:ext cx="4002373" cy="1131397"/>
          </a:xfrm>
        </p:spPr>
        <p:txBody>
          <a:bodyPr>
            <a:normAutofit/>
          </a:bodyPr>
          <a:lstStyle/>
          <a:p>
            <a:r>
              <a:rPr lang="en-US" dirty="0"/>
              <a:t>The lie of truth</a:t>
            </a:r>
          </a:p>
          <a:p>
            <a:r>
              <a:rPr lang="en-US" dirty="0"/>
              <a:t>The lie of creativity</a:t>
            </a:r>
          </a:p>
        </p:txBody>
      </p:sp>
      <p:pic>
        <p:nvPicPr>
          <p:cNvPr id="10" name="Graphic 9" descr="Candle with solid fill">
            <a:extLst>
              <a:ext uri="{FF2B5EF4-FFF2-40B4-BE49-F238E27FC236}">
                <a16:creationId xmlns:a16="http://schemas.microsoft.com/office/drawing/2014/main" id="{B64CED45-8890-FA65-2A76-863A6CECD1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9167" y="266700"/>
            <a:ext cx="1704508" cy="1704508"/>
          </a:xfrm>
          <a:prstGeom prst="rect">
            <a:avLst/>
          </a:prstGeom>
        </p:spPr>
      </p:pic>
      <p:pic>
        <p:nvPicPr>
          <p:cNvPr id="12" name="Picture 11">
            <a:extLst>
              <a:ext uri="{FF2B5EF4-FFF2-40B4-BE49-F238E27FC236}">
                <a16:creationId xmlns:a16="http://schemas.microsoft.com/office/drawing/2014/main" id="{A6C3F7E5-20C3-4A1C-5036-DA88EB00A448}"/>
              </a:ext>
            </a:extLst>
          </p:cNvPr>
          <p:cNvPicPr>
            <a:picLocks noChangeAspect="1"/>
          </p:cNvPicPr>
          <p:nvPr/>
        </p:nvPicPr>
        <p:blipFill>
          <a:blip r:embed="rId4"/>
          <a:stretch>
            <a:fillRect/>
          </a:stretch>
        </p:blipFill>
        <p:spPr>
          <a:xfrm>
            <a:off x="7088327" y="711053"/>
            <a:ext cx="4194167" cy="4929985"/>
          </a:xfrm>
          <a:prstGeom prst="rect">
            <a:avLst/>
          </a:prstGeom>
        </p:spPr>
      </p:pic>
      <p:sp>
        <p:nvSpPr>
          <p:cNvPr id="4" name="Content Placeholder 2">
            <a:extLst>
              <a:ext uri="{FF2B5EF4-FFF2-40B4-BE49-F238E27FC236}">
                <a16:creationId xmlns:a16="http://schemas.microsoft.com/office/drawing/2014/main" id="{A5BF678A-A136-D9E7-B107-E0629406B49D}"/>
              </a:ext>
            </a:extLst>
          </p:cNvPr>
          <p:cNvSpPr txBox="1">
            <a:spLocks/>
          </p:cNvSpPr>
          <p:nvPr/>
        </p:nvSpPr>
        <p:spPr>
          <a:xfrm>
            <a:off x="644135" y="2050561"/>
            <a:ext cx="2498734" cy="48043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3600" b="1">
                <a:solidFill>
                  <a:srgbClr val="C00000"/>
                </a:solidFill>
              </a:rPr>
              <a:t>Two lies</a:t>
            </a:r>
          </a:p>
        </p:txBody>
      </p:sp>
      <p:sp>
        <p:nvSpPr>
          <p:cNvPr id="5" name="TextBox 4">
            <a:extLst>
              <a:ext uri="{FF2B5EF4-FFF2-40B4-BE49-F238E27FC236}">
                <a16:creationId xmlns:a16="http://schemas.microsoft.com/office/drawing/2014/main" id="{9665C785-0FF7-6E28-108F-0BE50461FDB5}"/>
              </a:ext>
            </a:extLst>
          </p:cNvPr>
          <p:cNvSpPr txBox="1"/>
          <p:nvPr/>
        </p:nvSpPr>
        <p:spPr>
          <a:xfrm>
            <a:off x="6806755" y="5777615"/>
            <a:ext cx="4757309" cy="369332"/>
          </a:xfrm>
          <a:prstGeom prst="rect">
            <a:avLst/>
          </a:prstGeom>
          <a:noFill/>
        </p:spPr>
        <p:txBody>
          <a:bodyPr wrap="square" rtlCol="0">
            <a:spAutoFit/>
          </a:bodyPr>
          <a:lstStyle/>
          <a:p>
            <a:r>
              <a:rPr lang="en-US" dirty="0"/>
              <a:t>How do the sunglasses stay on the cat’s face? </a:t>
            </a:r>
          </a:p>
        </p:txBody>
      </p:sp>
    </p:spTree>
    <p:extLst>
      <p:ext uri="{BB962C8B-B14F-4D97-AF65-F5344CB8AC3E}">
        <p14:creationId xmlns:p14="http://schemas.microsoft.com/office/powerpoint/2010/main" val="1883976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F2F8B-4E70-395B-D49C-30009285339B}"/>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225A8A5D-1FC7-D39B-9E93-99BD4A38692C}"/>
              </a:ext>
            </a:extLst>
          </p:cNvPr>
          <p:cNvGrpSpPr/>
          <p:nvPr/>
        </p:nvGrpSpPr>
        <p:grpSpPr>
          <a:xfrm>
            <a:off x="5035454" y="0"/>
            <a:ext cx="4865688" cy="4147581"/>
            <a:chOff x="3681412" y="1546225"/>
            <a:chExt cx="4865688" cy="4147581"/>
          </a:xfrm>
        </p:grpSpPr>
        <p:pic>
          <p:nvPicPr>
            <p:cNvPr id="4" name="Picture 3" descr="The Rich Man, Lazarus, and Nutrition / OrthoChristian.Com">
              <a:extLst>
                <a:ext uri="{FF2B5EF4-FFF2-40B4-BE49-F238E27FC236}">
                  <a16:creationId xmlns:a16="http://schemas.microsoft.com/office/drawing/2014/main" id="{E0535C00-750D-25C0-EC9C-E907ED843043}"/>
                </a:ext>
              </a:extLst>
            </p:cNvPr>
            <p:cNvPicPr>
              <a:picLocks noChangeAspect="1"/>
            </p:cNvPicPr>
            <p:nvPr/>
          </p:nvPicPr>
          <p:blipFill>
            <a:blip r:embed="rId3"/>
            <a:stretch>
              <a:fillRect/>
            </a:stretch>
          </p:blipFill>
          <p:spPr>
            <a:xfrm>
              <a:off x="3681412" y="1546225"/>
              <a:ext cx="4829175" cy="3752850"/>
            </a:xfrm>
            <a:prstGeom prst="rect">
              <a:avLst/>
            </a:prstGeom>
          </p:spPr>
        </p:pic>
        <p:sp>
          <p:nvSpPr>
            <p:cNvPr id="6" name="TextBox 5">
              <a:extLst>
                <a:ext uri="{FF2B5EF4-FFF2-40B4-BE49-F238E27FC236}">
                  <a16:creationId xmlns:a16="http://schemas.microsoft.com/office/drawing/2014/main" id="{2DA0A718-F8C1-0E67-AC91-B0D4BDF2DC46}"/>
                </a:ext>
              </a:extLst>
            </p:cNvPr>
            <p:cNvSpPr txBox="1"/>
            <p:nvPr/>
          </p:nvSpPr>
          <p:spPr>
            <a:xfrm>
              <a:off x="3695700" y="5324474"/>
              <a:ext cx="4851400" cy="369332"/>
            </a:xfrm>
            <a:prstGeom prst="rect">
              <a:avLst/>
            </a:prstGeom>
            <a:noFill/>
          </p:spPr>
          <p:txBody>
            <a:bodyPr wrap="square" rtlCol="0">
              <a:spAutoFit/>
            </a:bodyPr>
            <a:lstStyle/>
            <a:p>
              <a:r>
                <a:rPr lang="en-US" dirty="0"/>
                <a:t>The rich man and Lazarus</a:t>
              </a:r>
            </a:p>
          </p:txBody>
        </p:sp>
      </p:grpSp>
      <p:sp>
        <p:nvSpPr>
          <p:cNvPr id="2" name="Title 1">
            <a:extLst>
              <a:ext uri="{FF2B5EF4-FFF2-40B4-BE49-F238E27FC236}">
                <a16:creationId xmlns:a16="http://schemas.microsoft.com/office/drawing/2014/main" id="{87C4B39C-E772-E001-73B1-0E75A6605EF2}"/>
              </a:ext>
            </a:extLst>
          </p:cNvPr>
          <p:cNvSpPr>
            <a:spLocks noGrp="1"/>
          </p:cNvSpPr>
          <p:nvPr>
            <p:ph type="title"/>
          </p:nvPr>
        </p:nvSpPr>
        <p:spPr>
          <a:xfrm>
            <a:off x="449706" y="457200"/>
            <a:ext cx="3807502" cy="800100"/>
          </a:xfrm>
        </p:spPr>
        <p:txBody>
          <a:bodyPr>
            <a:normAutofit/>
          </a:bodyPr>
          <a:lstStyle/>
          <a:p>
            <a:r>
              <a:rPr lang="en-US" sz="4000"/>
              <a:t>Discernment</a:t>
            </a:r>
          </a:p>
        </p:txBody>
      </p:sp>
      <p:sp>
        <p:nvSpPr>
          <p:cNvPr id="3" name="Content Placeholder 2">
            <a:extLst>
              <a:ext uri="{FF2B5EF4-FFF2-40B4-BE49-F238E27FC236}">
                <a16:creationId xmlns:a16="http://schemas.microsoft.com/office/drawing/2014/main" id="{FE81830C-205E-B2CC-2A9E-D951C8F0CFAB}"/>
              </a:ext>
            </a:extLst>
          </p:cNvPr>
          <p:cNvSpPr>
            <a:spLocks noGrp="1"/>
          </p:cNvSpPr>
          <p:nvPr>
            <p:ph idx="1"/>
          </p:nvPr>
        </p:nvSpPr>
        <p:spPr>
          <a:xfrm>
            <a:off x="643830" y="2505696"/>
            <a:ext cx="4751130" cy="1846607"/>
          </a:xfrm>
        </p:spPr>
        <p:txBody>
          <a:bodyPr>
            <a:normAutofit/>
          </a:bodyPr>
          <a:lstStyle/>
          <a:p>
            <a:r>
              <a:rPr lang="en-US" dirty="0"/>
              <a:t>Unvalued workers</a:t>
            </a:r>
          </a:p>
          <a:p>
            <a:r>
              <a:rPr lang="en-US" dirty="0"/>
              <a:t>Imbalance of power</a:t>
            </a:r>
          </a:p>
          <a:p>
            <a:r>
              <a:rPr lang="en-US" dirty="0"/>
              <a:t>Vested interests</a:t>
            </a:r>
          </a:p>
        </p:txBody>
      </p:sp>
      <p:pic>
        <p:nvPicPr>
          <p:cNvPr id="10" name="Graphic 9" descr="Candle with solid fill">
            <a:extLst>
              <a:ext uri="{FF2B5EF4-FFF2-40B4-BE49-F238E27FC236}">
                <a16:creationId xmlns:a16="http://schemas.microsoft.com/office/drawing/2014/main" id="{4108F4F2-C9A5-1945-ED9A-265831B787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9167" y="266700"/>
            <a:ext cx="1704508" cy="1704508"/>
          </a:xfrm>
          <a:prstGeom prst="rect">
            <a:avLst/>
          </a:prstGeom>
        </p:spPr>
      </p:pic>
      <p:pic>
        <p:nvPicPr>
          <p:cNvPr id="17" name="Picture 16">
            <a:extLst>
              <a:ext uri="{FF2B5EF4-FFF2-40B4-BE49-F238E27FC236}">
                <a16:creationId xmlns:a16="http://schemas.microsoft.com/office/drawing/2014/main" id="{C5A0F049-0BF1-3B52-7A88-4DD4CED74176}"/>
              </a:ext>
            </a:extLst>
          </p:cNvPr>
          <p:cNvPicPr>
            <a:picLocks noChangeAspect="1"/>
          </p:cNvPicPr>
          <p:nvPr/>
        </p:nvPicPr>
        <p:blipFill>
          <a:blip r:embed="rId5"/>
          <a:srcRect l="11491" r="12295"/>
          <a:stretch>
            <a:fillRect/>
          </a:stretch>
        </p:blipFill>
        <p:spPr>
          <a:xfrm>
            <a:off x="6797042" y="1757116"/>
            <a:ext cx="4007304" cy="3343766"/>
          </a:xfrm>
          <a:prstGeom prst="rect">
            <a:avLst/>
          </a:prstGeom>
        </p:spPr>
      </p:pic>
      <p:sp>
        <p:nvSpPr>
          <p:cNvPr id="5" name="Content Placeholder 2">
            <a:extLst>
              <a:ext uri="{FF2B5EF4-FFF2-40B4-BE49-F238E27FC236}">
                <a16:creationId xmlns:a16="http://schemas.microsoft.com/office/drawing/2014/main" id="{C034D050-0375-7461-010F-479FB15D416C}"/>
              </a:ext>
            </a:extLst>
          </p:cNvPr>
          <p:cNvSpPr txBox="1">
            <a:spLocks/>
          </p:cNvSpPr>
          <p:nvPr/>
        </p:nvSpPr>
        <p:spPr>
          <a:xfrm>
            <a:off x="643830" y="2025262"/>
            <a:ext cx="2498734" cy="48043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3600" b="1">
                <a:solidFill>
                  <a:srgbClr val="C00000"/>
                </a:solidFill>
              </a:rPr>
              <a:t>Three truths</a:t>
            </a:r>
          </a:p>
        </p:txBody>
      </p:sp>
      <p:pic>
        <p:nvPicPr>
          <p:cNvPr id="15" name="Picture 14" descr="Is self-regulated free market forces not a contradiction in terms? :  r/DelusionsOfAdequacy">
            <a:extLst>
              <a:ext uri="{FF2B5EF4-FFF2-40B4-BE49-F238E27FC236}">
                <a16:creationId xmlns:a16="http://schemas.microsoft.com/office/drawing/2014/main" id="{B6433A58-AC21-CA91-8EB4-977758B98B66}"/>
              </a:ext>
            </a:extLst>
          </p:cNvPr>
          <p:cNvPicPr>
            <a:picLocks noChangeAspect="1"/>
          </p:cNvPicPr>
          <p:nvPr/>
        </p:nvPicPr>
        <p:blipFill>
          <a:blip r:embed="rId6"/>
          <a:stretch>
            <a:fillRect/>
          </a:stretch>
        </p:blipFill>
        <p:spPr>
          <a:xfrm>
            <a:off x="8189627" y="3637339"/>
            <a:ext cx="4002373" cy="3220659"/>
          </a:xfrm>
          <a:prstGeom prst="rect">
            <a:avLst/>
          </a:prstGeom>
        </p:spPr>
      </p:pic>
    </p:spTree>
    <p:extLst>
      <p:ext uri="{BB962C8B-B14F-4D97-AF65-F5344CB8AC3E}">
        <p14:creationId xmlns:p14="http://schemas.microsoft.com/office/powerpoint/2010/main" val="44823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F7AFC-E127-49C4-0F47-E5E74FB28B2B}"/>
              </a:ext>
            </a:extLst>
          </p:cNvPr>
          <p:cNvSpPr>
            <a:spLocks noGrp="1"/>
          </p:cNvSpPr>
          <p:nvPr>
            <p:ph type="title"/>
          </p:nvPr>
        </p:nvSpPr>
        <p:spPr>
          <a:xfrm>
            <a:off x="635367" y="499396"/>
            <a:ext cx="4241434" cy="719803"/>
          </a:xfrm>
        </p:spPr>
        <p:txBody>
          <a:bodyPr vert="horz" lIns="91440" tIns="45720" rIns="91440" bIns="45720" rtlCol="0" anchor="b">
            <a:normAutofit/>
          </a:bodyPr>
          <a:lstStyle/>
          <a:p>
            <a:r>
              <a:rPr lang="en-US" sz="4000" kern="1200" dirty="0">
                <a:solidFill>
                  <a:schemeClr val="tx1"/>
                </a:solidFill>
                <a:latin typeface="+mj-lt"/>
                <a:ea typeface="+mj-ea"/>
                <a:cs typeface="+mj-cs"/>
              </a:rPr>
              <a:t>Self-control</a:t>
            </a:r>
          </a:p>
        </p:txBody>
      </p:sp>
      <p:sp>
        <p:nvSpPr>
          <p:cNvPr id="3" name="Content Placeholder 2">
            <a:extLst>
              <a:ext uri="{FF2B5EF4-FFF2-40B4-BE49-F238E27FC236}">
                <a16:creationId xmlns:a16="http://schemas.microsoft.com/office/drawing/2014/main" id="{8AF58CA1-6F45-694E-9EA7-83071251A6F9}"/>
              </a:ext>
            </a:extLst>
          </p:cNvPr>
          <p:cNvSpPr>
            <a:spLocks noGrp="1"/>
          </p:cNvSpPr>
          <p:nvPr>
            <p:ph idx="1"/>
          </p:nvPr>
        </p:nvSpPr>
        <p:spPr>
          <a:xfrm>
            <a:off x="635367" y="1669110"/>
            <a:ext cx="2752069" cy="1198781"/>
          </a:xfrm>
        </p:spPr>
        <p:txBody>
          <a:bodyPr vert="horz" lIns="91440" tIns="45720" rIns="91440" bIns="45720" rtlCol="0">
            <a:noAutofit/>
          </a:bodyPr>
          <a:lstStyle/>
          <a:p>
            <a:r>
              <a:rPr lang="en-US" dirty="0"/>
              <a:t>Individual</a:t>
            </a:r>
          </a:p>
          <a:p>
            <a:r>
              <a:rPr lang="en-US" dirty="0"/>
              <a:t>Corporate</a:t>
            </a:r>
          </a:p>
          <a:p>
            <a:endParaRPr lang="en-US" dirty="0"/>
          </a:p>
        </p:txBody>
      </p:sp>
      <p:sp>
        <p:nvSpPr>
          <p:cNvPr id="30" name="Rectangle 29">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wer Icon Watchtower Black Silhouette Front Stock Vector (Royalty Free)  2571768335 | Shutterstock">
            <a:extLst>
              <a:ext uri="{FF2B5EF4-FFF2-40B4-BE49-F238E27FC236}">
                <a16:creationId xmlns:a16="http://schemas.microsoft.com/office/drawing/2014/main" id="{08B73C95-54E5-87CA-AED8-1307D80FD07C}"/>
              </a:ext>
            </a:extLst>
          </p:cNvPr>
          <p:cNvPicPr>
            <a:picLocks noChangeAspect="1"/>
          </p:cNvPicPr>
          <p:nvPr/>
        </p:nvPicPr>
        <p:blipFill>
          <a:blip r:embed="rId3"/>
          <a:srcRect l="27192" t="8346" r="27290" b="20761"/>
          <a:stretch>
            <a:fillRect/>
          </a:stretch>
        </p:blipFill>
        <p:spPr>
          <a:xfrm flipH="1">
            <a:off x="8115300" y="859298"/>
            <a:ext cx="3432780" cy="4049250"/>
          </a:xfrm>
          <a:prstGeom prst="rect">
            <a:avLst/>
          </a:prstGeom>
        </p:spPr>
      </p:pic>
    </p:spTree>
    <p:extLst>
      <p:ext uri="{BB962C8B-B14F-4D97-AF65-F5344CB8AC3E}">
        <p14:creationId xmlns:p14="http://schemas.microsoft.com/office/powerpoint/2010/main" val="415786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C653F3-20E8-CE86-F2C2-E3812D1A8E48}"/>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7726D5B-E8C5-6A54-E302-B5CF0B6DA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AA1B44-091A-1F83-F1EB-ED1114C79655}"/>
              </a:ext>
            </a:extLst>
          </p:cNvPr>
          <p:cNvSpPr>
            <a:spLocks noGrp="1"/>
          </p:cNvSpPr>
          <p:nvPr>
            <p:ph type="title"/>
          </p:nvPr>
        </p:nvSpPr>
        <p:spPr>
          <a:xfrm>
            <a:off x="635367" y="499396"/>
            <a:ext cx="4241434" cy="719803"/>
          </a:xfrm>
        </p:spPr>
        <p:txBody>
          <a:bodyPr vert="horz" lIns="91440" tIns="45720" rIns="91440" bIns="45720" rtlCol="0" anchor="b">
            <a:normAutofit/>
          </a:bodyPr>
          <a:lstStyle/>
          <a:p>
            <a:r>
              <a:rPr lang="en-US" sz="4000" kern="1200" dirty="0">
                <a:solidFill>
                  <a:schemeClr val="tx1"/>
                </a:solidFill>
                <a:latin typeface="+mj-lt"/>
                <a:ea typeface="+mj-ea"/>
                <a:cs typeface="+mj-cs"/>
              </a:rPr>
              <a:t>Self-control</a:t>
            </a:r>
          </a:p>
        </p:txBody>
      </p:sp>
      <p:sp>
        <p:nvSpPr>
          <p:cNvPr id="3" name="Content Placeholder 2">
            <a:extLst>
              <a:ext uri="{FF2B5EF4-FFF2-40B4-BE49-F238E27FC236}">
                <a16:creationId xmlns:a16="http://schemas.microsoft.com/office/drawing/2014/main" id="{BC7685B3-F3DB-6094-1A27-F2C276A1006A}"/>
              </a:ext>
            </a:extLst>
          </p:cNvPr>
          <p:cNvSpPr>
            <a:spLocks noGrp="1"/>
          </p:cNvSpPr>
          <p:nvPr>
            <p:ph idx="1"/>
          </p:nvPr>
        </p:nvSpPr>
        <p:spPr>
          <a:xfrm>
            <a:off x="635367" y="1669110"/>
            <a:ext cx="5929422" cy="3519780"/>
          </a:xfrm>
        </p:spPr>
        <p:txBody>
          <a:bodyPr vert="horz" lIns="91440" tIns="45720" rIns="91440" bIns="45720" rtlCol="0">
            <a:noAutofit/>
          </a:bodyPr>
          <a:lstStyle/>
          <a:p>
            <a:r>
              <a:rPr lang="en-US" dirty="0"/>
              <a:t>Individual (virtue)</a:t>
            </a:r>
          </a:p>
          <a:p>
            <a:r>
              <a:rPr lang="en-US" dirty="0"/>
              <a:t>Corporate (justice)</a:t>
            </a:r>
          </a:p>
          <a:p>
            <a:endParaRPr lang="en-US" dirty="0"/>
          </a:p>
        </p:txBody>
      </p:sp>
      <p:sp>
        <p:nvSpPr>
          <p:cNvPr id="30" name="Rectangle 29">
            <a:extLst>
              <a:ext uri="{FF2B5EF4-FFF2-40B4-BE49-F238E27FC236}">
                <a16:creationId xmlns:a16="http://schemas.microsoft.com/office/drawing/2014/main" id="{4BDE852E-0AC6-AED0-3BAD-285A941EB0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0C84A1A-62E2-BEB4-21BA-8BFDACD0C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wer Icon Watchtower Black Silhouette Front Stock Vector (Royalty Free)  2571768335 | Shutterstock">
            <a:extLst>
              <a:ext uri="{FF2B5EF4-FFF2-40B4-BE49-F238E27FC236}">
                <a16:creationId xmlns:a16="http://schemas.microsoft.com/office/drawing/2014/main" id="{AF9D0876-C3FD-732A-C93E-6849B2DC51C9}"/>
              </a:ext>
            </a:extLst>
          </p:cNvPr>
          <p:cNvPicPr>
            <a:picLocks noChangeAspect="1"/>
          </p:cNvPicPr>
          <p:nvPr/>
        </p:nvPicPr>
        <p:blipFill>
          <a:blip r:embed="rId3"/>
          <a:srcRect l="27192" t="8346" r="27290" b="20761"/>
          <a:stretch>
            <a:fillRect/>
          </a:stretch>
        </p:blipFill>
        <p:spPr>
          <a:xfrm flipH="1">
            <a:off x="8115300" y="859298"/>
            <a:ext cx="3432780" cy="4049250"/>
          </a:xfrm>
          <a:prstGeom prst="rect">
            <a:avLst/>
          </a:prstGeom>
        </p:spPr>
      </p:pic>
    </p:spTree>
    <p:extLst>
      <p:ext uri="{BB962C8B-B14F-4D97-AF65-F5344CB8AC3E}">
        <p14:creationId xmlns:p14="http://schemas.microsoft.com/office/powerpoint/2010/main" val="2205865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B3EAA7-5D06-3854-0992-38F1F4B0C3D5}"/>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086C638-D54D-ABD0-AD1D-B54751452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624935-62F6-48C1-DB11-6EB94178E216}"/>
              </a:ext>
            </a:extLst>
          </p:cNvPr>
          <p:cNvSpPr>
            <a:spLocks noGrp="1"/>
          </p:cNvSpPr>
          <p:nvPr>
            <p:ph type="title"/>
          </p:nvPr>
        </p:nvSpPr>
        <p:spPr>
          <a:xfrm>
            <a:off x="635367" y="499396"/>
            <a:ext cx="4241434" cy="719803"/>
          </a:xfrm>
        </p:spPr>
        <p:txBody>
          <a:bodyPr vert="horz" lIns="91440" tIns="45720" rIns="91440" bIns="45720" rtlCol="0" anchor="b">
            <a:normAutofit/>
          </a:bodyPr>
          <a:lstStyle/>
          <a:p>
            <a:r>
              <a:rPr lang="en-US" sz="4000" kern="1200" dirty="0">
                <a:solidFill>
                  <a:schemeClr val="tx1"/>
                </a:solidFill>
                <a:latin typeface="+mj-lt"/>
                <a:ea typeface="+mj-ea"/>
                <a:cs typeface="+mj-cs"/>
              </a:rPr>
              <a:t>Self-control</a:t>
            </a:r>
          </a:p>
        </p:txBody>
      </p:sp>
      <p:sp>
        <p:nvSpPr>
          <p:cNvPr id="3" name="Content Placeholder 2">
            <a:extLst>
              <a:ext uri="{FF2B5EF4-FFF2-40B4-BE49-F238E27FC236}">
                <a16:creationId xmlns:a16="http://schemas.microsoft.com/office/drawing/2014/main" id="{518E7BD4-C802-512A-C8C2-FAE0D135578A}"/>
              </a:ext>
            </a:extLst>
          </p:cNvPr>
          <p:cNvSpPr>
            <a:spLocks noGrp="1"/>
          </p:cNvSpPr>
          <p:nvPr>
            <p:ph idx="1"/>
          </p:nvPr>
        </p:nvSpPr>
        <p:spPr>
          <a:xfrm>
            <a:off x="635367" y="1669110"/>
            <a:ext cx="3441334" cy="1759890"/>
          </a:xfrm>
        </p:spPr>
        <p:txBody>
          <a:bodyPr vert="horz" lIns="91440" tIns="45720" rIns="91440" bIns="45720" rtlCol="0">
            <a:noAutofit/>
          </a:bodyPr>
          <a:lstStyle/>
          <a:p>
            <a:r>
              <a:rPr lang="en-US" dirty="0"/>
              <a:t>Lament</a:t>
            </a:r>
          </a:p>
          <a:p>
            <a:r>
              <a:rPr lang="en-US" dirty="0"/>
              <a:t>Prophetic voice</a:t>
            </a:r>
          </a:p>
          <a:p>
            <a:r>
              <a:rPr lang="en-US" dirty="0"/>
              <a:t>Organize</a:t>
            </a:r>
          </a:p>
        </p:txBody>
      </p:sp>
      <p:sp>
        <p:nvSpPr>
          <p:cNvPr id="30" name="Rectangle 29">
            <a:extLst>
              <a:ext uri="{FF2B5EF4-FFF2-40B4-BE49-F238E27FC236}">
                <a16:creationId xmlns:a16="http://schemas.microsoft.com/office/drawing/2014/main" id="{A4C85C9B-82B1-34CD-8981-8AC2ECE39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E1F33ED-38C7-C4F0-C17D-D08E7AB6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wer Icon Watchtower Black Silhouette Front Stock Vector (Royalty Free)  2571768335 | Shutterstock">
            <a:extLst>
              <a:ext uri="{FF2B5EF4-FFF2-40B4-BE49-F238E27FC236}">
                <a16:creationId xmlns:a16="http://schemas.microsoft.com/office/drawing/2014/main" id="{FF06BB4D-897D-3992-F424-D379477145A2}"/>
              </a:ext>
            </a:extLst>
          </p:cNvPr>
          <p:cNvPicPr>
            <a:picLocks noChangeAspect="1"/>
          </p:cNvPicPr>
          <p:nvPr/>
        </p:nvPicPr>
        <p:blipFill>
          <a:blip r:embed="rId3"/>
          <a:srcRect l="27192" t="8346" r="27290" b="20761"/>
          <a:stretch>
            <a:fillRect/>
          </a:stretch>
        </p:blipFill>
        <p:spPr>
          <a:xfrm flipH="1">
            <a:off x="8115300" y="859298"/>
            <a:ext cx="3432780" cy="4049250"/>
          </a:xfrm>
          <a:prstGeom prst="rect">
            <a:avLst/>
          </a:prstGeom>
        </p:spPr>
      </p:pic>
    </p:spTree>
    <p:extLst>
      <p:ext uri="{BB962C8B-B14F-4D97-AF65-F5344CB8AC3E}">
        <p14:creationId xmlns:p14="http://schemas.microsoft.com/office/powerpoint/2010/main" val="279925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6001C3-866C-82D3-5CA8-5A77DB598E21}"/>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B575F8F-A414-06A2-65CD-23D7F02D6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D28076-43A3-9F0E-0458-4F01F75B5D23}"/>
              </a:ext>
            </a:extLst>
          </p:cNvPr>
          <p:cNvSpPr>
            <a:spLocks noGrp="1"/>
          </p:cNvSpPr>
          <p:nvPr>
            <p:ph type="title"/>
          </p:nvPr>
        </p:nvSpPr>
        <p:spPr>
          <a:xfrm>
            <a:off x="296734" y="168990"/>
            <a:ext cx="4241434" cy="719803"/>
          </a:xfrm>
        </p:spPr>
        <p:txBody>
          <a:bodyPr vert="horz" lIns="91440" tIns="45720" rIns="91440" bIns="45720" rtlCol="0" anchor="b">
            <a:normAutofit/>
          </a:bodyPr>
          <a:lstStyle/>
          <a:p>
            <a:r>
              <a:rPr lang="en-US" sz="4000" kern="1200" dirty="0">
                <a:solidFill>
                  <a:schemeClr val="tx1"/>
                </a:solidFill>
                <a:latin typeface="+mj-lt"/>
                <a:ea typeface="+mj-ea"/>
                <a:cs typeface="+mj-cs"/>
              </a:rPr>
              <a:t>Self-control</a:t>
            </a:r>
          </a:p>
        </p:txBody>
      </p:sp>
      <p:sp>
        <p:nvSpPr>
          <p:cNvPr id="3" name="Content Placeholder 2">
            <a:extLst>
              <a:ext uri="{FF2B5EF4-FFF2-40B4-BE49-F238E27FC236}">
                <a16:creationId xmlns:a16="http://schemas.microsoft.com/office/drawing/2014/main" id="{C002D348-0254-20C2-9DA2-03D56C952572}"/>
              </a:ext>
            </a:extLst>
          </p:cNvPr>
          <p:cNvSpPr>
            <a:spLocks noGrp="1"/>
          </p:cNvSpPr>
          <p:nvPr>
            <p:ph idx="1"/>
          </p:nvPr>
        </p:nvSpPr>
        <p:spPr>
          <a:xfrm>
            <a:off x="114483" y="1073750"/>
            <a:ext cx="5981516" cy="4919388"/>
          </a:xfrm>
        </p:spPr>
        <p:txBody>
          <a:bodyPr vert="horz" lIns="91440" tIns="45720" rIns="91440" bIns="45720" rtlCol="0">
            <a:noAutofit/>
          </a:bodyPr>
          <a:lstStyle/>
          <a:p>
            <a:pPr marL="0" indent="0">
              <a:spcBef>
                <a:spcPts val="0"/>
              </a:spcBef>
              <a:buNone/>
            </a:pPr>
            <a:r>
              <a:rPr lang="en-US" sz="2200" dirty="0"/>
              <a:t>“A sluggard buries his hand in the dish;</a:t>
            </a:r>
            <a:br>
              <a:rPr lang="en-US" sz="2200" dirty="0"/>
            </a:br>
            <a:r>
              <a:rPr lang="en-US" sz="2200" dirty="0"/>
              <a:t>    he will not even bring it back to his mouth!” </a:t>
            </a:r>
          </a:p>
          <a:p>
            <a:pPr marL="0" indent="0">
              <a:spcBef>
                <a:spcPts val="0"/>
              </a:spcBef>
              <a:buNone/>
            </a:pPr>
            <a:r>
              <a:rPr lang="en-US" sz="2200" b="1" dirty="0"/>
              <a:t>Prov 19:24</a:t>
            </a:r>
          </a:p>
          <a:p>
            <a:pPr marL="0" indent="0">
              <a:buNone/>
            </a:pPr>
            <a:r>
              <a:rPr lang="en-US" sz="2200" dirty="0"/>
              <a:t>“The lips of the adulterous woman drip honey,</a:t>
            </a:r>
            <a:br>
              <a:rPr lang="en-US" sz="2200" dirty="0"/>
            </a:br>
            <a:r>
              <a:rPr lang="en-US" sz="2200" dirty="0"/>
              <a:t>    and her speech is smoother than oil;</a:t>
            </a:r>
            <a:br>
              <a:rPr lang="en-US" sz="2200" dirty="0"/>
            </a:br>
            <a:r>
              <a:rPr lang="en-US" sz="2200" dirty="0"/>
              <a:t>but in the end she is bitter as gall,</a:t>
            </a:r>
            <a:br>
              <a:rPr lang="en-US" sz="2200" dirty="0"/>
            </a:br>
            <a:r>
              <a:rPr lang="en-US" sz="2200" dirty="0"/>
              <a:t>    sharp as a double-edged sword.</a:t>
            </a:r>
            <a:br>
              <a:rPr lang="en-US" sz="2200" dirty="0"/>
            </a:br>
            <a:r>
              <a:rPr lang="en-US" sz="2200" dirty="0"/>
              <a:t>Her feet go down to death;</a:t>
            </a:r>
            <a:br>
              <a:rPr lang="en-US" sz="2200" dirty="0"/>
            </a:br>
            <a:r>
              <a:rPr lang="en-US" sz="2200" dirty="0"/>
              <a:t>    her steps lead straight to the grave.”</a:t>
            </a:r>
          </a:p>
          <a:p>
            <a:pPr marL="0" indent="0">
              <a:buNone/>
            </a:pPr>
            <a:r>
              <a:rPr lang="en-US" sz="2200" dirty="0"/>
              <a:t>“Keep to a path far from her,</a:t>
            </a:r>
            <a:br>
              <a:rPr lang="en-US" sz="2200" dirty="0"/>
            </a:br>
            <a:r>
              <a:rPr lang="en-US" sz="2200" dirty="0"/>
              <a:t>    do not go near the door of her house,” </a:t>
            </a:r>
          </a:p>
          <a:p>
            <a:pPr marL="0" indent="0">
              <a:buNone/>
            </a:pPr>
            <a:r>
              <a:rPr lang="en-US" sz="2200" dirty="0"/>
              <a:t>“lest strangers feast on your wealth</a:t>
            </a:r>
            <a:br>
              <a:rPr lang="en-US" sz="2200" dirty="0"/>
            </a:br>
            <a:r>
              <a:rPr lang="en-US" sz="2200" dirty="0"/>
              <a:t>    and your toil enrich the house of another.” </a:t>
            </a:r>
          </a:p>
          <a:p>
            <a:pPr marL="0" indent="0">
              <a:spcBef>
                <a:spcPts val="0"/>
              </a:spcBef>
              <a:buNone/>
            </a:pPr>
            <a:r>
              <a:rPr lang="en-US" sz="2200" b="1" dirty="0"/>
              <a:t>Prov 5:3-5, 8, 10</a:t>
            </a:r>
          </a:p>
        </p:txBody>
      </p:sp>
      <p:sp>
        <p:nvSpPr>
          <p:cNvPr id="30" name="Rectangle 29">
            <a:extLst>
              <a:ext uri="{FF2B5EF4-FFF2-40B4-BE49-F238E27FC236}">
                <a16:creationId xmlns:a16="http://schemas.microsoft.com/office/drawing/2014/main" id="{4138A4CC-4F1B-027A-F829-3DD04AAADF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E05F66B-4A3F-3563-F8FD-A33C6AB41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wer Icon Watchtower Black Silhouette Front Stock Vector (Royalty Free)  2571768335 | Shutterstock">
            <a:extLst>
              <a:ext uri="{FF2B5EF4-FFF2-40B4-BE49-F238E27FC236}">
                <a16:creationId xmlns:a16="http://schemas.microsoft.com/office/drawing/2014/main" id="{860D169D-2581-52B9-4119-351D77568C2C}"/>
              </a:ext>
            </a:extLst>
          </p:cNvPr>
          <p:cNvPicPr>
            <a:picLocks noChangeAspect="1"/>
          </p:cNvPicPr>
          <p:nvPr/>
        </p:nvPicPr>
        <p:blipFill>
          <a:blip r:embed="rId3"/>
          <a:srcRect l="27192" t="8346" r="27290" b="20761"/>
          <a:stretch>
            <a:fillRect/>
          </a:stretch>
        </p:blipFill>
        <p:spPr>
          <a:xfrm flipH="1">
            <a:off x="4940939" y="80512"/>
            <a:ext cx="753480" cy="888793"/>
          </a:xfrm>
          <a:prstGeom prst="rect">
            <a:avLst/>
          </a:prstGeom>
        </p:spPr>
      </p:pic>
      <p:pic>
        <p:nvPicPr>
          <p:cNvPr id="6" name="Picture 5" descr="Climate change - Wikipedia">
            <a:extLst>
              <a:ext uri="{FF2B5EF4-FFF2-40B4-BE49-F238E27FC236}">
                <a16:creationId xmlns:a16="http://schemas.microsoft.com/office/drawing/2014/main" id="{8425B34B-A09E-F03D-B541-B2BEEB387244}"/>
              </a:ext>
            </a:extLst>
          </p:cNvPr>
          <p:cNvPicPr>
            <a:picLocks noChangeAspect="1"/>
          </p:cNvPicPr>
          <p:nvPr/>
        </p:nvPicPr>
        <p:blipFill>
          <a:blip r:embed="rId4"/>
          <a:stretch>
            <a:fillRect/>
          </a:stretch>
        </p:blipFill>
        <p:spPr>
          <a:xfrm>
            <a:off x="5694419" y="316376"/>
            <a:ext cx="6383098" cy="5744791"/>
          </a:xfrm>
          <a:prstGeom prst="rect">
            <a:avLst/>
          </a:prstGeom>
        </p:spPr>
      </p:pic>
    </p:spTree>
    <p:extLst>
      <p:ext uri="{BB962C8B-B14F-4D97-AF65-F5344CB8AC3E}">
        <p14:creationId xmlns:p14="http://schemas.microsoft.com/office/powerpoint/2010/main" val="247504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ABCF221DF66F4BAFA034BA35BF48E5" ma:contentTypeVersion="11" ma:contentTypeDescription="Create a new document." ma:contentTypeScope="" ma:versionID="1f68ebaae12c5cdd2d2dd231d0052349">
  <xsd:schema xmlns:xsd="http://www.w3.org/2001/XMLSchema" xmlns:xs="http://www.w3.org/2001/XMLSchema" xmlns:p="http://schemas.microsoft.com/office/2006/metadata/properties" xmlns:ns2="df69e7c9-7a85-4557-ad4b-bb9c61f2aa84" xmlns:ns3="f3a22fc5-17bc-4b8f-a931-451f88decb4c" targetNamespace="http://schemas.microsoft.com/office/2006/metadata/properties" ma:root="true" ma:fieldsID="caf5c03194303248b20d099e866b18b6" ns2:_="" ns3:_="">
    <xsd:import namespace="df69e7c9-7a85-4557-ad4b-bb9c61f2aa84"/>
    <xsd:import namespace="f3a22fc5-17bc-4b8f-a931-451f88decb4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Locatio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9e7c9-7a85-4557-ad4b-bb9c61f2aa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2067c9e-f923-43ba-96c1-c4e5739a23e0" ma:termSetId="09814cd3-568e-fe90-9814-8d621ff8fb84" ma:anchorId="fba54fb3-c3e1-fe81-a776-ca4b69148c4d" ma:open="true" ma:isKeyword="false">
      <xsd:complexType>
        <xsd:sequence>
          <xsd:element ref="pc:Terms" minOccurs="0" maxOccurs="1"/>
        </xsd:sequence>
      </xsd:complexType>
    </xsd:element>
    <xsd:element name="MediaServiceLocation" ma:index="15" nillable="true" ma:displayName="Location" ma:indexed="true"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a22fc5-17bc-4b8f-a931-451f88decb4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0220d5b-0a54-4216-8993-e4ae13d73319}" ma:internalName="TaxCatchAll" ma:showField="CatchAllData" ma:web="f3a22fc5-17bc-4b8f-a931-451f88decb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3a22fc5-17bc-4b8f-a931-451f88decb4c" xsi:nil="true"/>
    <lcf76f155ced4ddcb4097134ff3c332f xmlns="df69e7c9-7a85-4557-ad4b-bb9c61f2aa84">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1C80BC-0C43-4B21-8529-657DF2EC30AB}">
  <ds:schemaRefs>
    <ds:schemaRef ds:uri="df69e7c9-7a85-4557-ad4b-bb9c61f2aa84"/>
    <ds:schemaRef ds:uri="f3a22fc5-17bc-4b8f-a931-451f88decb4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2D9EDC3-67DE-4ED6-BEB9-E594E27BE208}">
  <ds:schemaRefs>
    <ds:schemaRef ds:uri="http://purl.org/dc/elements/1.1/"/>
    <ds:schemaRef ds:uri="http://purl.org/dc/terms/"/>
    <ds:schemaRef ds:uri="http://purl.org/dc/dcmitype/"/>
    <ds:schemaRef ds:uri="http://schemas.microsoft.com/office/2006/documentManagement/types"/>
    <ds:schemaRef ds:uri="http://www.w3.org/XML/1998/namespace"/>
    <ds:schemaRef ds:uri="http://schemas.microsoft.com/office/infopath/2007/PartnerControls"/>
    <ds:schemaRef ds:uri="f3a22fc5-17bc-4b8f-a931-451f88decb4c"/>
    <ds:schemaRef ds:uri="http://schemas.openxmlformats.org/package/2006/metadata/core-properties"/>
    <ds:schemaRef ds:uri="df69e7c9-7a85-4557-ad4b-bb9c61f2aa84"/>
    <ds:schemaRef ds:uri="http://schemas.microsoft.com/office/2006/metadata/properties"/>
  </ds:schemaRefs>
</ds:datastoreItem>
</file>

<file path=customXml/itemProps3.xml><?xml version="1.0" encoding="utf-8"?>
<ds:datastoreItem xmlns:ds="http://schemas.openxmlformats.org/officeDocument/2006/customXml" ds:itemID="{FAB27721-FE52-4483-9E05-B64860DA02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3863</TotalTime>
  <Words>3021</Words>
  <Application>Microsoft Office PowerPoint</Application>
  <PresentationFormat>Widescreen</PresentationFormat>
  <Paragraphs>314</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Emissions, impacts, and embodiment</vt:lpstr>
      <vt:lpstr>Biblical Wisdom</vt:lpstr>
      <vt:lpstr>Biblical Wisdom</vt:lpstr>
      <vt:lpstr>Biblical Wisdom</vt:lpstr>
      <vt:lpstr>AI is Embodied</vt:lpstr>
      <vt:lpstr>PowerPoint Presentation</vt:lpstr>
      <vt:lpstr>PowerPoint Presentation</vt:lpstr>
      <vt:lpstr>Number of US  data centers</vt:lpstr>
      <vt:lpstr>PowerPoint Presentation</vt:lpstr>
      <vt:lpstr>Net effect of AI on environment depends on economy</vt:lpstr>
      <vt:lpstr>Prudential Wisdom</vt:lpstr>
      <vt:lpstr>Prudential Wisdom</vt:lpstr>
      <vt:lpstr>Prudential Wisdom</vt:lpstr>
      <vt:lpstr>Prudential Wisdom</vt:lpstr>
      <vt:lpstr>Prudential Wisdom</vt:lpstr>
      <vt:lpstr>Prudential Wisdom</vt:lpstr>
      <vt:lpstr>Discernment</vt:lpstr>
      <vt:lpstr>Discernment</vt:lpstr>
      <vt:lpstr>Self-control</vt:lpstr>
      <vt:lpstr>Self-control</vt:lpstr>
      <vt:lpstr>Self-control</vt:lpstr>
      <vt:lpstr>Self-control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VanAntwerp</dc:creator>
  <cp:lastModifiedBy>Jeremy VanAntwerp</cp:lastModifiedBy>
  <cp:revision>3</cp:revision>
  <dcterms:created xsi:type="dcterms:W3CDTF">2026-07-24T13:15:57Z</dcterms:created>
  <dcterms:modified xsi:type="dcterms:W3CDTF">2026-10-07T20:49:22Z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0x0101006FABCF221DF66F4BAFA034BA35BF48E5</vt:lpwstr>
  </property>
  <property fmtid="{D5CDD505-2E9C-101B-9397-08002B2CF9AE}" pid="3" name="MediaServiceImageTags">
    <vt:lpwstr/>
  </property>
</Properties>
</file>