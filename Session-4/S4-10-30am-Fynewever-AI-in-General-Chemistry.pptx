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25"/>
  </p:normalViewPr>
  <p:slideViewPr>
    <p:cSldViewPr snapToGrid="0">
      <p:cViewPr varScale="1">
        <p:scale>
          <a:sx n="88" d="100"/>
          <a:sy n="88" d="100"/>
        </p:scale>
        <p:origin x="176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C5B985A-F377-42C5-B839-D273174A588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0811F01-9635-4C70-AA47-A3F851F61000}">
      <dgm:prSet/>
      <dgm:spPr/>
      <dgm:t>
        <a:bodyPr/>
        <a:lstStyle/>
        <a:p>
          <a:r>
            <a:rPr lang="en-US"/>
            <a:t>Repeated testing outperforms repeated study for long-term retention</a:t>
          </a:r>
        </a:p>
      </dgm:t>
    </dgm:pt>
    <dgm:pt modelId="{816D5BB8-EF8E-4ABB-AD10-9AF6C5D2149D}" type="parTrans" cxnId="{BEF07369-D45E-4ED9-BA8B-F3E15D7BF5FB}">
      <dgm:prSet/>
      <dgm:spPr/>
      <dgm:t>
        <a:bodyPr/>
        <a:lstStyle/>
        <a:p>
          <a:endParaRPr lang="en-US"/>
        </a:p>
      </dgm:t>
    </dgm:pt>
    <dgm:pt modelId="{FF03AA9F-7783-4DAD-846E-9F33A11508D0}" type="sibTrans" cxnId="{BEF07369-D45E-4ED9-BA8B-F3E15D7BF5FB}">
      <dgm:prSet/>
      <dgm:spPr/>
      <dgm:t>
        <a:bodyPr/>
        <a:lstStyle/>
        <a:p>
          <a:endParaRPr lang="en-US"/>
        </a:p>
      </dgm:t>
    </dgm:pt>
    <dgm:pt modelId="{400425A7-CE78-4E25-BF4B-23669B5AF0A4}">
      <dgm:prSet/>
      <dgm:spPr/>
      <dgm:t>
        <a:bodyPr/>
        <a:lstStyle/>
        <a:p>
          <a:r>
            <a:rPr lang="en-US"/>
            <a:t>Benefits persist over days to weeks</a:t>
          </a:r>
        </a:p>
      </dgm:t>
    </dgm:pt>
    <dgm:pt modelId="{D1CCDD76-CBFB-45C1-A14B-6E4A8F1C57F3}" type="parTrans" cxnId="{C8CBE052-C1C5-40B2-BD09-413D56C5EF8B}">
      <dgm:prSet/>
      <dgm:spPr/>
      <dgm:t>
        <a:bodyPr/>
        <a:lstStyle/>
        <a:p>
          <a:endParaRPr lang="en-US"/>
        </a:p>
      </dgm:t>
    </dgm:pt>
    <dgm:pt modelId="{61DE5AE5-16C9-44DB-B6AD-D619BC714320}" type="sibTrans" cxnId="{C8CBE052-C1C5-40B2-BD09-413D56C5EF8B}">
      <dgm:prSet/>
      <dgm:spPr/>
      <dgm:t>
        <a:bodyPr/>
        <a:lstStyle/>
        <a:p>
          <a:endParaRPr lang="en-US"/>
        </a:p>
      </dgm:t>
    </dgm:pt>
    <dgm:pt modelId="{98B21B9B-A8D2-4FEE-95DA-673E0F8A2104}">
      <dgm:prSet/>
      <dgm:spPr/>
      <dgm:t>
        <a:bodyPr/>
        <a:lstStyle/>
        <a:p>
          <a:r>
            <a:rPr lang="en-US"/>
            <a:t>Retrieval improves conceptual understanding, not just recall</a:t>
          </a:r>
        </a:p>
      </dgm:t>
    </dgm:pt>
    <dgm:pt modelId="{DDC5E508-52B5-4959-B8F6-F28B0F516D1D}" type="parTrans" cxnId="{671C735A-8527-4643-A23F-7B279FD91FE0}">
      <dgm:prSet/>
      <dgm:spPr/>
      <dgm:t>
        <a:bodyPr/>
        <a:lstStyle/>
        <a:p>
          <a:endParaRPr lang="en-US"/>
        </a:p>
      </dgm:t>
    </dgm:pt>
    <dgm:pt modelId="{D82D3F0F-6889-4928-8575-DFD34D1CB29D}" type="sibTrans" cxnId="{671C735A-8527-4643-A23F-7B279FD91FE0}">
      <dgm:prSet/>
      <dgm:spPr/>
      <dgm:t>
        <a:bodyPr/>
        <a:lstStyle/>
        <a:p>
          <a:endParaRPr lang="en-US"/>
        </a:p>
      </dgm:t>
    </dgm:pt>
    <dgm:pt modelId="{2033CE6A-0ADA-4B83-9306-2A413AD94D68}">
      <dgm:prSet/>
      <dgm:spPr/>
      <dgm:t>
        <a:bodyPr/>
        <a:lstStyle/>
        <a:p>
          <a:r>
            <a:rPr lang="en-US"/>
            <a:t>Example of “desirable difficulty”</a:t>
          </a:r>
        </a:p>
      </dgm:t>
    </dgm:pt>
    <dgm:pt modelId="{F846FF7D-DE7A-4F3C-B24A-16516C8DD314}" type="parTrans" cxnId="{F1E3EDB5-F4A2-4B2C-9E1A-B5DFB9C52963}">
      <dgm:prSet/>
      <dgm:spPr/>
      <dgm:t>
        <a:bodyPr/>
        <a:lstStyle/>
        <a:p>
          <a:endParaRPr lang="en-US"/>
        </a:p>
      </dgm:t>
    </dgm:pt>
    <dgm:pt modelId="{23E91DDA-4BF4-4261-8FCD-B9C73B9BBFF9}" type="sibTrans" cxnId="{F1E3EDB5-F4A2-4B2C-9E1A-B5DFB9C52963}">
      <dgm:prSet/>
      <dgm:spPr/>
      <dgm:t>
        <a:bodyPr/>
        <a:lstStyle/>
        <a:p>
          <a:endParaRPr lang="en-US"/>
        </a:p>
      </dgm:t>
    </dgm:pt>
    <dgm:pt modelId="{FCE0295C-DF56-A843-82FB-512759D91A31}" type="pres">
      <dgm:prSet presAssocID="{DC5B985A-F377-42C5-B839-D273174A588C}" presName="vert0" presStyleCnt="0">
        <dgm:presLayoutVars>
          <dgm:dir/>
          <dgm:animOne val="branch"/>
          <dgm:animLvl val="lvl"/>
        </dgm:presLayoutVars>
      </dgm:prSet>
      <dgm:spPr/>
    </dgm:pt>
    <dgm:pt modelId="{769B77AC-EBA8-CD45-9559-CF28012716C4}" type="pres">
      <dgm:prSet presAssocID="{90811F01-9635-4C70-AA47-A3F851F61000}" presName="thickLine" presStyleLbl="alignNode1" presStyleIdx="0" presStyleCnt="4"/>
      <dgm:spPr/>
    </dgm:pt>
    <dgm:pt modelId="{4DE10502-8BBD-7847-8D29-8C32A2C05AED}" type="pres">
      <dgm:prSet presAssocID="{90811F01-9635-4C70-AA47-A3F851F61000}" presName="horz1" presStyleCnt="0"/>
      <dgm:spPr/>
    </dgm:pt>
    <dgm:pt modelId="{27C8DC54-4FD2-7049-A893-784E59162873}" type="pres">
      <dgm:prSet presAssocID="{90811F01-9635-4C70-AA47-A3F851F61000}" presName="tx1" presStyleLbl="revTx" presStyleIdx="0" presStyleCnt="4"/>
      <dgm:spPr/>
    </dgm:pt>
    <dgm:pt modelId="{50FA8FAD-C4DD-CB45-91F0-5F2B7A649FEC}" type="pres">
      <dgm:prSet presAssocID="{90811F01-9635-4C70-AA47-A3F851F61000}" presName="vert1" presStyleCnt="0"/>
      <dgm:spPr/>
    </dgm:pt>
    <dgm:pt modelId="{F7CB9C0B-01E8-EB49-9D90-314A26180D22}" type="pres">
      <dgm:prSet presAssocID="{400425A7-CE78-4E25-BF4B-23669B5AF0A4}" presName="thickLine" presStyleLbl="alignNode1" presStyleIdx="1" presStyleCnt="4"/>
      <dgm:spPr/>
    </dgm:pt>
    <dgm:pt modelId="{38D6D49B-FBE5-324D-8514-7397E02859BA}" type="pres">
      <dgm:prSet presAssocID="{400425A7-CE78-4E25-BF4B-23669B5AF0A4}" presName="horz1" presStyleCnt="0"/>
      <dgm:spPr/>
    </dgm:pt>
    <dgm:pt modelId="{4F131081-9C34-E54D-AB26-EFB47BEAF8A4}" type="pres">
      <dgm:prSet presAssocID="{400425A7-CE78-4E25-BF4B-23669B5AF0A4}" presName="tx1" presStyleLbl="revTx" presStyleIdx="1" presStyleCnt="4"/>
      <dgm:spPr/>
    </dgm:pt>
    <dgm:pt modelId="{61244500-6127-0240-8A0D-F39CC338D849}" type="pres">
      <dgm:prSet presAssocID="{400425A7-CE78-4E25-BF4B-23669B5AF0A4}" presName="vert1" presStyleCnt="0"/>
      <dgm:spPr/>
    </dgm:pt>
    <dgm:pt modelId="{24478D5D-5AD1-DF45-875E-86147CACC916}" type="pres">
      <dgm:prSet presAssocID="{98B21B9B-A8D2-4FEE-95DA-673E0F8A2104}" presName="thickLine" presStyleLbl="alignNode1" presStyleIdx="2" presStyleCnt="4"/>
      <dgm:spPr/>
    </dgm:pt>
    <dgm:pt modelId="{D469DCA0-4A3F-BC47-A55E-D30729BA0772}" type="pres">
      <dgm:prSet presAssocID="{98B21B9B-A8D2-4FEE-95DA-673E0F8A2104}" presName="horz1" presStyleCnt="0"/>
      <dgm:spPr/>
    </dgm:pt>
    <dgm:pt modelId="{FF4A2D5E-6252-E946-A494-3999F2952C95}" type="pres">
      <dgm:prSet presAssocID="{98B21B9B-A8D2-4FEE-95DA-673E0F8A2104}" presName="tx1" presStyleLbl="revTx" presStyleIdx="2" presStyleCnt="4"/>
      <dgm:spPr/>
    </dgm:pt>
    <dgm:pt modelId="{C5E7D417-C853-B846-8259-FCEA03A09450}" type="pres">
      <dgm:prSet presAssocID="{98B21B9B-A8D2-4FEE-95DA-673E0F8A2104}" presName="vert1" presStyleCnt="0"/>
      <dgm:spPr/>
    </dgm:pt>
    <dgm:pt modelId="{44A9CA2D-383F-9F49-AF7F-541AB1E954AB}" type="pres">
      <dgm:prSet presAssocID="{2033CE6A-0ADA-4B83-9306-2A413AD94D68}" presName="thickLine" presStyleLbl="alignNode1" presStyleIdx="3" presStyleCnt="4"/>
      <dgm:spPr/>
    </dgm:pt>
    <dgm:pt modelId="{6B2FDB51-628E-2442-9F7D-E274C795854D}" type="pres">
      <dgm:prSet presAssocID="{2033CE6A-0ADA-4B83-9306-2A413AD94D68}" presName="horz1" presStyleCnt="0"/>
      <dgm:spPr/>
    </dgm:pt>
    <dgm:pt modelId="{63465494-CDB0-4048-A41B-5A7151174A8E}" type="pres">
      <dgm:prSet presAssocID="{2033CE6A-0ADA-4B83-9306-2A413AD94D68}" presName="tx1" presStyleLbl="revTx" presStyleIdx="3" presStyleCnt="4"/>
      <dgm:spPr/>
    </dgm:pt>
    <dgm:pt modelId="{24604DA6-64BA-BF48-9CBC-8AB202AECEA0}" type="pres">
      <dgm:prSet presAssocID="{2033CE6A-0ADA-4B83-9306-2A413AD94D68}" presName="vert1" presStyleCnt="0"/>
      <dgm:spPr/>
    </dgm:pt>
  </dgm:ptLst>
  <dgm:cxnLst>
    <dgm:cxn modelId="{92AC034A-C5A5-C147-AB7E-31996A1D882D}" type="presOf" srcId="{98B21B9B-A8D2-4FEE-95DA-673E0F8A2104}" destId="{FF4A2D5E-6252-E946-A494-3999F2952C95}" srcOrd="0" destOrd="0" presId="urn:microsoft.com/office/officeart/2008/layout/LinedList"/>
    <dgm:cxn modelId="{C8CBE052-C1C5-40B2-BD09-413D56C5EF8B}" srcId="{DC5B985A-F377-42C5-B839-D273174A588C}" destId="{400425A7-CE78-4E25-BF4B-23669B5AF0A4}" srcOrd="1" destOrd="0" parTransId="{D1CCDD76-CBFB-45C1-A14B-6E4A8F1C57F3}" sibTransId="{61DE5AE5-16C9-44DB-B6AD-D619BC714320}"/>
    <dgm:cxn modelId="{671C735A-8527-4643-A23F-7B279FD91FE0}" srcId="{DC5B985A-F377-42C5-B839-D273174A588C}" destId="{98B21B9B-A8D2-4FEE-95DA-673E0F8A2104}" srcOrd="2" destOrd="0" parTransId="{DDC5E508-52B5-4959-B8F6-F28B0F516D1D}" sibTransId="{D82D3F0F-6889-4928-8575-DFD34D1CB29D}"/>
    <dgm:cxn modelId="{BEF07369-D45E-4ED9-BA8B-F3E15D7BF5FB}" srcId="{DC5B985A-F377-42C5-B839-D273174A588C}" destId="{90811F01-9635-4C70-AA47-A3F851F61000}" srcOrd="0" destOrd="0" parTransId="{816D5BB8-EF8E-4ABB-AD10-9AF6C5D2149D}" sibTransId="{FF03AA9F-7783-4DAD-846E-9F33A11508D0}"/>
    <dgm:cxn modelId="{34C18771-E740-0E41-8D6B-304AEE1BDE82}" type="presOf" srcId="{90811F01-9635-4C70-AA47-A3F851F61000}" destId="{27C8DC54-4FD2-7049-A893-784E59162873}" srcOrd="0" destOrd="0" presId="urn:microsoft.com/office/officeart/2008/layout/LinedList"/>
    <dgm:cxn modelId="{F0E7C69D-0CBB-8646-9FA5-55CEA6E5479B}" type="presOf" srcId="{2033CE6A-0ADA-4B83-9306-2A413AD94D68}" destId="{63465494-CDB0-4048-A41B-5A7151174A8E}" srcOrd="0" destOrd="0" presId="urn:microsoft.com/office/officeart/2008/layout/LinedList"/>
    <dgm:cxn modelId="{0A7146A3-BE17-134C-A9FC-007F9288EB7E}" type="presOf" srcId="{DC5B985A-F377-42C5-B839-D273174A588C}" destId="{FCE0295C-DF56-A843-82FB-512759D91A31}" srcOrd="0" destOrd="0" presId="urn:microsoft.com/office/officeart/2008/layout/LinedList"/>
    <dgm:cxn modelId="{F1E3EDB5-F4A2-4B2C-9E1A-B5DFB9C52963}" srcId="{DC5B985A-F377-42C5-B839-D273174A588C}" destId="{2033CE6A-0ADA-4B83-9306-2A413AD94D68}" srcOrd="3" destOrd="0" parTransId="{F846FF7D-DE7A-4F3C-B24A-16516C8DD314}" sibTransId="{23E91DDA-4BF4-4261-8FCD-B9C73B9BBFF9}"/>
    <dgm:cxn modelId="{93CF4DCF-65F8-1044-9B11-96C8E8894343}" type="presOf" srcId="{400425A7-CE78-4E25-BF4B-23669B5AF0A4}" destId="{4F131081-9C34-E54D-AB26-EFB47BEAF8A4}" srcOrd="0" destOrd="0" presId="urn:microsoft.com/office/officeart/2008/layout/LinedList"/>
    <dgm:cxn modelId="{6B1262A4-6ED3-0B47-8D47-2C67A521C933}" type="presParOf" srcId="{FCE0295C-DF56-A843-82FB-512759D91A31}" destId="{769B77AC-EBA8-CD45-9559-CF28012716C4}" srcOrd="0" destOrd="0" presId="urn:microsoft.com/office/officeart/2008/layout/LinedList"/>
    <dgm:cxn modelId="{41811BD3-E729-0D4E-A339-D02C838688C1}" type="presParOf" srcId="{FCE0295C-DF56-A843-82FB-512759D91A31}" destId="{4DE10502-8BBD-7847-8D29-8C32A2C05AED}" srcOrd="1" destOrd="0" presId="urn:microsoft.com/office/officeart/2008/layout/LinedList"/>
    <dgm:cxn modelId="{7AFE1AF3-CA8D-F945-ACB9-400723AE07AE}" type="presParOf" srcId="{4DE10502-8BBD-7847-8D29-8C32A2C05AED}" destId="{27C8DC54-4FD2-7049-A893-784E59162873}" srcOrd="0" destOrd="0" presId="urn:microsoft.com/office/officeart/2008/layout/LinedList"/>
    <dgm:cxn modelId="{342DEC4E-BE31-7948-B228-F981ACF97660}" type="presParOf" srcId="{4DE10502-8BBD-7847-8D29-8C32A2C05AED}" destId="{50FA8FAD-C4DD-CB45-91F0-5F2B7A649FEC}" srcOrd="1" destOrd="0" presId="urn:microsoft.com/office/officeart/2008/layout/LinedList"/>
    <dgm:cxn modelId="{DF4A344E-0A4D-CF48-8029-9C25EA775144}" type="presParOf" srcId="{FCE0295C-DF56-A843-82FB-512759D91A31}" destId="{F7CB9C0B-01E8-EB49-9D90-314A26180D22}" srcOrd="2" destOrd="0" presId="urn:microsoft.com/office/officeart/2008/layout/LinedList"/>
    <dgm:cxn modelId="{087FB373-A891-9149-9CDF-49E3E93AAC1A}" type="presParOf" srcId="{FCE0295C-DF56-A843-82FB-512759D91A31}" destId="{38D6D49B-FBE5-324D-8514-7397E02859BA}" srcOrd="3" destOrd="0" presId="urn:microsoft.com/office/officeart/2008/layout/LinedList"/>
    <dgm:cxn modelId="{44BEC742-1CB9-854A-BA36-51521D71F144}" type="presParOf" srcId="{38D6D49B-FBE5-324D-8514-7397E02859BA}" destId="{4F131081-9C34-E54D-AB26-EFB47BEAF8A4}" srcOrd="0" destOrd="0" presId="urn:microsoft.com/office/officeart/2008/layout/LinedList"/>
    <dgm:cxn modelId="{33498EEF-16F8-DE41-82C2-8B175C032A56}" type="presParOf" srcId="{38D6D49B-FBE5-324D-8514-7397E02859BA}" destId="{61244500-6127-0240-8A0D-F39CC338D849}" srcOrd="1" destOrd="0" presId="urn:microsoft.com/office/officeart/2008/layout/LinedList"/>
    <dgm:cxn modelId="{90230AD1-E59A-644B-9152-DAFCFC698CE3}" type="presParOf" srcId="{FCE0295C-DF56-A843-82FB-512759D91A31}" destId="{24478D5D-5AD1-DF45-875E-86147CACC916}" srcOrd="4" destOrd="0" presId="urn:microsoft.com/office/officeart/2008/layout/LinedList"/>
    <dgm:cxn modelId="{5FC5B785-B323-C549-BFD9-89F8A1F21916}" type="presParOf" srcId="{FCE0295C-DF56-A843-82FB-512759D91A31}" destId="{D469DCA0-4A3F-BC47-A55E-D30729BA0772}" srcOrd="5" destOrd="0" presId="urn:microsoft.com/office/officeart/2008/layout/LinedList"/>
    <dgm:cxn modelId="{5F3FE4BA-1BD6-B840-AC92-0C4E0F3EDA15}" type="presParOf" srcId="{D469DCA0-4A3F-BC47-A55E-D30729BA0772}" destId="{FF4A2D5E-6252-E946-A494-3999F2952C95}" srcOrd="0" destOrd="0" presId="urn:microsoft.com/office/officeart/2008/layout/LinedList"/>
    <dgm:cxn modelId="{4AE9D90F-0EF7-A844-8197-2915C23B8DD1}" type="presParOf" srcId="{D469DCA0-4A3F-BC47-A55E-D30729BA0772}" destId="{C5E7D417-C853-B846-8259-FCEA03A09450}" srcOrd="1" destOrd="0" presId="urn:microsoft.com/office/officeart/2008/layout/LinedList"/>
    <dgm:cxn modelId="{DDB46E83-A808-B043-A26C-BB68A7D74D3F}" type="presParOf" srcId="{FCE0295C-DF56-A843-82FB-512759D91A31}" destId="{44A9CA2D-383F-9F49-AF7F-541AB1E954AB}" srcOrd="6" destOrd="0" presId="urn:microsoft.com/office/officeart/2008/layout/LinedList"/>
    <dgm:cxn modelId="{A6636A67-8D1C-1745-905D-0D2EF8FEBD9A}" type="presParOf" srcId="{FCE0295C-DF56-A843-82FB-512759D91A31}" destId="{6B2FDB51-628E-2442-9F7D-E274C795854D}" srcOrd="7" destOrd="0" presId="urn:microsoft.com/office/officeart/2008/layout/LinedList"/>
    <dgm:cxn modelId="{282C277F-AEFC-D94D-8747-369AD10EE913}" type="presParOf" srcId="{6B2FDB51-628E-2442-9F7D-E274C795854D}" destId="{63465494-CDB0-4048-A41B-5A7151174A8E}" srcOrd="0" destOrd="0" presId="urn:microsoft.com/office/officeart/2008/layout/LinedList"/>
    <dgm:cxn modelId="{38ACAAB4-7C1C-BA47-90AB-C9FEDE8BD141}" type="presParOf" srcId="{6B2FDB51-628E-2442-9F7D-E274C795854D}" destId="{24604DA6-64BA-BF48-9CBC-8AB202AECEA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9B77AC-EBA8-CD45-9559-CF28012716C4}">
      <dsp:nvSpPr>
        <dsp:cNvPr id="0" name=""/>
        <dsp:cNvSpPr/>
      </dsp:nvSpPr>
      <dsp:spPr>
        <a:xfrm>
          <a:off x="0" y="0"/>
          <a:ext cx="614173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C8DC54-4FD2-7049-A893-784E59162873}">
      <dsp:nvSpPr>
        <dsp:cNvPr id="0" name=""/>
        <dsp:cNvSpPr/>
      </dsp:nvSpPr>
      <dsp:spPr>
        <a:xfrm>
          <a:off x="0" y="0"/>
          <a:ext cx="6141734" cy="1328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Repeated testing outperforms repeated study for long-term retention</a:t>
          </a:r>
        </a:p>
      </dsp:txBody>
      <dsp:txXfrm>
        <a:off x="0" y="0"/>
        <a:ext cx="6141734" cy="1328671"/>
      </dsp:txXfrm>
    </dsp:sp>
    <dsp:sp modelId="{F7CB9C0B-01E8-EB49-9D90-314A26180D22}">
      <dsp:nvSpPr>
        <dsp:cNvPr id="0" name=""/>
        <dsp:cNvSpPr/>
      </dsp:nvSpPr>
      <dsp:spPr>
        <a:xfrm>
          <a:off x="0" y="1328671"/>
          <a:ext cx="614173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131081-9C34-E54D-AB26-EFB47BEAF8A4}">
      <dsp:nvSpPr>
        <dsp:cNvPr id="0" name=""/>
        <dsp:cNvSpPr/>
      </dsp:nvSpPr>
      <dsp:spPr>
        <a:xfrm>
          <a:off x="0" y="1328671"/>
          <a:ext cx="6141734" cy="1328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Benefits persist over days to weeks</a:t>
          </a:r>
        </a:p>
      </dsp:txBody>
      <dsp:txXfrm>
        <a:off x="0" y="1328671"/>
        <a:ext cx="6141734" cy="1328671"/>
      </dsp:txXfrm>
    </dsp:sp>
    <dsp:sp modelId="{24478D5D-5AD1-DF45-875E-86147CACC916}">
      <dsp:nvSpPr>
        <dsp:cNvPr id="0" name=""/>
        <dsp:cNvSpPr/>
      </dsp:nvSpPr>
      <dsp:spPr>
        <a:xfrm>
          <a:off x="0" y="2657342"/>
          <a:ext cx="614173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4A2D5E-6252-E946-A494-3999F2952C95}">
      <dsp:nvSpPr>
        <dsp:cNvPr id="0" name=""/>
        <dsp:cNvSpPr/>
      </dsp:nvSpPr>
      <dsp:spPr>
        <a:xfrm>
          <a:off x="0" y="2657342"/>
          <a:ext cx="6141734" cy="1328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Retrieval improves conceptual understanding, not just recall</a:t>
          </a:r>
        </a:p>
      </dsp:txBody>
      <dsp:txXfrm>
        <a:off x="0" y="2657342"/>
        <a:ext cx="6141734" cy="1328671"/>
      </dsp:txXfrm>
    </dsp:sp>
    <dsp:sp modelId="{44A9CA2D-383F-9F49-AF7F-541AB1E954AB}">
      <dsp:nvSpPr>
        <dsp:cNvPr id="0" name=""/>
        <dsp:cNvSpPr/>
      </dsp:nvSpPr>
      <dsp:spPr>
        <a:xfrm>
          <a:off x="0" y="3986014"/>
          <a:ext cx="614173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465494-CDB0-4048-A41B-5A7151174A8E}">
      <dsp:nvSpPr>
        <dsp:cNvPr id="0" name=""/>
        <dsp:cNvSpPr/>
      </dsp:nvSpPr>
      <dsp:spPr>
        <a:xfrm>
          <a:off x="0" y="3986014"/>
          <a:ext cx="6141734" cy="1328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Example of “desirable difficulty”</a:t>
          </a:r>
        </a:p>
      </dsp:txBody>
      <dsp:txXfrm>
        <a:off x="0" y="3986014"/>
        <a:ext cx="6141734" cy="13286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005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370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4244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833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10/7/26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726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10/7/26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052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10/7/26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595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549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984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75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6634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0761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72" r:id="rId6"/>
    <p:sldLayoutId id="2147483667" r:id="rId7"/>
    <p:sldLayoutId id="2147483668" r:id="rId8"/>
    <p:sldLayoutId id="2147483669" r:id="rId9"/>
    <p:sldLayoutId id="2147483671" r:id="rId10"/>
    <p:sldLayoutId id="214748367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ritannica.com/procon/homework-debate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355201-AD30-A96F-C546-56E695AE1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79" y="914400"/>
            <a:ext cx="4261104" cy="109728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300"/>
              <a:t>Leveraging AI to extend learning without short-circuiting understanding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3AF6AC-95CA-6154-6A3E-504ADD3813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79" y="2176036"/>
            <a:ext cx="4261104" cy="4121887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Herb Fynewever</a:t>
            </a:r>
          </a:p>
          <a:p>
            <a:pPr>
              <a:lnSpc>
                <a:spcPct val="120000"/>
              </a:lnSpc>
            </a:pPr>
            <a:r>
              <a:rPr lang="en-US" dirty="0"/>
              <a:t>Professor of Chemistry</a:t>
            </a:r>
          </a:p>
          <a:p>
            <a:pPr>
              <a:lnSpc>
                <a:spcPct val="120000"/>
              </a:lnSpc>
            </a:pPr>
            <a:r>
              <a:rPr lang="en-US" dirty="0"/>
              <a:t>Calvin University</a:t>
            </a:r>
          </a:p>
          <a:p>
            <a:pPr>
              <a:lnSpc>
                <a:spcPct val="120000"/>
              </a:lnSpc>
            </a:pPr>
            <a:r>
              <a:rPr lang="en-US" sz="1600" dirty="0" err="1"/>
              <a:t>Herb.Fynewever@calvin.edu</a:t>
            </a:r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53CC52-5563-9F35-F757-3E81E4F32D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695" r="2" b="2"/>
          <a:stretch>
            <a:fillRect/>
          </a:stretch>
        </p:blipFill>
        <p:spPr>
          <a:xfrm>
            <a:off x="5671128" y="914399"/>
            <a:ext cx="6520872" cy="5353521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2025DBA-8780-9CA0-2826-FF6E3BD1A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672328" y="6267921"/>
            <a:ext cx="6519672" cy="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993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E30966-A1D1-05B0-1CE1-183022BA7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1"/>
            <a:ext cx="4876801" cy="1569516"/>
          </a:xfrm>
        </p:spPr>
        <p:txBody>
          <a:bodyPr>
            <a:normAutofit/>
          </a:bodyPr>
          <a:lstStyle/>
          <a:p>
            <a:r>
              <a:rPr lang="en-US" dirty="0"/>
              <a:t>Learning requires effort</a:t>
            </a:r>
          </a:p>
        </p:txBody>
      </p: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AF249D3D-064A-E61B-5922-F67E0F82B4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3232" y="2857499"/>
            <a:ext cx="3125269" cy="312526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417CA-4F36-10F7-ADB1-90FF359663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6881" y="960119"/>
            <a:ext cx="6014128" cy="5022661"/>
          </a:xfrm>
        </p:spPr>
        <p:txBody>
          <a:bodyPr>
            <a:normAutofit/>
          </a:bodyPr>
          <a:lstStyle/>
          <a:p>
            <a:r>
              <a:rPr lang="en-US" sz="2400" dirty="0"/>
              <a:t>Learning is facilitated by </a:t>
            </a:r>
            <a:r>
              <a:rPr lang="en-US" sz="2400" i="1" dirty="0"/>
              <a:t>active retrieval</a:t>
            </a:r>
          </a:p>
          <a:p>
            <a:r>
              <a:rPr lang="en-US" sz="2400" dirty="0"/>
              <a:t>Students remember what they repeatedly </a:t>
            </a:r>
            <a:r>
              <a:rPr lang="en-US" sz="2400" i="1" dirty="0"/>
              <a:t>recall</a:t>
            </a:r>
            <a:r>
              <a:rPr lang="en-US" sz="2400" dirty="0"/>
              <a:t>, not what they merely reread</a:t>
            </a:r>
          </a:p>
          <a:p>
            <a:r>
              <a:rPr lang="en-US" sz="2400" dirty="0"/>
              <a:t>Testing is a learning event, not just an assessment event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40DBD50-3CB1-A513-2321-1891E3F09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1023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653AE3C-AC4F-907C-B473-B9A30D215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E4C2EB-3708-6083-2674-3895A4B5C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4070143" cy="1839433"/>
          </a:xfrm>
        </p:spPr>
        <p:txBody>
          <a:bodyPr>
            <a:normAutofit/>
          </a:bodyPr>
          <a:lstStyle/>
          <a:p>
            <a:r>
              <a:rPr lang="en-US" dirty="0"/>
              <a:t>Retrieval practice evidence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CB05DA43-52D7-EB7A-5DD4-DE84F19403C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410186" y="1010097"/>
          <a:ext cx="6141734" cy="53146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B2CFA8E7-53F9-8A76-CA9C-2D02F2A4ED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772" y="2250359"/>
            <a:ext cx="4767943" cy="40744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1C65338-84AA-53CF-A39A-7B24425A31E7}"/>
              </a:ext>
            </a:extLst>
          </p:cNvPr>
          <p:cNvSpPr txBox="1"/>
          <p:nvPr/>
        </p:nvSpPr>
        <p:spPr>
          <a:xfrm>
            <a:off x="769257" y="6324783"/>
            <a:ext cx="7155543" cy="380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Roediger and Karpicke, </a:t>
            </a:r>
            <a:r>
              <a:rPr lang="en-US" i="1" dirty="0"/>
              <a:t>Psychological Science</a:t>
            </a:r>
            <a:r>
              <a:rPr lang="en-US" dirty="0"/>
              <a:t>, 2006.</a:t>
            </a:r>
          </a:p>
        </p:txBody>
      </p:sp>
    </p:spTree>
    <p:extLst>
      <p:ext uri="{BB962C8B-B14F-4D97-AF65-F5344CB8AC3E}">
        <p14:creationId xmlns:p14="http://schemas.microsoft.com/office/powerpoint/2010/main" val="680064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6BD428-1FF9-2C67-EFE5-F997B7A9F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dirty="0"/>
              <a:t>Traditional STEM pedagogy is somewhat aligned with retrieval practice</a:t>
            </a:r>
          </a:p>
        </p:txBody>
      </p:sp>
      <p:pic>
        <p:nvPicPr>
          <p:cNvPr id="5" name="Picture 4" descr="Homework | Pros, Cons, Arguments, Debate, School, Education, &amp; Students ...">
            <a:extLst>
              <a:ext uri="{FF2B5EF4-FFF2-40B4-BE49-F238E27FC236}">
                <a16:creationId xmlns:a16="http://schemas.microsoft.com/office/drawing/2014/main" id="{89579481-E822-5766-0EAC-892757FE71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13232" y="2256287"/>
            <a:ext cx="5633646" cy="376045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6983F-748D-F50E-273E-5987E3F1BE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5150" y="2256287"/>
            <a:ext cx="4563618" cy="37604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Lecture </a:t>
            </a:r>
            <a:r>
              <a:rPr lang="en-US" dirty="0">
                <a:sym typeface="Wingdings" pitchFamily="2" charset="2"/>
              </a:rPr>
              <a:t> guided examples  </a:t>
            </a:r>
            <a:r>
              <a:rPr lang="en-US" b="1" dirty="0">
                <a:highlight>
                  <a:srgbClr val="FFFF00"/>
                </a:highlight>
                <a:sym typeface="Wingdings" pitchFamily="2" charset="2"/>
              </a:rPr>
              <a:t>homework  quizzes  tests  exam</a:t>
            </a:r>
          </a:p>
          <a:p>
            <a:pPr marL="0" indent="0">
              <a:buNone/>
            </a:pPr>
            <a:r>
              <a:rPr lang="en-US" dirty="0">
                <a:sym typeface="Wingdings" pitchFamily="2" charset="2"/>
              </a:rPr>
              <a:t>The most effective part of the learning happens when students struggle working through homework problem sets, retrieving knowledge repeatedly.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5704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015EC8-99D2-3D5E-DBEB-4E4E66E04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914400"/>
            <a:ext cx="4261104" cy="10972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/>
              <a:t>How AI can short-circuit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EA927-3E83-6E46-82BF-454AF6470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176036"/>
            <a:ext cx="4261104" cy="41218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When AI become an answer generating machine</a:t>
            </a:r>
          </a:p>
          <a:p>
            <a:r>
              <a:rPr lang="en-US" dirty="0"/>
              <a:t>Product replaces process</a:t>
            </a:r>
          </a:p>
          <a:p>
            <a:r>
              <a:rPr lang="en-US" dirty="0"/>
              <a:t>Difficulty disappears</a:t>
            </a:r>
          </a:p>
          <a:p>
            <a:r>
              <a:rPr lang="en-US" dirty="0"/>
              <a:t>Retrieval practice is bypassed</a:t>
            </a:r>
          </a:p>
          <a:p>
            <a:r>
              <a:rPr lang="en-US" dirty="0"/>
              <a:t>Students experience an illusion of understanding (“that answer makes sense”)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6040B1-309C-8C2D-A7D5-072B3827BD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17901"/>
          <a:stretch>
            <a:fillRect/>
          </a:stretch>
        </p:blipFill>
        <p:spPr>
          <a:xfrm>
            <a:off x="5671128" y="914399"/>
            <a:ext cx="6520872" cy="5353521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2025DBA-8780-9CA0-2826-FF6E3BD1A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672328" y="6267921"/>
            <a:ext cx="6519672" cy="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2680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C52384-D835-8BD0-3B63-344E5D5C0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1"/>
            <a:ext cx="4876801" cy="156951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Univ of Penn study: AI with and without guidance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9D6EA7-928B-9367-4476-E8DB4E000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847" y="4008998"/>
            <a:ext cx="5632153" cy="193460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06376-EDA7-6023-C1ED-D8485BCEC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9" y="960119"/>
            <a:ext cx="5130210" cy="5022661"/>
          </a:xfrm>
        </p:spPr>
        <p:txBody>
          <a:bodyPr>
            <a:normAutofit/>
          </a:bodyPr>
          <a:lstStyle/>
          <a:p>
            <a:r>
              <a:rPr lang="en-US" dirty="0"/>
              <a:t>Nearly 1000 high school math students in Turkey, control + two treatment groups</a:t>
            </a:r>
          </a:p>
          <a:p>
            <a:r>
              <a:rPr lang="en-US" dirty="0"/>
              <a:t>GPT Base (no restrictions or guidance):</a:t>
            </a:r>
          </a:p>
          <a:p>
            <a:pPr lvl="1"/>
            <a:r>
              <a:rPr lang="en-US" dirty="0"/>
              <a:t> +48% in practice performance but -17% exam performance after AI was removed</a:t>
            </a:r>
          </a:p>
          <a:p>
            <a:pPr lvl="1"/>
            <a:r>
              <a:rPr lang="en-US" dirty="0"/>
              <a:t>Students often directly asked for answers and copied results</a:t>
            </a:r>
          </a:p>
          <a:p>
            <a:r>
              <a:rPr lang="en-US" dirty="0"/>
              <a:t>GPT Tutor</a:t>
            </a:r>
          </a:p>
          <a:p>
            <a:pPr lvl="1"/>
            <a:r>
              <a:rPr lang="en-US" dirty="0"/>
              <a:t>Hints instead of answers</a:t>
            </a:r>
          </a:p>
          <a:p>
            <a:pPr lvl="1"/>
            <a:r>
              <a:rPr lang="en-US" dirty="0"/>
              <a:t>Guidance through mistakes</a:t>
            </a:r>
          </a:p>
          <a:p>
            <a:pPr lvl="1"/>
            <a:r>
              <a:rPr lang="en-US" dirty="0"/>
              <a:t>Best on practice performance and matched control on exam performance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40DBD50-3CB1-A513-2321-1891E3F09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A9CE6BD-C00C-DA75-FB9F-1C38EE653A5E}"/>
              </a:ext>
            </a:extLst>
          </p:cNvPr>
          <p:cNvSpPr txBox="1"/>
          <p:nvPr/>
        </p:nvSpPr>
        <p:spPr>
          <a:xfrm>
            <a:off x="672252" y="5943599"/>
            <a:ext cx="7267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Bastani et al. </a:t>
            </a:r>
            <a:r>
              <a:rPr lang="en-US" i="1" dirty="0"/>
              <a:t>Proceedings of the National Academy of Sciences,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6122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AA88AD-0B45-0F91-56A3-8EC04E967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1"/>
            <a:ext cx="4876801" cy="1569516"/>
          </a:xfrm>
        </p:spPr>
        <p:txBody>
          <a:bodyPr>
            <a:normAutofit/>
          </a:bodyPr>
          <a:lstStyle/>
          <a:p>
            <a:r>
              <a:rPr lang="en-US" sz="3700"/>
              <a:t>Harvard physics study: AI as interactive tutor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5CD4E6-98D9-7893-2B1F-CC78817EA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857499"/>
            <a:ext cx="4579149" cy="312526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4C1A1-4955-A36A-B1A6-37E1428725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9" y="960119"/>
            <a:ext cx="5130210" cy="5022661"/>
          </a:xfrm>
        </p:spPr>
        <p:txBody>
          <a:bodyPr>
            <a:normAutofit/>
          </a:bodyPr>
          <a:lstStyle/>
          <a:p>
            <a:r>
              <a:rPr lang="en-US" dirty="0"/>
              <a:t>A structured GPT-4 tutor built around active learning principles outperformed an active learning classroom in a randomized, controlled trial</a:t>
            </a:r>
          </a:p>
          <a:p>
            <a:r>
              <a:rPr lang="en-US" dirty="0"/>
              <a:t>Key feature: students actively engaged with questions, feedback, scaffolding, and self-paced learning.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40DBD50-3CB1-A513-2321-1891E3F09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45A280C-FA92-E3AD-CE80-776D284F7B13}"/>
              </a:ext>
            </a:extLst>
          </p:cNvPr>
          <p:cNvSpPr txBox="1"/>
          <p:nvPr/>
        </p:nvSpPr>
        <p:spPr>
          <a:xfrm>
            <a:off x="5292381" y="5798102"/>
            <a:ext cx="5239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Kestin et al. </a:t>
            </a:r>
            <a:r>
              <a:rPr lang="en-US" i="1" dirty="0"/>
              <a:t>Scientific Reports</a:t>
            </a:r>
            <a:r>
              <a:rPr lang="en-US" dirty="0"/>
              <a:t> (2025)</a:t>
            </a:r>
          </a:p>
        </p:txBody>
      </p:sp>
    </p:spTree>
    <p:extLst>
      <p:ext uri="{BB962C8B-B14F-4D97-AF65-F5344CB8AC3E}">
        <p14:creationId xmlns:p14="http://schemas.microsoft.com/office/powerpoint/2010/main" val="2616824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4DBF0A-CA1A-FE6A-9475-AEDFCD0BF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021842"/>
            <a:ext cx="3156857" cy="26426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/>
              <a:t>A conceptual model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50527CE-FCD0-40C8-B37A-39331C2A4F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011930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56CCA6A-1175-3F78-CE1B-B8DB40EFAC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78229" y="1098734"/>
            <a:ext cx="4729112" cy="4729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890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27FA20-A907-786B-0563-6A078DEBB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Calvin Chemistry Study (Planned)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B74FD9-D364-7CD9-E2DC-5CD2CDAFCD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552" b="30478"/>
          <a:stretch>
            <a:fillRect/>
          </a:stretch>
        </p:blipFill>
        <p:spPr>
          <a:xfrm>
            <a:off x="640080" y="1878158"/>
            <a:ext cx="11341754" cy="3101683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3335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4D818-5D6F-E052-2B84-5048C6FEE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13F42-9C8E-916B-AA07-BCAEBE1B1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Learning requires effortful retrieval</a:t>
            </a:r>
          </a:p>
          <a:p>
            <a:r>
              <a:rPr lang="en-US" dirty="0"/>
              <a:t>Unguided AI can improve immediate performance while reducing learning</a:t>
            </a:r>
          </a:p>
          <a:p>
            <a:r>
              <a:rPr lang="en-US" dirty="0"/>
              <a:t>Properly designed AI tutors can restore or exceed classroom learning</a:t>
            </a:r>
          </a:p>
          <a:p>
            <a:r>
              <a:rPr lang="en-US" dirty="0"/>
              <a:t>Future work will include going to new, complex learning outcomes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 err="1"/>
              <a:t>herb.fynewever@calvin.edu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7493301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365</Words>
  <Application>Microsoft Macintosh PowerPoint</Application>
  <PresentationFormat>Widescreen</PresentationFormat>
  <Paragraphs>48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Bierstadt</vt:lpstr>
      <vt:lpstr>Grandview Display</vt:lpstr>
      <vt:lpstr>Wingdings</vt:lpstr>
      <vt:lpstr>DashVTI</vt:lpstr>
      <vt:lpstr>Leveraging AI to extend learning without short-circuiting understanding</vt:lpstr>
      <vt:lpstr>Learning requires effort</vt:lpstr>
      <vt:lpstr>Retrieval practice evidence</vt:lpstr>
      <vt:lpstr>Traditional STEM pedagogy is somewhat aligned with retrieval practice</vt:lpstr>
      <vt:lpstr>How AI can short-circuit learning</vt:lpstr>
      <vt:lpstr>Univ of Penn study: AI with and without guidance</vt:lpstr>
      <vt:lpstr>Harvard physics study: AI as interactive tutor</vt:lpstr>
      <vt:lpstr>A conceptual model</vt:lpstr>
      <vt:lpstr>Calvin Chemistry Study (Planned)</vt:lpstr>
      <vt:lpstr>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Herb Fynewever</dc:creator>
  <cp:lastModifiedBy>Herb Fynewever</cp:lastModifiedBy>
  <cp:revision>2</cp:revision>
  <dcterms:created xsi:type="dcterms:W3CDTF">2026-10-08T01:12:59Z</dcterms:created>
  <dcterms:modified xsi:type="dcterms:W3CDTF">2026-10-08T02:31:14Z</dcterms:modified>
</cp:coreProperties>
</file>