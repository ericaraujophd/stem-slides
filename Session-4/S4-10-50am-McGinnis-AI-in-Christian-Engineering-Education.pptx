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9" r:id="rId2"/>
    <p:sldId id="1157" r:id="rId3"/>
    <p:sldId id="1126" r:id="rId4"/>
    <p:sldId id="1113" r:id="rId5"/>
    <p:sldId id="1123" r:id="rId6"/>
    <p:sldId id="1130" r:id="rId7"/>
    <p:sldId id="1119" r:id="rId8"/>
    <p:sldId id="1118" r:id="rId9"/>
    <p:sldId id="1127" r:id="rId10"/>
    <p:sldId id="1117" r:id="rId11"/>
    <p:sldId id="1128" r:id="rId12"/>
    <p:sldId id="1120" r:id="rId13"/>
    <p:sldId id="1129" r:id="rId14"/>
    <p:sldId id="1156" r:id="rId15"/>
    <p:sldId id="282" r:id="rId16"/>
    <p:sldId id="285" r:id="rId17"/>
    <p:sldId id="287" r:id="rId18"/>
    <p:sldId id="288" r:id="rId19"/>
    <p:sldId id="909" r:id="rId20"/>
    <p:sldId id="1155" r:id="rId21"/>
    <p:sldId id="1158" r:id="rId22"/>
    <p:sldId id="1199" r:id="rId23"/>
    <p:sldId id="1200" r:id="rId24"/>
    <p:sldId id="1160" r:id="rId25"/>
    <p:sldId id="1161" r:id="rId26"/>
    <p:sldId id="1162" r:id="rId27"/>
    <p:sldId id="1163" r:id="rId28"/>
    <p:sldId id="1169" r:id="rId29"/>
    <p:sldId id="1164" r:id="rId30"/>
    <p:sldId id="1165" r:id="rId31"/>
    <p:sldId id="1166" r:id="rId32"/>
    <p:sldId id="1167" r:id="rId33"/>
    <p:sldId id="1168" r:id="rId34"/>
    <p:sldId id="95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341"/>
    <a:srgbClr val="01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70051-AB3F-E442-9890-1F8053FD116C}" v="5" dt="2026-10-07T15:55:26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5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5C6E1-D863-4059-BADC-574524857BC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1B70A-54D8-4D62-BF9E-7222DC7AA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5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4148-F7A6-40D1-89C5-C95AD16F73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7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C377-2BEA-8924-094C-6AE32AC6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A20AB-91A7-BAAC-4AD6-4DC8E3FEE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7C73C-CF1D-1562-1973-3B1E960E2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slightly better one you sometimes see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E2495-3F16-6E5F-3C48-0F248E496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91B70A-54D8-4D62-BF9E-7222DC7AAB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542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2A504-CE05-2D85-2C24-8B8F2D53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9EEC2-BAD9-AB15-802C-D4F482E4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8F460-0B95-5199-BD93-87D4FB8DB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slightly better one you sometimes see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F80DA-1DA1-F3C8-86BF-52108037F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91B70A-54D8-4D62-BF9E-7222DC7AAB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29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8798-A453-1799-3A07-6935B73C9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66154-121E-B12E-B078-A38AB7FCC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D59FB-81F4-5A25-9822-0A31A07D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D7A58-E65F-489D-2EA5-3A70388E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4FB17-B043-46C8-E573-29029D68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13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CA86-48AD-FD6C-1D6E-CD87B535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9956800" cy="1325563"/>
          </a:xfrm>
        </p:spPr>
        <p:txBody>
          <a:bodyPr/>
          <a:lstStyle>
            <a:lvl1pPr>
              <a:defRPr b="1">
                <a:solidFill>
                  <a:srgbClr val="011E6A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929A-E471-4E59-EAEC-CCC4FD40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825625"/>
            <a:ext cx="9956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9A176-5D1E-FF64-CBB3-2041145B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0" y="6383019"/>
            <a:ext cx="2743200" cy="365125"/>
          </a:xfrm>
        </p:spPr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1075-A749-2322-4553-C6B0DDFA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8360" y="6383020"/>
            <a:ext cx="4114800" cy="365125"/>
          </a:xfrm>
        </p:spPr>
        <p:txBody>
          <a:bodyPr/>
          <a:lstStyle>
            <a:lvl1pPr>
              <a:defRPr sz="1400">
                <a:solidFill>
                  <a:srgbClr val="011E6A"/>
                </a:solidFill>
              </a:defRPr>
            </a:lvl1pPr>
          </a:lstStyle>
          <a:p>
            <a:r>
              <a:rPr lang="en-US"/>
              <a:t>School of Engineering &amp; Engineering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93A7E-C9EE-75BD-7FBF-C25A78EF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0960" y="6383020"/>
            <a:ext cx="2743200" cy="365125"/>
          </a:xfrm>
        </p:spPr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4B147682-EBED-D9FB-1935-546EFE6E2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074376" y="3136155"/>
            <a:ext cx="5741581" cy="7521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981494-B759-47E0-362B-E6BA33C486E6}"/>
              </a:ext>
            </a:extLst>
          </p:cNvPr>
          <p:cNvSpPr txBox="1"/>
          <p:nvPr userDrawn="1"/>
        </p:nvSpPr>
        <p:spPr>
          <a:xfrm>
            <a:off x="3779520" y="6383019"/>
            <a:ext cx="587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1E6A"/>
                </a:solidFill>
                <a:latin typeface="Gotham Black" pitchFamily="50" charset="0"/>
                <a:cs typeface="Gotham Black" pitchFamily="50" charset="0"/>
              </a:rPr>
              <a:t>School of Engineering &amp; Engineering Technology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5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FB2F-1B46-5618-2014-866057BD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66262-B2B2-4055-0324-E8EDABF43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9D757-6994-0FA7-FB7B-C1CAA0C8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3E8E6-1CF7-9277-D3A6-7132AFCA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45DE5-06D9-F367-417D-444333F5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6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72DA-82DF-569D-D2C1-734B410F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89FA-3850-E913-F2E8-E14C225E9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FDBEC-2D71-4E26-A1D6-47D72F79B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35F83-1B9A-E875-B91D-77618E2B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005B0-5090-779B-DC88-912B9BB9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5D999-C9A2-54A8-73C1-58D605BD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3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6B95-B116-78D8-3BA3-AC49C616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61EBE-C651-504E-1BFC-AF04ED9C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9B5E7-7D4C-3AEE-2957-B15E6A1C6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24A32-DD32-2F30-A2A9-44E4480FF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26BEE-10B8-0B48-16E3-326E901BE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73563-7CEE-6A6F-AFF0-63260C39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BB3EB-5BFA-1B59-37FC-98CE6841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53157-880C-065B-0455-B89CEBF6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0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43AF-F62C-8961-64D6-964FF696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C6A50-EC72-A3B7-9D4C-1914AAF2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6541B-93B4-8D01-C48C-FA275349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E4D76-42CB-FE3B-F004-57D799F6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A2EC0-D83D-6020-06E0-4C74A5D9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CC1E5-3053-EA56-DF94-392A70ED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76FB6-0D36-DD17-DE94-F7E2BB7B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3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553B-39C6-A77F-7BB3-6E3CD708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1FDD-8F90-33F1-05DE-33CD7A12E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8F5D1-02A6-9CBB-846A-656368FBE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7985C-BB47-6A0F-A2B2-E28CE1DA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D080A-358E-1E04-66DA-E8067A85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66887-A580-9180-9C28-D9BA0022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2087-EF61-4D61-CB33-1FE2B22E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5A125-C9CF-905A-02BB-500CA5CCB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7BD47-6906-E89C-6A01-814715165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8E87B-A89B-9EBC-048D-1A33E97B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6C4EB-C5FA-15C7-C800-F01F49C4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B9673-AEB9-8FF9-FC38-80C6B211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4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B16F-0E94-AA41-955F-DDB3D114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FF6BB-FDF6-05C9-02D8-7D1F22DCF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DA4F0-DE17-284B-AAF3-779BCA63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BE8CB-3E22-9686-F2E9-30540B5B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864F-765D-451C-A746-C8D53C51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0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8A718-BE17-54E1-7382-B7FE55703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396B5-0426-A911-6A9C-BA3C1B3B1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F304-D1D7-7A7F-C2CB-A1BA8750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69609-B78E-7E99-8D19-C2DA2B2B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1DCA3-C2DC-0AE2-0B78-4EB08390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1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937BB-AD50-9023-5D52-48997F58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FD97F-B1B4-9EDB-9F58-FCB9FF42A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E6A79-4BE6-B76D-CBB2-89B9B440B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1A8D2-58F9-41EF-96A9-D9D21CEA9C5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11647-1386-649D-363B-A10DA48E9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D04D8-B04C-93B9-0917-EEA3B332E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5CFBB-7872-4F51-8DEF-28763203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470" y="240031"/>
            <a:ext cx="10367010" cy="16916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 Roadmap for Integrating AI into Christian Engineering Education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D31DC3-6499-7393-F5FA-D0C847E8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598" y="5206212"/>
            <a:ext cx="8149590" cy="1494975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sz="2400" b="1" dirty="0">
                <a:latin typeface="Arial" charset="0"/>
              </a:rPr>
              <a:t>Dr. Michael McGinnis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400" b="1" dirty="0">
                <a:latin typeface="Arial" charset="0"/>
              </a:rPr>
              <a:t>Dean of Engineering and Engineering Technology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400" b="1" dirty="0">
                <a:latin typeface="Arial" charset="0"/>
              </a:rPr>
              <a:t>LeTourneau University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A8E282-E138-D28F-F23B-529A27F91D26}"/>
              </a:ext>
            </a:extLst>
          </p:cNvPr>
          <p:cNvSpPr txBox="1">
            <a:spLocks/>
          </p:cNvSpPr>
          <p:nvPr/>
        </p:nvSpPr>
        <p:spPr>
          <a:xfrm>
            <a:off x="2912709" y="4109284"/>
            <a:ext cx="87573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1E6A"/>
                </a:solidFill>
                <a:latin typeface="Gotham Black" pitchFamily="50" charset="0"/>
                <a:ea typeface="+mj-ea"/>
                <a:cs typeface="Gotham Black" pitchFamily="50" charset="0"/>
              </a:defRPr>
            </a:lvl1pPr>
          </a:lstStyle>
          <a:p>
            <a:r>
              <a:rPr lang="en-US" sz="2400" dirty="0"/>
              <a:t>    Substack				 	     Book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E0D8DD-87E6-6DDD-8EF4-290D76998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489" y="2118176"/>
            <a:ext cx="2405398" cy="2405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38CC12-A9AA-8231-1E02-C120C2D4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709" y="2245746"/>
            <a:ext cx="2400635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8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BD6A-60AC-9924-64F0-85BBA710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B2FB-8FF4-FC89-DA5E-3A032122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470" y="240031"/>
            <a:ext cx="10367010" cy="1691640"/>
          </a:xfrm>
        </p:spPr>
        <p:txBody>
          <a:bodyPr>
            <a:normAutofit/>
          </a:bodyPr>
          <a:lstStyle/>
          <a:p>
            <a:r>
              <a:rPr lang="en-US" dirty="0"/>
              <a:t>Wipeout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6E9874-9F59-72CA-C4A7-D35B0EF8B686}"/>
              </a:ext>
            </a:extLst>
          </p:cNvPr>
          <p:cNvSpPr txBox="1">
            <a:spLocks/>
          </p:cNvSpPr>
          <p:nvPr/>
        </p:nvSpPr>
        <p:spPr>
          <a:xfrm>
            <a:off x="3084159" y="5057974"/>
            <a:ext cx="87573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1E6A"/>
                </a:solidFill>
                <a:latin typeface="Gotham Black" pitchFamily="50" charset="0"/>
                <a:ea typeface="+mj-ea"/>
                <a:cs typeface="Gotham Black" pitchFamily="50" charset="0"/>
              </a:defRPr>
            </a:lvl1pPr>
          </a:lstStyle>
          <a:p>
            <a:r>
              <a:rPr lang="en-US" sz="2400" dirty="0"/>
              <a:t>    Substack				      	Book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F1CEE4-7155-9963-4F63-6349B0F1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904" y="1931671"/>
            <a:ext cx="3608097" cy="3608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8A7B01-CFB5-2B13-FF32-2AA25FC9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47" y="1931671"/>
            <a:ext cx="3600953" cy="35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0D35-577D-D7F1-2157-E7079517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91D3-C5A8-F49A-9ACF-8D4DE3CC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18255"/>
            <a:ext cx="9956800" cy="1325563"/>
          </a:xfrm>
        </p:spPr>
        <p:txBody>
          <a:bodyPr>
            <a:normAutofit/>
          </a:bodyPr>
          <a:lstStyle/>
          <a:p>
            <a:r>
              <a:rPr lang="en-US" dirty="0"/>
              <a:t>The Cultural Moment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F5190-2F6C-ADE7-8ED5-855FEE044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30" y="920908"/>
            <a:ext cx="9802990" cy="55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3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8813-C338-353A-BE4D-055999E4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485E-1DD9-C389-474C-C4BF549D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The Moment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077944-D833-2912-5676-BEA9EF3140D4}"/>
              </a:ext>
            </a:extLst>
          </p:cNvPr>
          <p:cNvSpPr txBox="1">
            <a:spLocks/>
          </p:cNvSpPr>
          <p:nvPr/>
        </p:nvSpPr>
        <p:spPr>
          <a:xfrm>
            <a:off x="742951" y="926511"/>
            <a:ext cx="11278164" cy="5540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oxima Nova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oxima Nova" panose="02000506030000020004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oxima Nova" panose="02000506030000020004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oxima Nova" panose="02000506030000020004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oxima Nova" panose="0200050603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🔍 Cognitive Science &amp; Learning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Bjork &amp; Bjork (2011) – Desirable Difficulties: Effortful learning enhances retention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Bransford et al. (2000) – How People Learn: Brain-based learning and metacognition.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Duckworth (2016) – Grit: Passion and perseverance as predictors of success.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Frankl (2006) – Man’s Search for Meaning: Meaning-making as essential to flourishing.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📱 Digital Distraction &amp; AI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Greenfield (1999) – Virtual Addiction: Early warning - addictive design of digital environments.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Kang (2024) – The Illusion of Learning (New Yorker): AI may simulate understanding but can erode deep learning.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Lui &amp; Wong (2020) – Cognitive limitations of multitasking and task-switching.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Zhai, Wibowo &amp; Li (2024) – AI dialogue systems reduce critical thinking and perseverance.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Ward et al. (2024) – AI use improves GPA but weakens deep learning and engagement.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🧠 The Crisis of Meaning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Taylor (2007) – A Secular Age: The “buffered self” and the loss of default belief.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Burton (2020) – Strange Rites: Remix spiritualities and the search for meaning in secular culture.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Frankl (2006) – Repeated here for its relevance to vocational clarity.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Putnam (2000) – Bowling Alone: Decline of social capital and communal life.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Nova" panose="02000506030000020004" pitchFamily="2" charset="0"/>
                <a:ea typeface="+mn-ea"/>
                <a:cs typeface="+mn-cs"/>
              </a:rPr>
              <a:t>Cox (2024) – The State of American Friendship: Declining friendship, especially among men; loneliness as epidemic.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  <a:p>
            <a:pPr marL="20574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xima Nova" panose="0200050603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336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09A5-F7F8-9208-360F-93C63229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17EB-6797-E962-30A8-38CD67AFD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212" y="12120"/>
            <a:ext cx="9956800" cy="1325563"/>
          </a:xfrm>
        </p:spPr>
        <p:txBody>
          <a:bodyPr/>
          <a:lstStyle/>
          <a:p>
            <a:r>
              <a:rPr lang="en-US" dirty="0"/>
              <a:t>Agenda and Outline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9FC8F-549D-7E15-8CA4-9B72E88C5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98212" y="1518280"/>
            <a:ext cx="2491740" cy="2491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7BA2A-3716-4898-1C63-B0E721428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382" y="929635"/>
            <a:ext cx="3669030" cy="3669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59EC1E-A14F-C86D-BBDD-891AE2240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42" y="1337683"/>
            <a:ext cx="2852934" cy="28529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4F351B-AB6D-5897-82F8-CB71E4304672}"/>
              </a:ext>
            </a:extLst>
          </p:cNvPr>
          <p:cNvSpPr txBox="1"/>
          <p:nvPr/>
        </p:nvSpPr>
        <p:spPr>
          <a:xfrm>
            <a:off x="1520424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Compass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90975-7F2B-C069-F8BF-93CB0C7FC952}"/>
              </a:ext>
            </a:extLst>
          </p:cNvPr>
          <p:cNvSpPr txBox="1"/>
          <p:nvPr/>
        </p:nvSpPr>
        <p:spPr>
          <a:xfrm>
            <a:off x="5247239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Roadmap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E4CCD-06E6-27D9-6445-F970114F4D00}"/>
              </a:ext>
            </a:extLst>
          </p:cNvPr>
          <p:cNvSpPr txBox="1"/>
          <p:nvPr/>
        </p:nvSpPr>
        <p:spPr>
          <a:xfrm>
            <a:off x="9154651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Turn-by-turn</a:t>
            </a:r>
          </a:p>
        </p:txBody>
      </p:sp>
    </p:spTree>
    <p:extLst>
      <p:ext uri="{BB962C8B-B14F-4D97-AF65-F5344CB8AC3E}">
        <p14:creationId xmlns:p14="http://schemas.microsoft.com/office/powerpoint/2010/main" val="272504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B93D-3309-E726-0535-4730C115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308F-0C86-1203-95D7-ABDD2136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212" y="12120"/>
            <a:ext cx="9956800" cy="1325563"/>
          </a:xfrm>
        </p:spPr>
        <p:txBody>
          <a:bodyPr/>
          <a:lstStyle/>
          <a:p>
            <a:r>
              <a:rPr lang="en-US" dirty="0"/>
              <a:t>Agenda and Outline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BB78A-C24D-9272-D21C-C1E81D780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98212" y="1518280"/>
            <a:ext cx="2491740" cy="2491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0CD63C-AAAA-D26D-22D3-19DA5C393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382" y="929635"/>
            <a:ext cx="3669030" cy="3669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93CBA1-8653-6CC0-B8B0-9A68AD837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42" y="1337683"/>
            <a:ext cx="2852934" cy="28529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C865F5-9E4B-38B3-1E2B-503132FE86BC}"/>
              </a:ext>
            </a:extLst>
          </p:cNvPr>
          <p:cNvSpPr txBox="1"/>
          <p:nvPr/>
        </p:nvSpPr>
        <p:spPr>
          <a:xfrm>
            <a:off x="1520424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14067-55AF-45A1-A763-1A89ACDD52D4}"/>
              </a:ext>
            </a:extLst>
          </p:cNvPr>
          <p:cNvSpPr txBox="1"/>
          <p:nvPr/>
        </p:nvSpPr>
        <p:spPr>
          <a:xfrm>
            <a:off x="5247239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Roadmap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E6131-1356-7358-076F-55A5607EA8B0}"/>
              </a:ext>
            </a:extLst>
          </p:cNvPr>
          <p:cNvSpPr txBox="1"/>
          <p:nvPr/>
        </p:nvSpPr>
        <p:spPr>
          <a:xfrm>
            <a:off x="9154651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Turn-by-turn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FA8FF1-C7C0-3D42-DD59-EA7909BAB9F9}"/>
              </a:ext>
            </a:extLst>
          </p:cNvPr>
          <p:cNvSpPr txBox="1"/>
          <p:nvPr/>
        </p:nvSpPr>
        <p:spPr>
          <a:xfrm>
            <a:off x="1427989" y="5339720"/>
            <a:ext cx="2832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2x2 Matrix for AI 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82B4C-B431-65ED-7858-199C24E01F1D}"/>
              </a:ext>
            </a:extLst>
          </p:cNvPr>
          <p:cNvSpPr txBox="1"/>
          <p:nvPr/>
        </p:nvSpPr>
        <p:spPr>
          <a:xfrm>
            <a:off x="4991809" y="532820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The t-Shaped Engineer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CF7FF-A3B5-C0CE-E0C3-CE6E493DBAB9}"/>
              </a:ext>
            </a:extLst>
          </p:cNvPr>
          <p:cNvSpPr txBox="1"/>
          <p:nvPr/>
        </p:nvSpPr>
        <p:spPr>
          <a:xfrm>
            <a:off x="8899221" y="533972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Transformation Initiatives</a:t>
            </a:r>
          </a:p>
        </p:txBody>
      </p:sp>
    </p:spTree>
    <p:extLst>
      <p:ext uri="{BB962C8B-B14F-4D97-AF65-F5344CB8AC3E}">
        <p14:creationId xmlns:p14="http://schemas.microsoft.com/office/powerpoint/2010/main" val="34696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D388B-5DAC-8A60-3BB3-20516567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9DAD-0C46-952D-E2E1-27AF20AE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4645DC-DF1A-2CB9-C4C9-449F70FBF45F}"/>
              </a:ext>
            </a:extLst>
          </p:cNvPr>
          <p:cNvCxnSpPr/>
          <p:nvPr/>
        </p:nvCxnSpPr>
        <p:spPr>
          <a:xfrm>
            <a:off x="6324600" y="1809750"/>
            <a:ext cx="0" cy="363855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65D6D7-EE58-5CC5-A964-4ADB7320B831}"/>
              </a:ext>
            </a:extLst>
          </p:cNvPr>
          <p:cNvSpPr txBox="1"/>
          <p:nvPr/>
        </p:nvSpPr>
        <p:spPr>
          <a:xfrm rot="16200000">
            <a:off x="4766935" y="3367413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Student          Posture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D1E386-BF40-0300-4101-C7D9C31A0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2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CD9B-934D-AA18-6007-0D5F2F2E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5CD4-9F38-3938-FFF5-0721B14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E081D2-793A-4BCA-2AB9-515591267579}"/>
              </a:ext>
            </a:extLst>
          </p:cNvPr>
          <p:cNvCxnSpPr/>
          <p:nvPr/>
        </p:nvCxnSpPr>
        <p:spPr>
          <a:xfrm>
            <a:off x="6324600" y="1809750"/>
            <a:ext cx="0" cy="363855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8D5128-9ECB-0528-A99F-C63BE3B9E9C0}"/>
              </a:ext>
            </a:extLst>
          </p:cNvPr>
          <p:cNvSpPr txBox="1"/>
          <p:nvPr/>
        </p:nvSpPr>
        <p:spPr>
          <a:xfrm>
            <a:off x="5382260" y="544830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Have-To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C5D01-8D36-EE25-C206-F9EEB2F3E6DE}"/>
              </a:ext>
            </a:extLst>
          </p:cNvPr>
          <p:cNvSpPr txBox="1"/>
          <p:nvPr/>
        </p:nvSpPr>
        <p:spPr>
          <a:xfrm>
            <a:off x="5382260" y="108325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Get-To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DAE8B-F6EC-54C3-9F10-DB15CD1490A3}"/>
              </a:ext>
            </a:extLst>
          </p:cNvPr>
          <p:cNvSpPr txBox="1"/>
          <p:nvPr/>
        </p:nvSpPr>
        <p:spPr>
          <a:xfrm rot="16200000">
            <a:off x="4766935" y="3367413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Student          Posture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9C19F8-10E9-B34D-53D9-F87155AC3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94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A3D8-CBA8-B641-F69D-F37B3EAE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47-FAAB-6690-DC63-52E80398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B50B81-170C-5325-6A6B-F71A715E9452}"/>
              </a:ext>
            </a:extLst>
          </p:cNvPr>
          <p:cNvCxnSpPr/>
          <p:nvPr/>
        </p:nvCxnSpPr>
        <p:spPr>
          <a:xfrm>
            <a:off x="6324600" y="1809750"/>
            <a:ext cx="0" cy="363855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E655F1-4857-B874-2261-B764A29690BA}"/>
              </a:ext>
            </a:extLst>
          </p:cNvPr>
          <p:cNvSpPr txBox="1"/>
          <p:nvPr/>
        </p:nvSpPr>
        <p:spPr>
          <a:xfrm>
            <a:off x="5382260" y="544830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Have-To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8FA1B-FAD9-5052-B4AF-FA1ABC383A6F}"/>
              </a:ext>
            </a:extLst>
          </p:cNvPr>
          <p:cNvSpPr txBox="1"/>
          <p:nvPr/>
        </p:nvSpPr>
        <p:spPr>
          <a:xfrm>
            <a:off x="5382260" y="108325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Get-To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4F881-87A2-63E2-23EA-1051BB507D6A}"/>
              </a:ext>
            </a:extLst>
          </p:cNvPr>
          <p:cNvSpPr txBox="1"/>
          <p:nvPr/>
        </p:nvSpPr>
        <p:spPr>
          <a:xfrm rot="16200000">
            <a:off x="4766935" y="3367413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Student          Posture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440E65-5AFF-3044-104D-4B234561234F}"/>
              </a:ext>
            </a:extLst>
          </p:cNvPr>
          <p:cNvCxnSpPr>
            <a:cxnSpLocks/>
          </p:cNvCxnSpPr>
          <p:nvPr/>
        </p:nvCxnSpPr>
        <p:spPr>
          <a:xfrm rot="5400000">
            <a:off x="6257925" y="1691015"/>
            <a:ext cx="0" cy="363855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36D283-CAD0-C98E-98C6-351752F96CE0}"/>
              </a:ext>
            </a:extLst>
          </p:cNvPr>
          <p:cNvSpPr txBox="1"/>
          <p:nvPr/>
        </p:nvSpPr>
        <p:spPr>
          <a:xfrm>
            <a:off x="4467539" y="3510290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Faculty       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82FE6D-19F4-055F-24E1-72766D31A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6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B7F0-4E6D-5EC4-8756-D6751E02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C9A0-BB43-922D-EEB6-4CBB64E3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55CC85-2D77-EF0A-0CB8-A5A253E43229}"/>
              </a:ext>
            </a:extLst>
          </p:cNvPr>
          <p:cNvCxnSpPr/>
          <p:nvPr/>
        </p:nvCxnSpPr>
        <p:spPr>
          <a:xfrm>
            <a:off x="6324600" y="1809750"/>
            <a:ext cx="0" cy="363855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BBC0AD-2F2C-345F-2405-896D66D35FEC}"/>
              </a:ext>
            </a:extLst>
          </p:cNvPr>
          <p:cNvSpPr txBox="1"/>
          <p:nvPr/>
        </p:nvSpPr>
        <p:spPr>
          <a:xfrm>
            <a:off x="5382260" y="544830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Have-To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96C56-95F5-6096-A2FE-C63FE1D6B43D}"/>
              </a:ext>
            </a:extLst>
          </p:cNvPr>
          <p:cNvSpPr txBox="1"/>
          <p:nvPr/>
        </p:nvSpPr>
        <p:spPr>
          <a:xfrm>
            <a:off x="5382260" y="1083250"/>
            <a:ext cx="20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Get-To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B6BE8-5A06-BB5F-2C40-23E11746DF3D}"/>
              </a:ext>
            </a:extLst>
          </p:cNvPr>
          <p:cNvSpPr txBox="1"/>
          <p:nvPr/>
        </p:nvSpPr>
        <p:spPr>
          <a:xfrm rot="16200000">
            <a:off x="4766935" y="3367413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Student          Posture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F80256-263C-F9B3-0FC5-329A18084BBE}"/>
              </a:ext>
            </a:extLst>
          </p:cNvPr>
          <p:cNvCxnSpPr>
            <a:cxnSpLocks/>
          </p:cNvCxnSpPr>
          <p:nvPr/>
        </p:nvCxnSpPr>
        <p:spPr>
          <a:xfrm rot="5400000">
            <a:off x="6257925" y="1691015"/>
            <a:ext cx="0" cy="363855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809ABE-B405-983A-D2A7-8D822E53BBDE}"/>
              </a:ext>
            </a:extLst>
          </p:cNvPr>
          <p:cNvSpPr txBox="1"/>
          <p:nvPr/>
        </p:nvSpPr>
        <p:spPr>
          <a:xfrm>
            <a:off x="2219958" y="3187123"/>
            <a:ext cx="2247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AI-Proofed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A7F579-E0DE-AABB-4A67-934464764EDF}"/>
              </a:ext>
            </a:extLst>
          </p:cNvPr>
          <p:cNvSpPr txBox="1"/>
          <p:nvPr/>
        </p:nvSpPr>
        <p:spPr>
          <a:xfrm>
            <a:off x="8106089" y="3187124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AI-Enhanced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122A9-3F7F-6B78-DA70-699E833ABA88}"/>
              </a:ext>
            </a:extLst>
          </p:cNvPr>
          <p:cNvSpPr txBox="1"/>
          <p:nvPr/>
        </p:nvSpPr>
        <p:spPr>
          <a:xfrm>
            <a:off x="4467539" y="3510290"/>
            <a:ext cx="363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Faculty       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2AA39-6190-BA96-7811-CD58F9183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3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D23A-3514-E62A-B3AF-06009B2C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E863-27EC-7A87-B0B9-492B0F20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CC9C3C-CA15-5AC3-9884-3403E3AFDA89}"/>
              </a:ext>
            </a:extLst>
          </p:cNvPr>
          <p:cNvGrpSpPr/>
          <p:nvPr/>
        </p:nvGrpSpPr>
        <p:grpSpPr>
          <a:xfrm>
            <a:off x="2162812" y="1083250"/>
            <a:ext cx="8590592" cy="5011381"/>
            <a:chOff x="2162812" y="1083250"/>
            <a:chExt cx="8590592" cy="501138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05F5B2-73DE-D84F-3E5C-829EA657DF12}"/>
                </a:ext>
              </a:extLst>
            </p:cNvPr>
            <p:cNvGrpSpPr/>
            <p:nvPr/>
          </p:nvGrpSpPr>
          <p:grpSpPr>
            <a:xfrm>
              <a:off x="2219958" y="1083250"/>
              <a:ext cx="8533446" cy="5011381"/>
              <a:chOff x="2219958" y="1083250"/>
              <a:chExt cx="8533446" cy="5011381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20865E17-0B3B-8A59-A614-EE18A686B609}"/>
                  </a:ext>
                </a:extLst>
              </p:cNvPr>
              <p:cNvCxnSpPr/>
              <p:nvPr/>
            </p:nvCxnSpPr>
            <p:spPr>
              <a:xfrm>
                <a:off x="6324600" y="1809750"/>
                <a:ext cx="0" cy="3638550"/>
              </a:xfrm>
              <a:prstGeom prst="straightConnector1">
                <a:avLst/>
              </a:prstGeom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DA6F01-196D-5492-1BEB-CED167BFECFB}"/>
                  </a:ext>
                </a:extLst>
              </p:cNvPr>
              <p:cNvSpPr txBox="1"/>
              <p:nvPr/>
            </p:nvSpPr>
            <p:spPr>
              <a:xfrm>
                <a:off x="5382260" y="5448300"/>
                <a:ext cx="20662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Have-To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DFE197-1304-A0D1-CB5D-A23276CC1E22}"/>
                  </a:ext>
                </a:extLst>
              </p:cNvPr>
              <p:cNvSpPr txBox="1"/>
              <p:nvPr/>
            </p:nvSpPr>
            <p:spPr>
              <a:xfrm>
                <a:off x="5382260" y="1083250"/>
                <a:ext cx="20662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Get-To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6666B6-0A47-8618-0F70-ECD0ACF9F284}"/>
                  </a:ext>
                </a:extLst>
              </p:cNvPr>
              <p:cNvSpPr txBox="1"/>
              <p:nvPr/>
            </p:nvSpPr>
            <p:spPr>
              <a:xfrm rot="16200000">
                <a:off x="4766935" y="3367413"/>
                <a:ext cx="36385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1"/>
                    </a:solidFill>
                  </a:rPr>
                  <a:t>Student          Posture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944CF0A-C335-FD86-8A17-BFCF67BD289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57925" y="1691015"/>
                <a:ext cx="0" cy="3638550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320DE1-1C22-AB9D-C559-EEB1CC272DF2}"/>
                  </a:ext>
                </a:extLst>
              </p:cNvPr>
              <p:cNvSpPr txBox="1"/>
              <p:nvPr/>
            </p:nvSpPr>
            <p:spPr>
              <a:xfrm>
                <a:off x="2219958" y="3187123"/>
                <a:ext cx="2247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AI-Proofed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C8F73B-8FE2-719C-605F-3A2EC545B1C9}"/>
                  </a:ext>
                </a:extLst>
              </p:cNvPr>
              <p:cNvSpPr txBox="1"/>
              <p:nvPr/>
            </p:nvSpPr>
            <p:spPr>
              <a:xfrm>
                <a:off x="8106089" y="3187124"/>
                <a:ext cx="26473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AI-Enhanced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DCBF21-8510-7F7E-4085-CE48135EECEE}"/>
                  </a:ext>
                </a:extLst>
              </p:cNvPr>
              <p:cNvSpPr txBox="1"/>
              <p:nvPr/>
            </p:nvSpPr>
            <p:spPr>
              <a:xfrm>
                <a:off x="4467539" y="3510290"/>
                <a:ext cx="36385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Faculty        Approach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684166-A3FC-1218-3477-44CFF6CEE978}"/>
                </a:ext>
              </a:extLst>
            </p:cNvPr>
            <p:cNvSpPr txBox="1"/>
            <p:nvPr/>
          </p:nvSpPr>
          <p:spPr>
            <a:xfrm>
              <a:off x="2539369" y="4709635"/>
              <a:ext cx="20662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Resistant and Rigid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67910D-E2E4-87A5-663B-2AA979BBAD8D}"/>
                </a:ext>
              </a:extLst>
            </p:cNvPr>
            <p:cNvSpPr txBox="1"/>
            <p:nvPr/>
          </p:nvSpPr>
          <p:spPr>
            <a:xfrm>
              <a:off x="7654926" y="4709635"/>
              <a:ext cx="22040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Efficient but Empty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3B166D-EB1C-7899-AB3C-F88B7C398D96}"/>
                </a:ext>
              </a:extLst>
            </p:cNvPr>
            <p:cNvSpPr txBox="1"/>
            <p:nvPr/>
          </p:nvSpPr>
          <p:spPr>
            <a:xfrm>
              <a:off x="2162812" y="1440980"/>
              <a:ext cx="283146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F0000"/>
                  </a:solidFill>
                </a:rPr>
                <a:t>Purposeful and Protective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17AB0B-9F64-315C-3F50-D8171DD46E3D}"/>
                </a:ext>
              </a:extLst>
            </p:cNvPr>
            <p:cNvSpPr txBox="1"/>
            <p:nvPr/>
          </p:nvSpPr>
          <p:spPr>
            <a:xfrm>
              <a:off x="7836536" y="1417895"/>
              <a:ext cx="20662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7030A0"/>
                  </a:solidFill>
                </a:rPr>
                <a:t>Joyful and Wise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4AC2B63-E147-8513-270C-C4466B9D0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8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9E1C-858F-0830-896E-710838D4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08DE-05ED-C8C7-E91D-7FDD4F07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2F1B73-0638-F51D-A100-C3FDF1B825CD}"/>
              </a:ext>
            </a:extLst>
          </p:cNvPr>
          <p:cNvGrpSpPr/>
          <p:nvPr/>
        </p:nvGrpSpPr>
        <p:grpSpPr>
          <a:xfrm>
            <a:off x="2745738" y="1083250"/>
            <a:ext cx="8533446" cy="5011381"/>
            <a:chOff x="2219958" y="1083250"/>
            <a:chExt cx="8533446" cy="5011381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533EA64-019B-98DB-8F07-2BAE34AAD34D}"/>
                </a:ext>
              </a:extLst>
            </p:cNvPr>
            <p:cNvCxnSpPr/>
            <p:nvPr/>
          </p:nvCxnSpPr>
          <p:spPr>
            <a:xfrm>
              <a:off x="6324600" y="1809750"/>
              <a:ext cx="0" cy="3638550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FD1EFD-80E4-8CC7-B3B6-62D601E8AD31}"/>
                </a:ext>
              </a:extLst>
            </p:cNvPr>
            <p:cNvSpPr txBox="1"/>
            <p:nvPr/>
          </p:nvSpPr>
          <p:spPr>
            <a:xfrm>
              <a:off x="5382260" y="5448300"/>
              <a:ext cx="2066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Have-To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987FA7-7233-E604-A90A-66DE7D26FE9C}"/>
                </a:ext>
              </a:extLst>
            </p:cNvPr>
            <p:cNvSpPr txBox="1"/>
            <p:nvPr/>
          </p:nvSpPr>
          <p:spPr>
            <a:xfrm>
              <a:off x="5382260" y="1083250"/>
              <a:ext cx="2066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Get-To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B6952B-0E6C-C358-DA06-0083767E8BC3}"/>
                </a:ext>
              </a:extLst>
            </p:cNvPr>
            <p:cNvSpPr txBox="1"/>
            <p:nvPr/>
          </p:nvSpPr>
          <p:spPr>
            <a:xfrm rot="16200000">
              <a:off x="4766935" y="3367413"/>
              <a:ext cx="363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</a:rPr>
                <a:t>Student          Posture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DF79708-4D10-2865-10F1-22A060E32D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7925" y="1691015"/>
              <a:ext cx="0" cy="3638550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F67631-66C0-05A9-6100-9BB28CCECB33}"/>
                </a:ext>
              </a:extLst>
            </p:cNvPr>
            <p:cNvSpPr txBox="1"/>
            <p:nvPr/>
          </p:nvSpPr>
          <p:spPr>
            <a:xfrm>
              <a:off x="2219958" y="3187123"/>
              <a:ext cx="2247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AI-Proofed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F02B44-1C18-8A98-9B24-EDD563519088}"/>
                </a:ext>
              </a:extLst>
            </p:cNvPr>
            <p:cNvSpPr txBox="1"/>
            <p:nvPr/>
          </p:nvSpPr>
          <p:spPr>
            <a:xfrm>
              <a:off x="8106089" y="3187124"/>
              <a:ext cx="26473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AI-Enhanced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CDAD13-A2A2-57E1-FAA7-602112B72D4C}"/>
                </a:ext>
              </a:extLst>
            </p:cNvPr>
            <p:cNvSpPr txBox="1"/>
            <p:nvPr/>
          </p:nvSpPr>
          <p:spPr>
            <a:xfrm>
              <a:off x="4467539" y="3510290"/>
              <a:ext cx="363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</a:rPr>
                <a:t>Faculty        Approach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30BE33-AB05-E50E-26E5-8E9382383C4B}"/>
              </a:ext>
            </a:extLst>
          </p:cNvPr>
          <p:cNvSpPr txBox="1"/>
          <p:nvPr/>
        </p:nvSpPr>
        <p:spPr>
          <a:xfrm>
            <a:off x="1531622" y="1679021"/>
            <a:ext cx="5409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Ethical rigor with intrinsic 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 value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 resist AI but inspire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Formation for foundational concepts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31BA5B-D26D-E52C-16D0-633849783358}"/>
              </a:ext>
            </a:extLst>
          </p:cNvPr>
          <p:cNvSpPr txBox="1"/>
          <p:nvPr/>
        </p:nvSpPr>
        <p:spPr>
          <a:xfrm>
            <a:off x="2012315" y="4156620"/>
            <a:ext cx="4838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Compliance driven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 on cheating 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 engagement, high resistance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F6A27-F717-0C97-827E-38C86A877EE5}"/>
              </a:ext>
            </a:extLst>
          </p:cNvPr>
          <p:cNvSpPr txBox="1"/>
          <p:nvPr/>
        </p:nvSpPr>
        <p:spPr>
          <a:xfrm>
            <a:off x="7647939" y="4201805"/>
            <a:ext cx="504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Superficial AI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 use tools without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 adopt tech without pedagogy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A92C34-355C-67A4-BA55-96D4C6B65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9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4918-A35B-CC65-6DE2-A22889A9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329B-3B83-0A0E-253D-88DDB0CCD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35" y="0"/>
            <a:ext cx="9956800" cy="1325563"/>
          </a:xfrm>
        </p:spPr>
        <p:txBody>
          <a:bodyPr/>
          <a:lstStyle/>
          <a:p>
            <a:r>
              <a:rPr lang="en-US" dirty="0"/>
              <a:t>AI Formation Mindset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4BF0DA-7050-D69A-A4F4-A228488D42C8}"/>
              </a:ext>
            </a:extLst>
          </p:cNvPr>
          <p:cNvGrpSpPr/>
          <p:nvPr/>
        </p:nvGrpSpPr>
        <p:grpSpPr>
          <a:xfrm>
            <a:off x="2745738" y="1083250"/>
            <a:ext cx="8533446" cy="5011381"/>
            <a:chOff x="2219958" y="1083250"/>
            <a:chExt cx="8533446" cy="5011381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85936BD-1FED-5037-A089-F55157327550}"/>
                </a:ext>
              </a:extLst>
            </p:cNvPr>
            <p:cNvCxnSpPr/>
            <p:nvPr/>
          </p:nvCxnSpPr>
          <p:spPr>
            <a:xfrm>
              <a:off x="6324600" y="1809750"/>
              <a:ext cx="0" cy="3638550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0FC53A-68FC-B20F-D2D8-6D3D713DB1F8}"/>
                </a:ext>
              </a:extLst>
            </p:cNvPr>
            <p:cNvSpPr txBox="1"/>
            <p:nvPr/>
          </p:nvSpPr>
          <p:spPr>
            <a:xfrm>
              <a:off x="5382260" y="5448300"/>
              <a:ext cx="2066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Have-To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AFD713-6D4F-2300-463D-27988C2968EA}"/>
                </a:ext>
              </a:extLst>
            </p:cNvPr>
            <p:cNvSpPr txBox="1"/>
            <p:nvPr/>
          </p:nvSpPr>
          <p:spPr>
            <a:xfrm>
              <a:off x="5382260" y="1083250"/>
              <a:ext cx="2066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Get-To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4CE4CD-A4CA-DF10-98FA-3BF1118F7EC1}"/>
                </a:ext>
              </a:extLst>
            </p:cNvPr>
            <p:cNvSpPr txBox="1"/>
            <p:nvPr/>
          </p:nvSpPr>
          <p:spPr>
            <a:xfrm rot="16200000">
              <a:off x="4766935" y="3367413"/>
              <a:ext cx="363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</a:rPr>
                <a:t>Student          Posture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9229678-76C4-1707-93F2-8807630874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7925" y="1691015"/>
              <a:ext cx="0" cy="3638550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678EC6-EE66-4F51-C03E-0BE3B08F8CF8}"/>
                </a:ext>
              </a:extLst>
            </p:cNvPr>
            <p:cNvSpPr txBox="1"/>
            <p:nvPr/>
          </p:nvSpPr>
          <p:spPr>
            <a:xfrm>
              <a:off x="2219958" y="3187123"/>
              <a:ext cx="2247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AI-Proofed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BF4417-123D-093B-A1FD-FCC3CE7CFF70}"/>
                </a:ext>
              </a:extLst>
            </p:cNvPr>
            <p:cNvSpPr txBox="1"/>
            <p:nvPr/>
          </p:nvSpPr>
          <p:spPr>
            <a:xfrm>
              <a:off x="8106089" y="3187124"/>
              <a:ext cx="26473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AI-Enhanced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DBD4D8-04E2-DC76-4CC7-1136CEC834E3}"/>
                </a:ext>
              </a:extLst>
            </p:cNvPr>
            <p:cNvSpPr txBox="1"/>
            <p:nvPr/>
          </p:nvSpPr>
          <p:spPr>
            <a:xfrm>
              <a:off x="4467539" y="3510290"/>
              <a:ext cx="363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</a:rPr>
                <a:t>Faculty        Approach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B2D723-F827-94D9-EC2D-4E7E4E1A9E27}"/>
              </a:ext>
            </a:extLst>
          </p:cNvPr>
          <p:cNvSpPr txBox="1"/>
          <p:nvPr/>
        </p:nvSpPr>
        <p:spPr>
          <a:xfrm>
            <a:off x="1531622" y="1679021"/>
            <a:ext cx="5409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Ethical rigor with intrinsic 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 value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 resist AI but inspire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Formation for foundational concepts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6A1BA-51D8-B3B9-88DD-6168780142FF}"/>
              </a:ext>
            </a:extLst>
          </p:cNvPr>
          <p:cNvSpPr txBox="1"/>
          <p:nvPr/>
        </p:nvSpPr>
        <p:spPr>
          <a:xfrm>
            <a:off x="2012315" y="4156620"/>
            <a:ext cx="4838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Compliance driven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 on cheating 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 engagement, high resistance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E32405-3943-224F-4A6E-4951EA931880}"/>
              </a:ext>
            </a:extLst>
          </p:cNvPr>
          <p:cNvSpPr txBox="1"/>
          <p:nvPr/>
        </p:nvSpPr>
        <p:spPr>
          <a:xfrm>
            <a:off x="7647939" y="4201805"/>
            <a:ext cx="504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Superficial AI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 use tools without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 adopt tech without pedagogy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4255C-4483-C3DF-12FC-46A43308D366}"/>
              </a:ext>
            </a:extLst>
          </p:cNvPr>
          <p:cNvSpPr txBox="1"/>
          <p:nvPr/>
        </p:nvSpPr>
        <p:spPr>
          <a:xfrm>
            <a:off x="7533000" y="1871379"/>
            <a:ext cx="4845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Transformative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AI used to deepen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 &amp; students co-evolve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34B9C551-B790-2AD5-5980-E8AD5DB92080}"/>
              </a:ext>
            </a:extLst>
          </p:cNvPr>
          <p:cNvSpPr/>
          <p:nvPr/>
        </p:nvSpPr>
        <p:spPr>
          <a:xfrm>
            <a:off x="6630035" y="1094671"/>
            <a:ext cx="5539739" cy="3050530"/>
          </a:xfrm>
          <a:prstGeom prst="cloud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C6994F-4626-E090-BC22-7D618F069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72800" y="5635068"/>
            <a:ext cx="1095292" cy="10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8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1AAE-B251-2D8B-C67B-B92D8AEE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545F-73E7-5135-5CBF-9EB443B60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212" y="12120"/>
            <a:ext cx="9956800" cy="1325563"/>
          </a:xfrm>
        </p:spPr>
        <p:txBody>
          <a:bodyPr/>
          <a:lstStyle/>
          <a:p>
            <a:r>
              <a:rPr lang="en-US" dirty="0"/>
              <a:t>Agenda and Outline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15A36-CB5C-3A4C-BED6-ED15CB7F2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98212" y="1518280"/>
            <a:ext cx="2491740" cy="2491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5CBFDD-C10B-6B73-8017-6172374B8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382" y="929635"/>
            <a:ext cx="3669030" cy="3669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6D29E-A1CE-EE97-1D78-76EDD0D6A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42" y="1337683"/>
            <a:ext cx="2852934" cy="28529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3EF0C0-F526-7966-7156-E6987E4CB4A8}"/>
              </a:ext>
            </a:extLst>
          </p:cNvPr>
          <p:cNvSpPr txBox="1"/>
          <p:nvPr/>
        </p:nvSpPr>
        <p:spPr>
          <a:xfrm>
            <a:off x="1520424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086818-5D05-A42C-DCB2-5BDF2F37F7EE}"/>
              </a:ext>
            </a:extLst>
          </p:cNvPr>
          <p:cNvSpPr txBox="1"/>
          <p:nvPr/>
        </p:nvSpPr>
        <p:spPr>
          <a:xfrm>
            <a:off x="5247239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Roadmap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A7CF3-CEBF-293D-965C-AFCD3D09D2EE}"/>
              </a:ext>
            </a:extLst>
          </p:cNvPr>
          <p:cNvSpPr txBox="1"/>
          <p:nvPr/>
        </p:nvSpPr>
        <p:spPr>
          <a:xfrm>
            <a:off x="9154651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Turn-by-turn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DFC85-2E50-D770-B16A-0156D8BCD519}"/>
              </a:ext>
            </a:extLst>
          </p:cNvPr>
          <p:cNvSpPr txBox="1"/>
          <p:nvPr/>
        </p:nvSpPr>
        <p:spPr>
          <a:xfrm>
            <a:off x="1427989" y="5339720"/>
            <a:ext cx="2832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2x2 Matrix for AI 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732DE-9A9D-5DF5-5492-9584FA89F533}"/>
              </a:ext>
            </a:extLst>
          </p:cNvPr>
          <p:cNvSpPr txBox="1"/>
          <p:nvPr/>
        </p:nvSpPr>
        <p:spPr>
          <a:xfrm>
            <a:off x="4991809" y="532820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The t-Shaped Engineer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B0850-F336-2B27-A708-0DAEF87EC013}"/>
              </a:ext>
            </a:extLst>
          </p:cNvPr>
          <p:cNvSpPr txBox="1"/>
          <p:nvPr/>
        </p:nvSpPr>
        <p:spPr>
          <a:xfrm>
            <a:off x="8899221" y="533972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Transformation Initiatives</a:t>
            </a:r>
          </a:p>
        </p:txBody>
      </p:sp>
    </p:spTree>
    <p:extLst>
      <p:ext uri="{BB962C8B-B14F-4D97-AF65-F5344CB8AC3E}">
        <p14:creationId xmlns:p14="http://schemas.microsoft.com/office/powerpoint/2010/main" val="253669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T-Shaped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T-Shaped</a:t>
            </a:r>
          </a:p>
          <a:p>
            <a:pPr lvl="1"/>
            <a:r>
              <a:rPr lang="en-US" dirty="0"/>
              <a:t>British Computer Society, Colin Palmer, Michael Earl, Templeton College Oxford, David Guest 1991 The Independent</a:t>
            </a:r>
          </a:p>
          <a:p>
            <a:pPr lvl="1"/>
            <a:r>
              <a:rPr lang="en-US" dirty="0"/>
              <a:t>Leonard-Barton 1995 Wellsprings of Knowledge, Harvard Business School Press</a:t>
            </a:r>
          </a:p>
          <a:p>
            <a:pPr lvl="1"/>
            <a:r>
              <a:rPr lang="en-US" dirty="0"/>
              <a:t>Dean James Plummer, Stanford 2011</a:t>
            </a:r>
          </a:p>
          <a:p>
            <a:pPr lvl="1"/>
            <a:r>
              <a:rPr lang="en-US" dirty="0"/>
              <a:t>J. Tranquillo “The T-Shaped Engineer” Journal of Engineering Education Transformation, 2017 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C7EAA-45E2-A01A-DC8B-FFEE5C22B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8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T-Shaped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T-Shaped</a:t>
            </a:r>
          </a:p>
          <a:p>
            <a:pPr lvl="1"/>
            <a:r>
              <a:rPr lang="en-US"/>
              <a:t>As originally coined, the term referred to people with deep learning and skills in one technical area who could also function across multi-disciplinary teams (contrast with I-shaped)</a:t>
            </a:r>
          </a:p>
          <a:p>
            <a:pPr lvl="1"/>
            <a:endParaRPr lang="en-US"/>
          </a:p>
          <a:p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22364-9882-4D20-C43C-F47C0467B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38" y="3429000"/>
            <a:ext cx="5182323" cy="2857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740D07-963F-D9E8-E2EC-6A1919FB4B1D}"/>
              </a:ext>
            </a:extLst>
          </p:cNvPr>
          <p:cNvSpPr txBox="1"/>
          <p:nvPr/>
        </p:nvSpPr>
        <p:spPr>
          <a:xfrm>
            <a:off x="1737360" y="5206408"/>
            <a:ext cx="2829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Medhat, Peers</a:t>
            </a:r>
          </a:p>
          <a:p>
            <a:r>
              <a:rPr lang="en-US" dirty="0">
                <a:solidFill>
                  <a:schemeClr val="accent1"/>
                </a:solidFill>
              </a:rPr>
              <a:t>“T-Shaped Learning for the New Technologist, The Innovation Institute, 2012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464E7-26B4-5335-294D-1C414FCFD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86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T-Shaped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T-Shaped</a:t>
            </a:r>
          </a:p>
          <a:p>
            <a:pPr lvl="1"/>
            <a:r>
              <a:rPr lang="en-US"/>
              <a:t>“those with technical depth as well as cross-disciplinary breadth” Tranquillo, 2017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E5B91-FB04-D2A1-72BA-994EDE053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02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T-Shaped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825625"/>
            <a:ext cx="9956800" cy="631824"/>
          </a:xfrm>
        </p:spPr>
        <p:txBody>
          <a:bodyPr>
            <a:normAutofit/>
          </a:bodyPr>
          <a:lstStyle/>
          <a:p>
            <a:r>
              <a:rPr lang="en-US" dirty="0"/>
              <a:t>T-Shaped – McGinnis 2020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D27B3E-5E46-1944-14E4-E1773C8C40E9}"/>
              </a:ext>
            </a:extLst>
          </p:cNvPr>
          <p:cNvGrpSpPr/>
          <p:nvPr/>
        </p:nvGrpSpPr>
        <p:grpSpPr>
          <a:xfrm>
            <a:off x="5072742" y="3026229"/>
            <a:ext cx="2220685" cy="2220685"/>
            <a:chOff x="5072742" y="3026229"/>
            <a:chExt cx="2220685" cy="222068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16B3CA-3D4D-85E0-612D-5E306D9B5A16}"/>
                </a:ext>
              </a:extLst>
            </p:cNvPr>
            <p:cNvCxnSpPr/>
            <p:nvPr/>
          </p:nvCxnSpPr>
          <p:spPr>
            <a:xfrm>
              <a:off x="6183086" y="3026229"/>
              <a:ext cx="0" cy="222068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55F1F2-493C-BB04-BEA8-120E66EB4A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83085" y="1915887"/>
              <a:ext cx="0" cy="222068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BC3C63-D9EC-E8B6-B9B5-1C5B13B9BF4A}"/>
              </a:ext>
            </a:extLst>
          </p:cNvPr>
          <p:cNvSpPr txBox="1"/>
          <p:nvPr/>
        </p:nvSpPr>
        <p:spPr>
          <a:xfrm rot="16200000">
            <a:off x="5573485" y="4022726"/>
            <a:ext cx="158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Technical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D4BDF-E553-FB7F-59CB-F6F958C22325}"/>
              </a:ext>
            </a:extLst>
          </p:cNvPr>
          <p:cNvSpPr txBox="1"/>
          <p:nvPr/>
        </p:nvSpPr>
        <p:spPr>
          <a:xfrm>
            <a:off x="4989284" y="2619991"/>
            <a:ext cx="258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Professional (Soft) Skills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CEE1C-F846-A99A-3620-9B76D3D340BA}"/>
              </a:ext>
            </a:extLst>
          </p:cNvPr>
          <p:cNvSpPr txBox="1"/>
          <p:nvPr/>
        </p:nvSpPr>
        <p:spPr>
          <a:xfrm>
            <a:off x="4129495" y="3786645"/>
            <a:ext cx="2586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Ohm’s Law</a:t>
            </a:r>
          </a:p>
          <a:p>
            <a:r>
              <a:rPr lang="en-US"/>
              <a:t>Thermodynamics</a:t>
            </a:r>
          </a:p>
          <a:p>
            <a:r>
              <a:rPr lang="en-US"/>
              <a:t>Statics</a:t>
            </a:r>
          </a:p>
          <a:p>
            <a:r>
              <a:rPr lang="en-US"/>
              <a:t>Hooke’s Law</a:t>
            </a:r>
          </a:p>
          <a:p>
            <a:r>
              <a:rPr lang="en-US"/>
              <a:t>Kinematics</a:t>
            </a:r>
          </a:p>
          <a:p>
            <a:r>
              <a:rPr lang="en-US"/>
              <a:t>Reaction kinetics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CA4CF7-A7D7-E5F5-158A-5B3AA7BB5874}"/>
              </a:ext>
            </a:extLst>
          </p:cNvPr>
          <p:cNvSpPr txBox="1"/>
          <p:nvPr/>
        </p:nvSpPr>
        <p:spPr>
          <a:xfrm rot="19259845">
            <a:off x="7153922" y="805267"/>
            <a:ext cx="2586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Communication</a:t>
            </a:r>
          </a:p>
          <a:p>
            <a:r>
              <a:rPr lang="en-US"/>
              <a:t>Grit</a:t>
            </a:r>
          </a:p>
          <a:p>
            <a:r>
              <a:rPr lang="en-US"/>
              <a:t>Drive</a:t>
            </a:r>
          </a:p>
          <a:p>
            <a:r>
              <a:rPr lang="en-US"/>
              <a:t>Motivation</a:t>
            </a:r>
          </a:p>
          <a:p>
            <a:r>
              <a:rPr lang="en-US"/>
              <a:t>Leading</a:t>
            </a:r>
          </a:p>
          <a:p>
            <a:r>
              <a:rPr lang="en-US"/>
              <a:t>Following</a:t>
            </a:r>
          </a:p>
          <a:p>
            <a:r>
              <a:rPr lang="en-US"/>
              <a:t>Relationship Building</a:t>
            </a:r>
          </a:p>
          <a:p>
            <a:r>
              <a:rPr lang="en-US"/>
              <a:t>Ethics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4542B-5121-C140-0B4F-6B310893D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2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T-Shaped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825625"/>
            <a:ext cx="9956800" cy="631824"/>
          </a:xfrm>
        </p:spPr>
        <p:txBody>
          <a:bodyPr>
            <a:normAutofit/>
          </a:bodyPr>
          <a:lstStyle/>
          <a:p>
            <a:r>
              <a:rPr lang="en-US" dirty="0"/>
              <a:t>T-Shaped – McGinnis 2023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D27B3E-5E46-1944-14E4-E1773C8C40E9}"/>
              </a:ext>
            </a:extLst>
          </p:cNvPr>
          <p:cNvGrpSpPr/>
          <p:nvPr/>
        </p:nvGrpSpPr>
        <p:grpSpPr>
          <a:xfrm>
            <a:off x="5072742" y="3026229"/>
            <a:ext cx="2220685" cy="2220685"/>
            <a:chOff x="5072742" y="3026229"/>
            <a:chExt cx="2220685" cy="222068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16B3CA-3D4D-85E0-612D-5E306D9B5A16}"/>
                </a:ext>
              </a:extLst>
            </p:cNvPr>
            <p:cNvCxnSpPr/>
            <p:nvPr/>
          </p:nvCxnSpPr>
          <p:spPr>
            <a:xfrm>
              <a:off x="6183086" y="3026229"/>
              <a:ext cx="0" cy="222068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55F1F2-493C-BB04-BEA8-120E66EB4A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83085" y="1915887"/>
              <a:ext cx="0" cy="222068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BC3C63-D9EC-E8B6-B9B5-1C5B13B9BF4A}"/>
              </a:ext>
            </a:extLst>
          </p:cNvPr>
          <p:cNvSpPr txBox="1"/>
          <p:nvPr/>
        </p:nvSpPr>
        <p:spPr>
          <a:xfrm rot="16200000">
            <a:off x="5573485" y="4022726"/>
            <a:ext cx="158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Technical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D4BDF-E553-FB7F-59CB-F6F958C22325}"/>
              </a:ext>
            </a:extLst>
          </p:cNvPr>
          <p:cNvSpPr txBox="1"/>
          <p:nvPr/>
        </p:nvSpPr>
        <p:spPr>
          <a:xfrm>
            <a:off x="4989284" y="2619991"/>
            <a:ext cx="258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Relationship Skills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CEE1C-F846-A99A-3620-9B76D3D340BA}"/>
              </a:ext>
            </a:extLst>
          </p:cNvPr>
          <p:cNvSpPr txBox="1"/>
          <p:nvPr/>
        </p:nvSpPr>
        <p:spPr>
          <a:xfrm>
            <a:off x="4129495" y="3786645"/>
            <a:ext cx="2586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Ohm’s Law</a:t>
            </a:r>
          </a:p>
          <a:p>
            <a:r>
              <a:rPr lang="en-US"/>
              <a:t>Thermodynamics</a:t>
            </a:r>
          </a:p>
          <a:p>
            <a:r>
              <a:rPr lang="en-US"/>
              <a:t>Statics</a:t>
            </a:r>
          </a:p>
          <a:p>
            <a:r>
              <a:rPr lang="en-US"/>
              <a:t>Hooke’s Law</a:t>
            </a:r>
          </a:p>
          <a:p>
            <a:r>
              <a:rPr lang="en-US"/>
              <a:t>Kinematics</a:t>
            </a:r>
          </a:p>
          <a:p>
            <a:r>
              <a:rPr lang="en-US"/>
              <a:t>Reaction kinetics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CA4CF7-A7D7-E5F5-158A-5B3AA7BB5874}"/>
              </a:ext>
            </a:extLst>
          </p:cNvPr>
          <p:cNvSpPr txBox="1"/>
          <p:nvPr/>
        </p:nvSpPr>
        <p:spPr>
          <a:xfrm rot="19259845">
            <a:off x="7153922" y="805267"/>
            <a:ext cx="2586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Communication</a:t>
            </a:r>
          </a:p>
          <a:p>
            <a:r>
              <a:rPr lang="en-US"/>
              <a:t>Grit</a:t>
            </a:r>
          </a:p>
          <a:p>
            <a:r>
              <a:rPr lang="en-US"/>
              <a:t>Drive</a:t>
            </a:r>
          </a:p>
          <a:p>
            <a:r>
              <a:rPr lang="en-US"/>
              <a:t>Motivation</a:t>
            </a:r>
          </a:p>
          <a:p>
            <a:r>
              <a:rPr lang="en-US"/>
              <a:t>Leading</a:t>
            </a:r>
          </a:p>
          <a:p>
            <a:r>
              <a:rPr lang="en-US"/>
              <a:t>Following</a:t>
            </a:r>
          </a:p>
          <a:p>
            <a:r>
              <a:rPr lang="en-US"/>
              <a:t>Relationship Building</a:t>
            </a:r>
          </a:p>
          <a:p>
            <a:r>
              <a:rPr lang="en-US"/>
              <a:t>Ethics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7111E-B558-74BB-4853-B838BAB4D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12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t-Shaped Engineer</a:t>
            </a:r>
            <a:r>
              <a:rPr lang="en-US" baseline="30000" dirty="0"/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825625"/>
            <a:ext cx="9956800" cy="631824"/>
          </a:xfrm>
        </p:spPr>
        <p:txBody>
          <a:bodyPr>
            <a:normAutofit/>
          </a:bodyPr>
          <a:lstStyle/>
          <a:p>
            <a:r>
              <a:rPr lang="en-US" dirty="0"/>
              <a:t>t-Shaped – 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650C4-87BE-2727-ADAB-69CE695E8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2072" y="1394136"/>
            <a:ext cx="7782977" cy="4723140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C70BB5-A7A3-5399-98E5-FEE1AAF8BC63}"/>
              </a:ext>
            </a:extLst>
          </p:cNvPr>
          <p:cNvSpPr txBox="1">
            <a:spLocks/>
          </p:cNvSpPr>
          <p:nvPr/>
        </p:nvSpPr>
        <p:spPr>
          <a:xfrm>
            <a:off x="1899662" y="6188360"/>
            <a:ext cx="8610000" cy="6090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McGinnis &amp; Lett “Engineering, Meaning and Faith: Professional Formation of Engineers with Magnitude and Direction,” 2024 Christian Engineering Conference.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 Paper Nominee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DE2156-2985-FCE9-2292-BC1D91276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44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F579-F2F9-DB88-B846-E0FB0BAF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3F45-A6E1-2732-1D54-7EEAA810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t-Shaped Engineer</a:t>
            </a:r>
            <a:r>
              <a:rPr lang="en-US" baseline="30000" dirty="0"/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E6A5-61E2-BE02-5F80-88578B9F8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825625"/>
            <a:ext cx="9956800" cy="631824"/>
          </a:xfrm>
        </p:spPr>
        <p:txBody>
          <a:bodyPr>
            <a:normAutofit/>
          </a:bodyPr>
          <a:lstStyle/>
          <a:p>
            <a:r>
              <a:rPr lang="en-US" dirty="0"/>
              <a:t>t-Shaped – 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3B0AC-5336-AB7F-4F83-4CF90A34C6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2072" y="1394136"/>
            <a:ext cx="7782977" cy="4723140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D45F97-1602-2577-7502-FB3B39D9C62B}"/>
              </a:ext>
            </a:extLst>
          </p:cNvPr>
          <p:cNvSpPr txBox="1">
            <a:spLocks/>
          </p:cNvSpPr>
          <p:nvPr/>
        </p:nvSpPr>
        <p:spPr>
          <a:xfrm>
            <a:off x="1899662" y="6188360"/>
            <a:ext cx="8610000" cy="6090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McGinnis &amp; Lett “Engineering, Meaning and Faith: Professional Formation of Engineers with Magnitude and Direction,” 2024 Christian Engineering Conference.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 Paper Nominee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8E8BA-44A6-D96F-C6E3-23727F172B0E}"/>
              </a:ext>
            </a:extLst>
          </p:cNvPr>
          <p:cNvSpPr txBox="1"/>
          <p:nvPr/>
        </p:nvSpPr>
        <p:spPr>
          <a:xfrm>
            <a:off x="4807931" y="1489501"/>
            <a:ext cx="3007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Christ-Centered Purpose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5108F9-A0B3-714F-FF65-F6EB777A9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9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D2A9-EC8D-B19B-6A53-BC60830B2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E4DF-17AD-F208-ED83-85F84797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38E9-BF6B-DB70-B50D-7FA0C2341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Definition:</a:t>
            </a:r>
          </a:p>
          <a:p>
            <a:r>
              <a:rPr lang="en-US" dirty="0"/>
              <a:t>Application of math and science to solve problems</a:t>
            </a:r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9CAAE-5CD3-859A-BD63-50AED038C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45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DD0B-C552-BE88-6578-38E92E2B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A30F-EA17-C2C1-2ACE-B7C4BADE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CE58E-A50F-6741-925B-0165E8AE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Definition:</a:t>
            </a:r>
          </a:p>
          <a:p>
            <a:r>
              <a:rPr lang="en-US" dirty="0"/>
              <a:t>Application of math and science to solve problems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Working out of the greatest commandment – to love God and love people through application of math and science to solve problems </a:t>
            </a:r>
            <a:r>
              <a:rPr lang="en-US" i="1" dirty="0"/>
              <a:t>to benefit the Kingdom</a:t>
            </a:r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6C16F-A0BB-5879-3B61-E9847E48F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797" y="5632804"/>
            <a:ext cx="1225196" cy="12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75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067C-E548-4AA8-D99D-4EF4E448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D04A-FF67-EDAF-E98E-C99C3488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212" y="12120"/>
            <a:ext cx="9956800" cy="1325563"/>
          </a:xfrm>
        </p:spPr>
        <p:txBody>
          <a:bodyPr/>
          <a:lstStyle/>
          <a:p>
            <a:r>
              <a:rPr lang="en-US" dirty="0"/>
              <a:t>Agenda and Outline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D6B00-D956-6804-F7CA-BAA1F2D64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98212" y="1518280"/>
            <a:ext cx="2491740" cy="2491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9763EE-717A-311B-3945-24A10A2D5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382" y="929635"/>
            <a:ext cx="3669030" cy="3669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7C3F41-3A13-8103-8EBF-0887682E4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42" y="1337683"/>
            <a:ext cx="2852934" cy="28529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E1ACA-4BA1-51A6-7CEA-791F32BEB917}"/>
              </a:ext>
            </a:extLst>
          </p:cNvPr>
          <p:cNvSpPr txBox="1"/>
          <p:nvPr/>
        </p:nvSpPr>
        <p:spPr>
          <a:xfrm>
            <a:off x="1520424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29A09-9764-1862-93D5-DECCAB3953D8}"/>
              </a:ext>
            </a:extLst>
          </p:cNvPr>
          <p:cNvSpPr txBox="1"/>
          <p:nvPr/>
        </p:nvSpPr>
        <p:spPr>
          <a:xfrm>
            <a:off x="5247239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Roadmap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8CF239-EBFD-12F9-3876-30017C67CA8D}"/>
              </a:ext>
            </a:extLst>
          </p:cNvPr>
          <p:cNvSpPr txBox="1"/>
          <p:nvPr/>
        </p:nvSpPr>
        <p:spPr>
          <a:xfrm>
            <a:off x="9154651" y="4421127"/>
            <a:ext cx="26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Turn-by-turn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98611-F094-CE32-9C97-E0C94E67E49E}"/>
              </a:ext>
            </a:extLst>
          </p:cNvPr>
          <p:cNvSpPr txBox="1"/>
          <p:nvPr/>
        </p:nvSpPr>
        <p:spPr>
          <a:xfrm>
            <a:off x="1427989" y="5339720"/>
            <a:ext cx="2832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2x2 Matrix for AI 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65348-7398-9876-4D57-80238219B3AA}"/>
              </a:ext>
            </a:extLst>
          </p:cNvPr>
          <p:cNvSpPr txBox="1"/>
          <p:nvPr/>
        </p:nvSpPr>
        <p:spPr>
          <a:xfrm>
            <a:off x="4991809" y="532820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The t-Shaped Engineer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F69D4-FABC-7856-29F1-8E291BE0468B}"/>
              </a:ext>
            </a:extLst>
          </p:cNvPr>
          <p:cNvSpPr txBox="1"/>
          <p:nvPr/>
        </p:nvSpPr>
        <p:spPr>
          <a:xfrm>
            <a:off x="8899221" y="5339720"/>
            <a:ext cx="3158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Transformation Initiatives</a:t>
            </a:r>
          </a:p>
        </p:txBody>
      </p:sp>
    </p:spTree>
    <p:extLst>
      <p:ext uri="{BB962C8B-B14F-4D97-AF65-F5344CB8AC3E}">
        <p14:creationId xmlns:p14="http://schemas.microsoft.com/office/powerpoint/2010/main" val="2697947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B51D-939A-5D8E-8492-FE9C2E23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5D20-AF69-CDAB-7DDF-07F15AC5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2A2AF-811A-68C0-6B96-D6DB47ABD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00C2FC-3565-06D2-34E5-1933E9407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3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C8FF-3A6F-504E-0693-C7F61353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2357-956D-6C73-5D24-7BA2B148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F5E47-3AF9-003A-37DD-C6DE6D144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pPr lvl="1"/>
            <a:r>
              <a:rPr lang="en-US" sz="2800" b="1" dirty="0"/>
              <a:t>Embed: </a:t>
            </a:r>
            <a:r>
              <a:rPr lang="en-US" sz="2800" dirty="0"/>
              <a:t>critical AI engagement in courses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75122E-A14D-E315-DB2E-B10226728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92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67FE-3747-3901-57E3-789810EC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8BE6-ADA3-512E-63CE-F2A293DA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77BD4-9959-4B6E-49F0-9EE2C9679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pPr lvl="1"/>
            <a:r>
              <a:rPr lang="en-US" sz="2800" b="1" dirty="0"/>
              <a:t>Embed: </a:t>
            </a:r>
            <a:r>
              <a:rPr lang="en-US" sz="2800" dirty="0"/>
              <a:t>critical AI engagement in courses</a:t>
            </a:r>
          </a:p>
          <a:p>
            <a:pPr lvl="1"/>
            <a:r>
              <a:rPr lang="en-US" sz="2800" b="1" dirty="0"/>
              <a:t>Equip: </a:t>
            </a:r>
            <a:r>
              <a:rPr lang="en-US" sz="2800" dirty="0"/>
              <a:t>faculty with PERMA tools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54C66F-829D-1749-2AB1-22EAD7097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11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97EE-3C3A-1748-AB44-CACC5EAD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D4D2-B369-2C1E-1903-33C9916F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7B0FB-EEEB-48FE-625D-20D71ACF4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pPr lvl="1"/>
            <a:r>
              <a:rPr lang="en-US" sz="2800" b="1" dirty="0"/>
              <a:t>Embed: </a:t>
            </a:r>
            <a:r>
              <a:rPr lang="en-US" sz="2800" dirty="0"/>
              <a:t>critical AI engagement in courses</a:t>
            </a:r>
          </a:p>
          <a:p>
            <a:pPr lvl="1"/>
            <a:r>
              <a:rPr lang="en-US" sz="2800" b="1" dirty="0"/>
              <a:t>Equip: </a:t>
            </a:r>
            <a:r>
              <a:rPr lang="en-US" sz="2800" dirty="0"/>
              <a:t>faculty with </a:t>
            </a:r>
            <a:r>
              <a:rPr lang="en-US" sz="2800"/>
              <a:t>PERMA tools</a:t>
            </a:r>
          </a:p>
          <a:p>
            <a:pPr lvl="2"/>
            <a:r>
              <a:rPr lang="en-US" sz="2400"/>
              <a:t>Faculty </a:t>
            </a:r>
            <a:r>
              <a:rPr lang="en-US" sz="2400" dirty="0"/>
              <a:t>development that helps instructors build classroom cultures supporting flourishing (Positive Emotion, Engagement, Relationships, Meaning, Accomplishment)</a:t>
            </a:r>
          </a:p>
          <a:p>
            <a:pPr lvl="1"/>
            <a:endParaRPr lang="en-US" sz="2800" dirty="0"/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F0CBD-BC4E-CF0E-BAB6-282064D6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33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0C20-2F23-0548-D06F-B027B645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1C31-EA15-7A25-588C-E9A17B25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ED66-BE35-5D8A-00F1-A566E6443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pPr lvl="1"/>
            <a:r>
              <a:rPr lang="en-US" sz="2800" b="1" dirty="0"/>
              <a:t>Embed: </a:t>
            </a:r>
            <a:r>
              <a:rPr lang="en-US" sz="2800" dirty="0"/>
              <a:t>critical AI engagement in courses</a:t>
            </a:r>
          </a:p>
          <a:p>
            <a:pPr lvl="1"/>
            <a:r>
              <a:rPr lang="en-US" sz="2800" b="1" dirty="0"/>
              <a:t>Equip: </a:t>
            </a:r>
            <a:r>
              <a:rPr lang="en-US" sz="2800" dirty="0"/>
              <a:t>faculty with PERMA tools</a:t>
            </a:r>
          </a:p>
          <a:p>
            <a:pPr lvl="1"/>
            <a:r>
              <a:rPr lang="en-US" sz="2800" b="1" dirty="0"/>
              <a:t>Train: </a:t>
            </a:r>
            <a:r>
              <a:rPr lang="en-US" sz="2800" dirty="0"/>
              <a:t>students in prompting + discernment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08570B-882A-939D-9F51-4EC6E74DB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80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47ED-A546-ABC1-5C65-41B2B533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4216-7D8A-3364-A2CE-5BB41130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6BA1-3E70-B6EF-31CA-4D893A70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/>
          </a:bodyPr>
          <a:lstStyle/>
          <a:p>
            <a:pPr lvl="1"/>
            <a:r>
              <a:rPr lang="en-US" sz="2800" b="1" dirty="0"/>
              <a:t>Reframe: </a:t>
            </a:r>
            <a:r>
              <a:rPr lang="en-US" sz="2800" dirty="0"/>
              <a:t>“Get-To” culture</a:t>
            </a:r>
          </a:p>
          <a:p>
            <a:pPr lvl="1"/>
            <a:r>
              <a:rPr lang="en-US" sz="2800" b="1" dirty="0"/>
              <a:t>Embed: </a:t>
            </a:r>
            <a:r>
              <a:rPr lang="en-US" sz="2800" dirty="0"/>
              <a:t>critical AI engagement in courses</a:t>
            </a:r>
          </a:p>
          <a:p>
            <a:pPr lvl="1"/>
            <a:r>
              <a:rPr lang="en-US" sz="2800" b="1" dirty="0"/>
              <a:t>Equip: </a:t>
            </a:r>
            <a:r>
              <a:rPr lang="en-US" sz="2800" dirty="0"/>
              <a:t>faculty with PERMA tools</a:t>
            </a:r>
          </a:p>
          <a:p>
            <a:pPr lvl="1"/>
            <a:r>
              <a:rPr lang="en-US" sz="2800" b="1" dirty="0"/>
              <a:t>Train: </a:t>
            </a:r>
            <a:r>
              <a:rPr lang="en-US" sz="2800" dirty="0"/>
              <a:t>students in prompting + discernment</a:t>
            </a:r>
          </a:p>
          <a:p>
            <a:pPr lvl="1"/>
            <a:r>
              <a:rPr lang="en-US" sz="2800" b="1" dirty="0"/>
              <a:t>Launch: </a:t>
            </a:r>
            <a:r>
              <a:rPr lang="en-US" sz="2800" dirty="0"/>
              <a:t>Gen Ed “AI &amp; Human Flourishing”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602EF-971A-A425-34EE-A3705AE24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3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2136-DDB6-0D09-DECB-527EF165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F265-68A4-4982-9867-CAD438F2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039F6-30C0-501E-13C2-D829877B9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9315"/>
            <a:ext cx="10972798" cy="4351338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Cultural moment</a:t>
            </a:r>
          </a:p>
          <a:p>
            <a:pPr lvl="2"/>
            <a:r>
              <a:rPr lang="en-US" sz="2400" dirty="0"/>
              <a:t>Disconnection, crisis of meaning, digital distraction, loss of telos</a:t>
            </a:r>
          </a:p>
          <a:p>
            <a:pPr lvl="1"/>
            <a:r>
              <a:rPr lang="en-US" sz="2800" dirty="0"/>
              <a:t>Compass</a:t>
            </a:r>
          </a:p>
          <a:p>
            <a:pPr lvl="2"/>
            <a:r>
              <a:rPr lang="en-US" sz="2400" dirty="0"/>
              <a:t>2x2 Matrix for AI Discernment (Get-To and AI Enhanced = Joyful and Wise)</a:t>
            </a:r>
          </a:p>
          <a:p>
            <a:pPr lvl="1"/>
            <a:r>
              <a:rPr lang="en-US" sz="2800" dirty="0"/>
              <a:t>The t-Shaped Engineer</a:t>
            </a:r>
          </a:p>
          <a:p>
            <a:pPr lvl="2"/>
            <a:r>
              <a:rPr lang="en-US" sz="2400" dirty="0"/>
              <a:t>Technical, relational and Christ-centered purpose</a:t>
            </a:r>
          </a:p>
          <a:p>
            <a:pPr lvl="1"/>
            <a:r>
              <a:rPr lang="en-US" sz="2800" dirty="0"/>
              <a:t>Transformational initiatives</a:t>
            </a:r>
          </a:p>
          <a:p>
            <a:pPr lvl="2"/>
            <a:r>
              <a:rPr lang="en-US" sz="2400" dirty="0"/>
              <a:t>Reframe (Get-To), Embed (AI engagement), Equip (faculty training), Train (AI prompting), Launch (General Education)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D3A37-C3CC-B66D-900C-80DCD0B8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355" y="5387473"/>
            <a:ext cx="867314" cy="8673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90AD41-3728-6BFE-47E5-A1AA8BE48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755" y="5208532"/>
            <a:ext cx="1225196" cy="1225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7BBEED-AABF-5FA9-3AFE-F475613B5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7775" y="5273867"/>
            <a:ext cx="1095292" cy="1095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FA83F0-6A7A-8D12-6A5C-8F0AFDD99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435" y="5382325"/>
            <a:ext cx="1560195" cy="87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03BD-FC3B-DC87-5F08-7F56F760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D50E-96F0-8F75-3168-CB24CA4D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365125"/>
            <a:ext cx="10801350" cy="1325563"/>
          </a:xfrm>
        </p:spPr>
        <p:txBody>
          <a:bodyPr>
            <a:normAutofit/>
          </a:bodyPr>
          <a:lstStyle/>
          <a:p>
            <a:r>
              <a:rPr lang="en-US" dirty="0"/>
              <a:t>Commissioning – Something to Say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322D17-6F53-A304-FE9C-592FCA2E24BE}"/>
              </a:ext>
            </a:extLst>
          </p:cNvPr>
          <p:cNvSpPr txBox="1">
            <a:spLocks/>
          </p:cNvSpPr>
          <p:nvPr/>
        </p:nvSpPr>
        <p:spPr>
          <a:xfrm>
            <a:off x="3084159" y="5057974"/>
            <a:ext cx="87573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1E6A"/>
                </a:solidFill>
                <a:latin typeface="Gotham Black" pitchFamily="50" charset="0"/>
                <a:ea typeface="+mj-ea"/>
                <a:cs typeface="Gotham Black" pitchFamily="50" charset="0"/>
              </a:defRPr>
            </a:lvl1pPr>
          </a:lstStyle>
          <a:p>
            <a:r>
              <a:rPr lang="en-US" sz="2400" dirty="0"/>
              <a:t>    Substack				     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BFFFE-C088-AF86-3EF5-D190B632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904" y="1931671"/>
            <a:ext cx="3608097" cy="3608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2BB6C0-2590-C00B-C142-CCB2EAB3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47" y="1931671"/>
            <a:ext cx="3600953" cy="35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03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5BC5-FE9D-BDE8-6BB9-66517B21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FD2F-E15C-6673-1706-0B0F0484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/>
              <a:t>Back-Up Slides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EE900-6085-1B1C-EDC5-3AF58A1D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22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05B4-6617-08A9-AAC6-0E4291E5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65125"/>
            <a:ext cx="10454640" cy="1325563"/>
          </a:xfrm>
        </p:spPr>
        <p:txBody>
          <a:bodyPr>
            <a:normAutofit/>
          </a:bodyPr>
          <a:lstStyle/>
          <a:p>
            <a:r>
              <a:rPr lang="en-US" dirty="0"/>
              <a:t>Five Initiatives for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4170-7E7A-C7C7-1677-7F1837C3E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609315"/>
            <a:ext cx="977621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Cultivate a “Get‑To” culture</a:t>
            </a:r>
          </a:p>
          <a:p>
            <a:pPr lvl="1"/>
            <a:r>
              <a:rPr lang="en-US" dirty="0"/>
              <a:t>Reframe learning as vocation and privilege rather than obligation (“have‑to”)</a:t>
            </a:r>
          </a:p>
          <a:p>
            <a:r>
              <a:rPr lang="en-US" dirty="0"/>
              <a:t>Embed critical engagement with AI into the curriculum</a:t>
            </a:r>
          </a:p>
          <a:p>
            <a:pPr lvl="1"/>
            <a:r>
              <a:rPr lang="en-US" dirty="0"/>
              <a:t>Make AI a visible, explicit part of coursework in ways that teach wise, critical use rather than naïve adoption or avoidance.</a:t>
            </a:r>
          </a:p>
          <a:p>
            <a:r>
              <a:rPr lang="en-US" dirty="0"/>
              <a:t>Equip faculty through workshops on the PERMA model of well‑being</a:t>
            </a:r>
          </a:p>
          <a:p>
            <a:pPr lvl="1"/>
            <a:r>
              <a:rPr lang="en-US" dirty="0"/>
              <a:t>Faculty development that helps instructors build classroom cultures supporting flourishing (Positive Emotion, Engagement, Relationships, Meaning, Accomplishment)</a:t>
            </a:r>
          </a:p>
          <a:p>
            <a:r>
              <a:rPr lang="en-US" dirty="0"/>
              <a:t>Train students in AI prompting and discernment</a:t>
            </a:r>
          </a:p>
          <a:p>
            <a:pPr lvl="1"/>
            <a:r>
              <a:rPr lang="en-US" dirty="0"/>
              <a:t>Explicitly teach prompt craft and, crucially, the judgment to know when/why/how to use AI in ways that support formation rather than shortcut it. </a:t>
            </a:r>
          </a:p>
          <a:p>
            <a:r>
              <a:rPr lang="en-US" dirty="0"/>
              <a:t>Launch a new general education course: “AI and Human Flourishing”</a:t>
            </a:r>
          </a:p>
          <a:p>
            <a:pPr lvl="1"/>
            <a:r>
              <a:rPr lang="en-US" dirty="0"/>
              <a:t>A campus‑wide course framing AI through technological, ethical, and spiritual dimensions—aimed at formation and human flourishing.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BE7BE2-E515-1650-B922-BC3FE0CF1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686" y="5879689"/>
            <a:ext cx="867314" cy="8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2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27145</TotalTime>
  <Words>1261</Words>
  <Application>Microsoft Macintosh PowerPoint</Application>
  <PresentationFormat>Widescreen</PresentationFormat>
  <Paragraphs>255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Gotham Black</vt:lpstr>
      <vt:lpstr>Proxima Nova</vt:lpstr>
      <vt:lpstr>Office Theme</vt:lpstr>
      <vt:lpstr>A Roadmap for Integrating AI into Christian Engineering Education</vt:lpstr>
      <vt:lpstr>Wipeout</vt:lpstr>
      <vt:lpstr>The Cultural Moment</vt:lpstr>
      <vt:lpstr>The Moment</vt:lpstr>
      <vt:lpstr>Agenda and Outline</vt:lpstr>
      <vt:lpstr>Agenda and Outline</vt:lpstr>
      <vt:lpstr>AI Formation Mindset</vt:lpstr>
      <vt:lpstr>AI Formation Mindset</vt:lpstr>
      <vt:lpstr>AI Formation Mindset</vt:lpstr>
      <vt:lpstr>AI Formation Mindset</vt:lpstr>
      <vt:lpstr>AI Formation Mindset</vt:lpstr>
      <vt:lpstr>AI Formation Mindset</vt:lpstr>
      <vt:lpstr>AI Formation Mindset</vt:lpstr>
      <vt:lpstr>Agenda and Outline</vt:lpstr>
      <vt:lpstr>T-Shaped Engineer</vt:lpstr>
      <vt:lpstr>T-Shaped Engineer</vt:lpstr>
      <vt:lpstr>T-Shaped Engineer</vt:lpstr>
      <vt:lpstr>T-Shaped Engineer</vt:lpstr>
      <vt:lpstr>T-Shaped Engineer</vt:lpstr>
      <vt:lpstr>t-Shaped Engineer*</vt:lpstr>
      <vt:lpstr>t-Shaped Engineer*</vt:lpstr>
      <vt:lpstr>Engineering</vt:lpstr>
      <vt:lpstr>Engineering</vt:lpstr>
      <vt:lpstr>Agenda and Outline</vt:lpstr>
      <vt:lpstr>Five Initiatives for Transformation</vt:lpstr>
      <vt:lpstr>Five Initiatives for Transformation</vt:lpstr>
      <vt:lpstr>Five Initiatives for Transformation</vt:lpstr>
      <vt:lpstr>Five Initiatives for Transformation</vt:lpstr>
      <vt:lpstr>Five Initiatives for Transformation</vt:lpstr>
      <vt:lpstr>Five Initiatives for Transformation</vt:lpstr>
      <vt:lpstr>Summary</vt:lpstr>
      <vt:lpstr>Commissioning – Something to Say</vt:lpstr>
      <vt:lpstr>Back-Up Slides</vt:lpstr>
      <vt:lpstr>Five Initiatives for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McGinnis, Michael</dc:creator>
  <cp:lastModifiedBy>Michael McGinnis</cp:lastModifiedBy>
  <cp:revision>8</cp:revision>
  <dcterms:created xsi:type="dcterms:W3CDTF">2023-07-11T21:27:47Z</dcterms:created>
  <dcterms:modified xsi:type="dcterms:W3CDTF">2026-10-07T15:55:30Z</dcterms:modified>
</cp:coreProperties>
</file>