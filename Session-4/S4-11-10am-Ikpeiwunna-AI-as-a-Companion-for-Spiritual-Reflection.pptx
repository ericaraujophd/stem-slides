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65" r:id="rId4"/>
    <p:sldId id="267" r:id="rId5"/>
    <p:sldId id="258" r:id="rId6"/>
    <p:sldId id="269" r:id="rId7"/>
    <p:sldId id="260" r:id="rId8"/>
    <p:sldId id="261" r:id="rId9"/>
    <p:sldId id="263" r:id="rId10"/>
    <p:sldId id="264" r:id="rId11"/>
    <p:sldId id="268" r:id="rId12"/>
  </p:sldIdLst>
  <p:sldSz cx="12192000" cy="6858000"/>
  <p:notesSz cx="6858000" cy="12192000"/>
  <p:embeddedFontLst>
    <p:embeddedFont>
      <p:font typeface="Geist"/>
      <p:regular r:id="rId14"/>
    </p:embeddedFont>
    <p:embeddedFont>
      <p:font typeface="Geist Mono Medium" panose="02010009000000000000"/>
      <p:regular r:id="rId15"/>
    </p:embeddedFont>
    <p:embeddedFont>
      <p:font typeface="Geist SemiBold" pitchFamily="2" charset="77"/>
      <p:regular r:id="rId16"/>
      <p:bold r:id="rId17"/>
    </p:embeddedFont>
    <p:embeddedFont>
      <p:font typeface="Gloock"/>
      <p:regular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201"/>
    <p:restoredTop sz="64935"/>
  </p:normalViewPr>
  <p:slideViewPr>
    <p:cSldViewPr snapToGrid="0" snapToObjects="1">
      <p:cViewPr varScale="1">
        <p:scale>
          <a:sx n="85" d="100"/>
          <a:sy n="85" d="100"/>
        </p:scale>
        <p:origin x="17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99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Recently, I was sitting with some discomfort around prayer.</a:t>
            </a:r>
            <a:endParaRPr lang="en-US"/>
          </a:p>
          <a:p>
            <a:r>
              <a:rPr lang="en-US"/>
              <a:t>My understanding of prayer has changed a lot over the past few years, and I was having trouble putting into words exactly what had changed.</a:t>
            </a:r>
          </a:p>
          <a:p>
            <a:r>
              <a:rPr lang="en-US"/>
              <a:t>So I opened an AI chat. Not because I wanted it to tell me the correct theology of prayer, but because I was trying to make sense of my own experience.</a:t>
            </a:r>
          </a:p>
          <a:p>
            <a:r>
              <a:rPr lang="en-US"/>
              <a:t>As I put my thoughts into words and answered its questions, something became clearer. I realized that prayer, for me, had become less about petitioning and more about grounding, presence, and staying connected to my own embodied experience.</a:t>
            </a:r>
          </a:p>
          <a:p>
            <a:r>
              <a:rPr lang="en-US"/>
              <a:t>The AI didn't give me that belief. It helped me find language for something that was already emerging within me.</a:t>
            </a:r>
          </a:p>
          <a:p>
            <a:r>
              <a:rPr lang="en-US" i="1"/>
              <a:t>[pause]</a:t>
            </a:r>
            <a:endParaRPr lang="en-US"/>
          </a:p>
          <a:p>
            <a:r>
              <a:rPr lang="en-US"/>
              <a:t>Good morning. I'm Nia Austin Ikpeiwunna, and I'm here to talk about AI as a companion for spiritual reflection.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Faith and technology have always shaped one another.</a:t>
            </a:r>
            <a:r>
              <a:rPr lang="en-US"/>
              <a:t> The codex changed how sacred texts could be collected, organized, and carried. The printing press changed the scale at which religious ideas could circulate. And in the digital age, websites, blogs, podcasts, social media, and online communities have given people new ways to learn about faith, form community, and explore spiritual questions.</a:t>
            </a:r>
          </a:p>
          <a:p>
            <a:r>
              <a:rPr lang="en-US"/>
              <a:t>Scholars of digital religion, including Heidi Campbell, have pointed out that new technologies do more than distribute religious content. They can reshape religious practice, meaning-making, community, and even where people locate religious authority. Hold on to that last one. We'll come back to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a:t>Now we're in the age of large language models, and something important is changing again.</a:t>
            </a:r>
            <a:r>
              <a:rPr lang="en-US"/>
              <a:t> Unlike a book, a podcast, or most online communities, an AI responds directly to me. I can tell it what I'm thinking, ask a follow-up, disagree, clarify, and keep going. Over time, that interaction becomes highly personalized.</a:t>
            </a:r>
          </a:p>
          <a:p>
            <a:r>
              <a:rPr lang="en-US"/>
              <a:t>And people are already using these tools in deeply personal ways. At a 2026 National Academy of Medicine discussion on AI and mental health, psychiatrist John Torous noted that, using a broad definition of emotional support, about one in three people have used an AI chatbot for that purpose.</a:t>
            </a:r>
          </a:p>
          <a:p>
            <a:r>
              <a:rPr lang="en-US"/>
              <a:t>So AI is starting to occupy a different space in our lives. It isn't only a channel through which we receive information. It can become a space in which we process our own inner experience, as it was for me with prayer.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4C613-0807-CE58-C5AF-DDCE6BA96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8D4FB9-E0B3-29E0-5647-77ED69FBC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94F6F-0EEA-401D-1776-2677703405B5}"/>
              </a:ext>
            </a:extLst>
          </p:cNvPr>
          <p:cNvSpPr>
            <a:spLocks noGrp="1"/>
          </p:cNvSpPr>
          <p:nvPr>
            <p:ph type="body" idx="1"/>
          </p:nvPr>
        </p:nvSpPr>
        <p:spPr/>
        <p:txBody>
          <a:bodyPr/>
          <a:lstStyle/>
          <a:p>
            <a:r>
              <a:rPr lang="en-US" b="1"/>
              <a:t>So here's the question I want to explore today.</a:t>
            </a:r>
            <a:r>
              <a:rPr lang="en-US"/>
              <a:t> What happens when AI becomes a tool for spiritual reflection, in ways that start to overlap with the territory of human spiritual direction?</a:t>
            </a:r>
          </a:p>
          <a:p>
            <a:r>
              <a:rPr lang="en-US"/>
              <a:t>By spiritual direction, I mean a relational practice in which one person accompanies another in paying attention to their inner life and to the presence and movement of God, through listening, questions, silence, and discernment.</a:t>
            </a:r>
          </a:p>
          <a:p>
            <a:r>
              <a:rPr lang="en-US"/>
              <a:t>I'll look at two things AI does well for this kind of reflection, three things it lacks, and then what its proper role might be.</a:t>
            </a:r>
          </a:p>
          <a:p>
            <a:endParaRPr lang="en-US"/>
          </a:p>
        </p:txBody>
      </p:sp>
      <p:sp>
        <p:nvSpPr>
          <p:cNvPr id="4" name="Slide Number Placeholder 3">
            <a:extLst>
              <a:ext uri="{FF2B5EF4-FFF2-40B4-BE49-F238E27FC236}">
                <a16:creationId xmlns:a16="http://schemas.microsoft.com/office/drawing/2014/main" id="{6AC915CC-A7D7-9B6D-07D1-81B354FD17E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17708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The first strength: AI can help organize inner experience that still feels messy.</a:t>
            </a:r>
            <a:r>
              <a:rPr lang="en-US"/>
              <a:t> Like my experience with prayer, we often don't come to reflection with a clear question. We come with fragments: emotions, half-formed thoughts, contradictions, memories, fears, and things we aren't even sure belong together.</a:t>
            </a:r>
          </a:p>
          <a:p>
            <a:r>
              <a:rPr lang="en-US"/>
              <a:t>AI can be surprisingly good at receiving that kind of material. It can summarize, find recurring themes, reflect tensions back, and help us find language for something we haven't yet been able to say. Often it's not about giving me a new idea. It gives me my own thoughts back in a form I can see, and one I can share with other people.</a:t>
            </a:r>
          </a:p>
          <a:p>
            <a:r>
              <a:rPr lang="en-US"/>
              <a:t>Michel Foucault called the practices people use to examine and work on themselves </a:t>
            </a:r>
            <a:r>
              <a:rPr lang="en-US" i="1"/>
              <a:t>technologies of the self</a:t>
            </a:r>
            <a:r>
              <a:rPr lang="en-US"/>
              <a:t>. </a:t>
            </a:r>
            <a:r>
              <a:rPr lang="en-US" i="1"/>
              <a:t>[pause]</a:t>
            </a:r>
            <a:r>
              <a:rPr lang="en-US"/>
              <a:t> AI-guided reflection may be a new one. It isn't just giving me information. It's taking part in how I examine, organize, and narrate my own inner life.</a:t>
            </a:r>
          </a:p>
          <a:p>
            <a:r>
              <a:rPr lang="en-US" b="1"/>
              <a:t>The second strength: AI offers a low-friction reflective space that the user controls.</a:t>
            </a:r>
            <a:r>
              <a:rPr lang="en-US"/>
              <a:t> I don't have to make an appointment or arrive with a coherent story. I can write a paragraph, stop, come back later, contradict myself, or decide not to go any further.</a:t>
            </a:r>
          </a:p>
          <a:p>
            <a:r>
              <a:rPr lang="en-US"/>
              <a:t>That doesn't automatically make it a safe or shame-free space. Some people disclose more freely because they aren't managing another person's reaction. Others hold back because they don't trust a machine with something so personal. So the best way to describe this strength is that AI gives the user a great deal of control over the timing, pace, and amount of what they disclose.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21C58-D6D2-E1BC-222C-AE662175F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0B553-6880-0BA5-9960-5328E876E5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8CA316-DA05-42A3-A118-8290BE1F6E6E}"/>
              </a:ext>
            </a:extLst>
          </p:cNvPr>
          <p:cNvSpPr>
            <a:spLocks noGrp="1"/>
          </p:cNvSpPr>
          <p:nvPr>
            <p:ph type="body" idx="1"/>
          </p:nvPr>
        </p:nvSpPr>
        <p:spPr/>
        <p:txBody>
          <a:bodyPr/>
          <a:lstStyle/>
          <a:p>
            <a:r>
              <a:rPr lang="en-US" b="1"/>
              <a:t>But being useful is not the same as spiritual direction.</a:t>
            </a:r>
            <a:r>
              <a:rPr lang="en-US"/>
              <a:t> If AI can be genuinely useful for reflection, what does it still lack compared with a human director? I see three things.</a:t>
            </a:r>
          </a:p>
          <a:p>
            <a:r>
              <a:rPr lang="en-US" b="1"/>
              <a:t>The first is embodiment and attunement.</a:t>
            </a:r>
            <a:r>
              <a:rPr lang="en-US"/>
              <a:t> A human director listens not only to what I say but to how I say it. They may notice a long pause, a change in tone, a shaky voice, tears, or a sudden shift in energy. Those cues can show that something important is happening before I have words for it. And they change how the director responds. If I begin to cry, a director may stop asking questions, soften their tone, allow silence, or simply stay present. AI can infer emotion from words, and voice systems may pick up some vocal signals, but it doesn't take part in that embodied human encounter.</a:t>
            </a:r>
          </a:p>
          <a:p>
            <a:r>
              <a:rPr lang="en-US" b="1"/>
              <a:t>The second is genuine human and spiritual presence.</a:t>
            </a:r>
            <a:r>
              <a:rPr lang="en-US"/>
              <a:t> A director brings a lived life into the room: their own experience, faith, formation, suffering, wisdom, and relationship with God. They can pray with me and discern with me. AI can generate the language of empathy, prayer, and discernment, but it doesn't feel empathy, pray, hold beliefs, or take part in a spiritual life.</a:t>
            </a:r>
          </a:p>
          <a:p>
            <a:r>
              <a:rPr lang="en-US" b="1"/>
              <a:t>The third is pace.</a:t>
            </a:r>
            <a:r>
              <a:rPr lang="en-US"/>
              <a:t> AI tends to keep moving. It responds, explains, summarizes, and asks the next question. Part of the beauty of spiritual direction is that another person can help us slow down, allow silence, resist the urge to interpret, and stay with a feeling, image, or question instead of resolving it right away. Spiritual reflection isn't about producing insight as quickly as possible.</a:t>
            </a:r>
          </a:p>
          <a:p>
            <a:r>
              <a:rPr lang="en-US"/>
              <a:t>AI's constant availability has a downside too. The same qualities that make it easy to use make it easy to return to again and again for reassurance or connection. Research has raised concerns about over-reliance on conversational AI, including a 2025 OpenAI and MIT Media Lab study linking heavy use to greater loneliness. There are also concerns about overly agreeable systems reinforcing distorted thinking instead of making room for discernment. </a:t>
            </a:r>
          </a:p>
          <a:p>
            <a:r>
              <a:rPr lang="en-US"/>
              <a:t>So AI may support some of the functions of spiritual reflection while lacking embodiment, mutual relationship, spiritual presence, and the wisdom to know how to respond, and when not to respond at all.</a:t>
            </a:r>
          </a:p>
        </p:txBody>
      </p:sp>
      <p:sp>
        <p:nvSpPr>
          <p:cNvPr id="4" name="Slide Number Placeholder 3">
            <a:extLst>
              <a:ext uri="{FF2B5EF4-FFF2-40B4-BE49-F238E27FC236}">
                <a16:creationId xmlns:a16="http://schemas.microsoft.com/office/drawing/2014/main" id="{EE83D1AC-56B0-4771-F2CC-400051154217}"/>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96390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That brings me to my central claim.</a:t>
            </a:r>
            <a:r>
              <a:rPr lang="en-US"/>
              <a:t> AI can be a meaningful companion for spiritual reflection, but it cannot replace human spiritual direction or pastoral care. We shouldn't confuse a helpful reflective tool with a human spiritual companion.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So what could that companion role actually look like?</a:t>
            </a:r>
            <a:r>
              <a:rPr lang="en-US"/>
              <a:t> One practical answer is between human conversations. For someone in spiritual direction, AI could help them capture what has emerged since their last session, notice recurring questions or patterns, and prepare what they want to explore more deeply with their director.</a:t>
            </a:r>
          </a:p>
          <a:p>
            <a:r>
              <a:rPr lang="en-US"/>
              <a:t>Go back to my prayer story. The AI helped me find words: grounding, presence, embodiment. But finding words is not the same as discerning what they mean. The next faithful step isn't another chat. It's bringing those words to a human director who can ask what God might be doing in that shift, sit with me in it, and pray with me about it.</a:t>
            </a:r>
          </a:p>
          <a:p>
            <a:r>
              <a:rPr lang="en-US"/>
              <a:t>That's the role: AI can help us prepare for discernment without pretending to be the discerner.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a:solidFill>
                  <a:schemeClr val="tx1"/>
                </a:solidFill>
                <a:effectLst/>
                <a:latin typeface="+mn-lt"/>
                <a:ea typeface="+mn-ea"/>
                <a:cs typeface="+mn-cs"/>
              </a:rPr>
              <a:t>So what do we do with all of this?</a:t>
            </a:r>
            <a:endParaRPr lang="en-US" sz="1200" kern="1200">
              <a:solidFill>
                <a:schemeClr val="tx1"/>
              </a:solidFill>
              <a:effectLst/>
              <a:latin typeface="+mn-lt"/>
              <a:ea typeface="+mn-ea"/>
              <a:cs typeface="+mn-cs"/>
            </a:endParaRPr>
          </a:p>
          <a:p>
            <a:endParaRPr lang="en-US" sz="1200" kern="1200">
              <a:solidFill>
                <a:schemeClr val="tx1"/>
              </a:solidFill>
              <a:effectLst/>
              <a:latin typeface="+mn-lt"/>
              <a:ea typeface="+mn-ea"/>
              <a:cs typeface="+mn-cs"/>
            </a:endParaRPr>
          </a:p>
          <a:p>
            <a:r>
              <a:rPr lang="en-US" b="1"/>
              <a:t>For spiritual directors, the first step is to assume that some of the people you care for are already using AI to process parts of their inner lives.</a:t>
            </a:r>
            <a:endParaRPr lang="en-US"/>
          </a:p>
          <a:p>
            <a:r>
              <a:rPr lang="en-US"/>
              <a:t>Remember Heidi Campbell's point about where people locate religious authority. When reflection moves into a private conversation with a machine, some of the interpretive work that once happened with a spiritual director shifts toward the individual and the tool. Directors can't step into that space unless they know it exists.</a:t>
            </a:r>
          </a:p>
          <a:p>
            <a:r>
              <a:rPr lang="en-US"/>
              <a:t>So ask about it, without judgment. What are they using AI for? Where does it fall short? Is it helping them become more reflective, or are they going back to it for reassurance? You don't need to become an AI expert. You can help people become more discerning users of these tools, and you can name the limits clearly. AI can help organize thoughts and surface patterns. It doesn't replace embodied presence, spiritual discernment, human relationship, or pastoral care.</a:t>
            </a:r>
          </a:p>
          <a:p>
            <a:r>
              <a:rPr lang="en-US" b="1"/>
              <a:t>For developers, the challenge is different.</a:t>
            </a:r>
            <a:r>
              <a:rPr lang="en-US"/>
              <a:t> Most AI systems are built to be helpful by responding: summarizing, interpreting, explaining, offering the next question. But spiritual reflection doesn't always need more interpretation. Sometimes it needs space. So build reflective AI with a clear sense of its role. Design it to do less: to slow down, invite the user to sit with what has emerged, leave a question unresolved, and recognize when something belongs with a spiritual director, pastor, therapist, or another trusted person.</a:t>
            </a:r>
          </a:p>
          <a:p>
            <a:r>
              <a:rPr lang="en-US"/>
              <a:t>The goal isn't to make AI indistinguishable from a spiritual director. </a:t>
            </a:r>
            <a:r>
              <a:rPr lang="en-US" i="1"/>
              <a:t>[pause]</a:t>
            </a:r>
            <a:r>
              <a:rPr lang="en-US"/>
              <a:t> The goal is to design AI that knows it is not.</a:t>
            </a:r>
          </a:p>
          <a:p>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 closing:</a:t>
            </a:r>
            <a:r>
              <a:rPr lang="en-US"/>
              <a:t> let AI help us notice, name, and prepare our thoughts, and let human beings listen deeply, discern with us, and walk with us through what we find.</a:t>
            </a:r>
          </a:p>
          <a:p>
            <a:r>
              <a:rPr lang="en-US"/>
              <a:t>Thank you.</a:t>
            </a:r>
          </a:p>
          <a:p>
            <a:endParaRPr lang="en-US"/>
          </a:p>
          <a:p>
            <a:endParaRPr lang="en-US"/>
          </a:p>
          <a:p>
            <a:r>
              <a:t>Leave this slide up through Q&amp;A.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US"/>
          </a:p>
        </p:txBody>
      </p:sp>
    </p:spTree>
    <p:extLst>
      <p:ext uri="{BB962C8B-B14F-4D97-AF65-F5344CB8AC3E}">
        <p14:creationId xmlns:p14="http://schemas.microsoft.com/office/powerpoint/2010/main" val="235412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BC7BF"/>
          </a:solidFill>
          <a:ln/>
        </p:spPr>
        <p:txBody>
          <a:bodyPr/>
          <a:lstStyle/>
          <a:p>
            <a:endParaRPr lang="en-US"/>
          </a:p>
        </p:txBody>
      </p:sp>
      <p:sp>
        <p:nvSpPr>
          <p:cNvPr id="3" name="Shape 1"/>
          <p:cNvSpPr/>
          <p:nvPr/>
        </p:nvSpPr>
        <p:spPr>
          <a:xfrm>
            <a:off x="0" y="0"/>
            <a:ext cx="12191695" cy="6858000"/>
          </a:xfrm>
          <a:prstGeom prst="rect">
            <a:avLst/>
          </a:prstGeom>
          <a:solidFill>
            <a:srgbClr val="12141A"/>
          </a:solidFill>
          <a:ln/>
        </p:spPr>
        <p:txBody>
          <a:bodyPr/>
          <a:lstStyle/>
          <a:p>
            <a:endParaRPr lang="en-US"/>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BC7BF"/>
          </a:solidFill>
          <a:ln/>
        </p:spPr>
      </p:sp>
      <p:sp>
        <p:nvSpPr>
          <p:cNvPr id="3" name="Shape 1"/>
          <p:cNvSpPr/>
          <p:nvPr/>
        </p:nvSpPr>
        <p:spPr>
          <a:xfrm>
            <a:off x="0" y="0"/>
            <a:ext cx="12191695" cy="6858000"/>
          </a:xfrm>
          <a:prstGeom prst="rect">
            <a:avLst/>
          </a:prstGeom>
          <a:solidFill>
            <a:srgbClr val="DDE4E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BC7BF"/>
          </a:solidFill>
          <a:ln/>
        </p:spPr>
        <p:txBody>
          <a:bodyPr/>
          <a:lstStyle/>
          <a:p>
            <a:endParaRPr lang="en-US"/>
          </a:p>
        </p:txBody>
      </p:sp>
      <p:sp>
        <p:nvSpPr>
          <p:cNvPr id="3" name="Shape 1"/>
          <p:cNvSpPr/>
          <p:nvPr/>
        </p:nvSpPr>
        <p:spPr>
          <a:xfrm>
            <a:off x="0" y="0"/>
            <a:ext cx="12191695" cy="6858000"/>
          </a:xfrm>
          <a:prstGeom prst="rect">
            <a:avLst/>
          </a:prstGeom>
          <a:solidFill>
            <a:srgbClr val="F6F4EF"/>
          </a:solidFill>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master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BC7BF"/>
          </a:solidFill>
          <a:ln/>
        </p:spPr>
        <p:txBody>
          <a:bodyPr/>
          <a:lstStyle/>
          <a:p>
            <a:endParaRPr lang="en-US"/>
          </a:p>
        </p:txBody>
      </p:sp>
      <p:sp>
        <p:nvSpPr>
          <p:cNvPr id="3" name="Shape 1"/>
          <p:cNvSpPr/>
          <p:nvPr/>
        </p:nvSpPr>
        <p:spPr>
          <a:xfrm>
            <a:off x="0" y="0"/>
            <a:ext cx="12191695" cy="6858000"/>
          </a:xfrm>
          <a:prstGeom prst="rect">
            <a:avLst/>
          </a:prstGeom>
          <a:solidFill>
            <a:srgbClr val="12141A"/>
          </a:solidFill>
          <a:ln/>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master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CBC7BF"/>
          </a:solidFill>
          <a:ln/>
        </p:spPr>
        <p:txBody>
          <a:bodyPr/>
          <a:lstStyle/>
          <a:p>
            <a:endParaRPr lang="en-US"/>
          </a:p>
        </p:txBody>
      </p:sp>
      <p:sp>
        <p:nvSpPr>
          <p:cNvPr id="3" name="Shape 1"/>
          <p:cNvSpPr/>
          <p:nvPr/>
        </p:nvSpPr>
        <p:spPr>
          <a:xfrm>
            <a:off x="0" y="0"/>
            <a:ext cx="12191695" cy="6858000"/>
          </a:xfrm>
          <a:prstGeom prst="rect">
            <a:avLst/>
          </a:prstGeom>
          <a:solidFill>
            <a:srgbClr val="12141A"/>
          </a:solidFill>
          <a:ln/>
        </p:spPr>
        <p:txBody>
          <a:bodyPr/>
          <a:lstStyle/>
          <a:p>
            <a:endParaRPr lang="en-US"/>
          </a:p>
        </p:txBody>
      </p:sp>
      <p:pic>
        <p:nvPicPr>
          <p:cNvPr id="4" name="Image 0" descr="preencoded.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812780" y="1051560"/>
            <a:ext cx="548640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FFFFFF"/>
                </a:solidFill>
                <a:latin typeface="Geist Mono Medium" pitchFamily="34" charset="0"/>
                <a:ea typeface="Geist Mono Medium" pitchFamily="34" charset="-122"/>
                <a:cs typeface="Geist Mono Medium" pitchFamily="34" charset="-120"/>
              </a:rPr>
              <a:t>WISDOM IN THE AGE OF AI · CALVIN UNIVERSITY</a:t>
            </a:r>
            <a:endParaRPr lang="en-US" sz="1200" dirty="0"/>
          </a:p>
        </p:txBody>
      </p:sp>
      <p:sp>
        <p:nvSpPr>
          <p:cNvPr id="3" name="Text 1"/>
          <p:cNvSpPr/>
          <p:nvPr/>
        </p:nvSpPr>
        <p:spPr>
          <a:xfrm>
            <a:off x="812780" y="1371600"/>
            <a:ext cx="4937760" cy="3017520"/>
          </a:xfrm>
          <a:prstGeom prst="rect">
            <a:avLst/>
          </a:prstGeom>
          <a:noFill/>
          <a:ln/>
        </p:spPr>
        <p:txBody>
          <a:bodyPr wrap="square" lIns="0" tIns="0" rIns="0" bIns="0" rtlCol="0" anchor="t">
            <a:normAutofit/>
          </a:bodyPr>
          <a:lstStyle/>
          <a:p>
            <a:pPr marL="0" indent="0" algn="l">
              <a:lnSpc>
                <a:spcPct val="90000"/>
              </a:lnSpc>
              <a:buNone/>
            </a:pPr>
            <a:r>
              <a:rPr lang="en-US" sz="5400" kern="0" spc="-230" dirty="0">
                <a:solidFill>
                  <a:srgbClr val="FFFFFF"/>
                </a:solidFill>
                <a:latin typeface="Gloock" pitchFamily="34" charset="0"/>
                <a:ea typeface="Gloock" pitchFamily="34" charset="-122"/>
                <a:cs typeface="Gloock" pitchFamily="34" charset="-120"/>
              </a:rPr>
              <a:t>AI as a Companion for</a:t>
            </a:r>
            <a:endParaRPr lang="en-US" sz="5400" dirty="0"/>
          </a:p>
          <a:p>
            <a:pPr marL="0" indent="0" algn="l">
              <a:lnSpc>
                <a:spcPct val="90000"/>
              </a:lnSpc>
              <a:buNone/>
            </a:pPr>
            <a:r>
              <a:rPr lang="en-US" sz="5400" kern="0" spc="-230" dirty="0">
                <a:solidFill>
                  <a:srgbClr val="E4572E"/>
                </a:solidFill>
                <a:latin typeface="Gloock" pitchFamily="34" charset="0"/>
                <a:ea typeface="Gloock" pitchFamily="34" charset="-122"/>
                <a:cs typeface="Gloock" pitchFamily="34" charset="-120"/>
              </a:rPr>
              <a:t>Spiritual</a:t>
            </a:r>
            <a:r>
              <a:rPr lang="en-US" sz="5400" kern="0" spc="-230" dirty="0">
                <a:solidFill>
                  <a:srgbClr val="FFFFFF"/>
                </a:solidFill>
                <a:latin typeface="Gloock" pitchFamily="34" charset="0"/>
                <a:ea typeface="Gloock" pitchFamily="34" charset="-122"/>
                <a:cs typeface="Gloock" pitchFamily="34" charset="-120"/>
              </a:rPr>
              <a:t> Reflection</a:t>
            </a:r>
            <a:endParaRPr lang="en-US" sz="5400" dirty="0"/>
          </a:p>
        </p:txBody>
      </p:sp>
      <p:sp>
        <p:nvSpPr>
          <p:cNvPr id="101" name="Text 0"/>
          <p:cNvSpPr/>
          <p:nvPr/>
        </p:nvSpPr>
        <p:spPr>
          <a:xfrm>
            <a:off x="812780" y="4572000"/>
            <a:ext cx="4480560" cy="731520"/>
          </a:xfrm>
          <a:prstGeom prst="rect">
            <a:avLst/>
          </a:prstGeom>
          <a:noFill/>
          <a:ln/>
        </p:spPr>
        <p:txBody>
          <a:bodyPr wrap="square" lIns="0" tIns="0" rIns="0" bIns="0" rtlCol="0" anchor="t"/>
          <a:lstStyle/>
          <a:p>
            <a:pPr marL="0" indent="0" algn="l">
              <a:lnSpc>
                <a:spcPct val="100000"/>
              </a:lnSpc>
              <a:buNone/>
            </a:pPr>
            <a:r>
              <a:rPr lang="en-US" sz="2000" kern="0" spc="96" dirty="0">
                <a:solidFill>
                  <a:srgbClr val="FFFFFF"/>
                </a:solidFill>
                <a:latin typeface="Geist Mono Medium" pitchFamily="34" charset="0"/>
                <a:ea typeface="Geist Mono Medium" pitchFamily="34" charset="-122"/>
                <a:cs typeface="Geist Mono Medium" pitchFamily="34" charset="-120"/>
              </a:rPr>
              <a:t>Reimagining Spiritual Direction in the Age of Language Models</a:t>
            </a:r>
            <a:endParaRPr lang="en-US" sz="2000" dirty="0"/>
          </a:p>
        </p:txBody>
      </p:sp>
      <p:sp>
        <p:nvSpPr>
          <p:cNvPr id="102" name="Text 0"/>
          <p:cNvSpPr/>
          <p:nvPr/>
        </p:nvSpPr>
        <p:spPr>
          <a:xfrm>
            <a:off x="812780" y="5806440"/>
            <a:ext cx="5486400" cy="274320"/>
          </a:xfrm>
          <a:prstGeom prst="rect">
            <a:avLst/>
          </a:prstGeom>
          <a:noFill/>
          <a:ln/>
        </p:spPr>
        <p:txBody>
          <a:bodyPr wrap="none" lIns="0" tIns="0" rIns="0" bIns="0" rtlCol="0" anchor="t"/>
          <a:lstStyle/>
          <a:p>
            <a:pPr marL="0" indent="0" algn="l">
              <a:lnSpc>
                <a:spcPct val="100000"/>
              </a:lnSpc>
              <a:buNone/>
            </a:pPr>
            <a:r>
              <a:rPr lang="en-US" sz="1300" kern="0" spc="96" dirty="0">
                <a:solidFill>
                  <a:srgbClr val="FFFFFF"/>
                </a:solidFill>
                <a:latin typeface="Geist Mono Medium" pitchFamily="34" charset="0"/>
                <a:ea typeface="Geist Mono Medium" pitchFamily="34" charset="-122"/>
                <a:cs typeface="Geist Mono Medium" pitchFamily="34" charset="-120"/>
              </a:rPr>
              <a:t>Nia Austin </a:t>
            </a:r>
            <a:r>
              <a:rPr lang="en-US" sz="1300" kern="0" spc="96">
                <a:solidFill>
                  <a:srgbClr val="FFFFFF"/>
                </a:solidFill>
                <a:latin typeface="Geist Mono Medium" pitchFamily="34" charset="0"/>
                <a:ea typeface="Geist Mono Medium" pitchFamily="34" charset="-122"/>
                <a:cs typeface="Geist Mono Medium" pitchFamily="34" charset="-120"/>
              </a:rPr>
              <a:t>Ikpeiwunna  ·  </a:t>
            </a:r>
            <a:r>
              <a:rPr lang="en-US" sz="1300" kern="0" spc="96" dirty="0">
                <a:solidFill>
                  <a:srgbClr val="FFFFFF"/>
                </a:solidFill>
                <a:latin typeface="Geist Mono Medium" pitchFamily="34" charset="0"/>
                <a:ea typeface="Geist Mono Medium" pitchFamily="34" charset="-122"/>
                <a:cs typeface="Geist Mono Medium" pitchFamily="34" charset="-120"/>
              </a:rPr>
              <a:t>Friday, October 9,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A LONG LINEAGE OF TOOLS</a:t>
            </a:r>
            <a:endParaRPr lang="en-US" sz="1200" dirty="0"/>
          </a:p>
        </p:txBody>
      </p:sp>
      <p:sp>
        <p:nvSpPr>
          <p:cNvPr id="3" name="Text 1"/>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Faith and technology have always shaped one another</a:t>
            </a:r>
            <a:endParaRPr lang="en-US" sz="3000" dirty="0"/>
          </a:p>
        </p:txBody>
      </p:sp>
      <p:sp>
        <p:nvSpPr>
          <p:cNvPr id="4" name="Text 2"/>
          <p:cNvSpPr/>
          <p:nvPr/>
        </p:nvSpPr>
        <p:spPr>
          <a:xfrm>
            <a:off x="609585" y="2050058"/>
            <a:ext cx="707214" cy="228600"/>
          </a:xfrm>
          <a:prstGeom prst="rect">
            <a:avLst/>
          </a:prstGeom>
          <a:noFill/>
          <a:ln/>
        </p:spPr>
        <p:txBody>
          <a:bodyPr wrap="none" lIns="0" tIns="0" rIns="0" bIns="0" rtlCol="0" anchor="t"/>
          <a:lstStyle/>
          <a:p>
            <a:pPr marL="0" indent="0" algn="l">
              <a:lnSpc>
                <a:spcPct val="83000"/>
              </a:lnSpc>
              <a:buNone/>
            </a:pPr>
            <a:r>
              <a:rPr lang="en-US" sz="1800" dirty="0">
                <a:solidFill>
                  <a:srgbClr val="3E5770"/>
                </a:solidFill>
                <a:latin typeface="Geist SemiBold" pitchFamily="34" charset="0"/>
                <a:ea typeface="Geist SemiBold" pitchFamily="34" charset="-122"/>
                <a:cs typeface="Geist SemiBold" pitchFamily="34" charset="-120"/>
              </a:rPr>
              <a:t>1</a:t>
            </a:r>
            <a:endParaRPr lang="en-US" sz="1800" dirty="0"/>
          </a:p>
        </p:txBody>
      </p:sp>
      <p:sp>
        <p:nvSpPr>
          <p:cNvPr id="5" name="Shape 3"/>
          <p:cNvSpPr/>
          <p:nvPr/>
        </p:nvSpPr>
        <p:spPr>
          <a:xfrm>
            <a:off x="609585" y="2370138"/>
            <a:ext cx="2400240" cy="19050"/>
          </a:xfrm>
          <a:prstGeom prst="rect">
            <a:avLst/>
          </a:prstGeom>
          <a:solidFill>
            <a:srgbClr val="4F6D87"/>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609585" y="2526308"/>
            <a:ext cx="2400240" cy="1350169"/>
          </a:xfrm>
          <a:prstGeom prst="rect">
            <a:avLst/>
          </a:prstGeom>
        </p:spPr>
      </p:pic>
      <p:sp>
        <p:nvSpPr>
          <p:cNvPr id="7" name="Text 4"/>
          <p:cNvSpPr/>
          <p:nvPr/>
        </p:nvSpPr>
        <p:spPr>
          <a:xfrm>
            <a:off x="609585" y="4009827"/>
            <a:ext cx="240024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CODEX</a:t>
            </a:r>
            <a:endParaRPr lang="en-US" sz="1200" dirty="0"/>
          </a:p>
        </p:txBody>
      </p:sp>
      <p:sp>
        <p:nvSpPr>
          <p:cNvPr id="8" name="Text 5"/>
          <p:cNvSpPr/>
          <p:nvPr/>
        </p:nvSpPr>
        <p:spPr>
          <a:xfrm>
            <a:off x="609585" y="4326037"/>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Changed how sacred texts could be collected, organized, and carried.</a:t>
            </a:r>
            <a:endParaRPr lang="en-US" sz="1500" dirty="0"/>
          </a:p>
        </p:txBody>
      </p:sp>
      <p:sp>
        <p:nvSpPr>
          <p:cNvPr id="9" name="Text 6"/>
          <p:cNvSpPr/>
          <p:nvPr/>
        </p:nvSpPr>
        <p:spPr>
          <a:xfrm>
            <a:off x="3467013" y="2050058"/>
            <a:ext cx="756425" cy="228600"/>
          </a:xfrm>
          <a:prstGeom prst="rect">
            <a:avLst/>
          </a:prstGeom>
          <a:noFill/>
          <a:ln/>
        </p:spPr>
        <p:txBody>
          <a:bodyPr wrap="none" lIns="0" tIns="0" rIns="0" bIns="0" rtlCol="0" anchor="t"/>
          <a:lstStyle/>
          <a:p>
            <a:pPr marL="0" indent="0" algn="l">
              <a:lnSpc>
                <a:spcPct val="83000"/>
              </a:lnSpc>
              <a:buNone/>
            </a:pPr>
            <a:r>
              <a:rPr lang="en-US" sz="1800" dirty="0">
                <a:solidFill>
                  <a:srgbClr val="3E5770"/>
                </a:solidFill>
                <a:latin typeface="Geist SemiBold" pitchFamily="34" charset="0"/>
                <a:ea typeface="Geist SemiBold" pitchFamily="34" charset="-122"/>
                <a:cs typeface="Geist SemiBold" pitchFamily="34" charset="-120"/>
              </a:rPr>
              <a:t>2</a:t>
            </a:r>
            <a:endParaRPr lang="en-US" sz="1800" dirty="0"/>
          </a:p>
        </p:txBody>
      </p:sp>
      <p:sp>
        <p:nvSpPr>
          <p:cNvPr id="10" name="Shape 7"/>
          <p:cNvSpPr/>
          <p:nvPr/>
        </p:nvSpPr>
        <p:spPr>
          <a:xfrm>
            <a:off x="3467013" y="2370138"/>
            <a:ext cx="2400240" cy="19050"/>
          </a:xfrm>
          <a:prstGeom prst="rect">
            <a:avLst/>
          </a:prstGeom>
          <a:solidFill>
            <a:srgbClr val="4F6D87"/>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3467013" y="2526308"/>
            <a:ext cx="2400240" cy="1350169"/>
          </a:xfrm>
          <a:prstGeom prst="rect">
            <a:avLst/>
          </a:prstGeom>
        </p:spPr>
      </p:pic>
      <p:sp>
        <p:nvSpPr>
          <p:cNvPr id="12" name="Text 8"/>
          <p:cNvSpPr/>
          <p:nvPr/>
        </p:nvSpPr>
        <p:spPr>
          <a:xfrm>
            <a:off x="3467013" y="4009827"/>
            <a:ext cx="240024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PRINTING PRESS</a:t>
            </a:r>
            <a:endParaRPr lang="en-US" sz="1200" dirty="0"/>
          </a:p>
        </p:txBody>
      </p:sp>
      <p:sp>
        <p:nvSpPr>
          <p:cNvPr id="13" name="Text 9"/>
          <p:cNvSpPr/>
          <p:nvPr/>
        </p:nvSpPr>
        <p:spPr>
          <a:xfrm>
            <a:off x="3467013" y="4326037"/>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Transformed the scale at which religious ideas could circulate.</a:t>
            </a:r>
            <a:endParaRPr lang="en-US" sz="1500" dirty="0"/>
          </a:p>
        </p:txBody>
      </p:sp>
      <p:sp>
        <p:nvSpPr>
          <p:cNvPr id="14" name="Text 10"/>
          <p:cNvSpPr/>
          <p:nvPr/>
        </p:nvSpPr>
        <p:spPr>
          <a:xfrm>
            <a:off x="6324442" y="2050058"/>
            <a:ext cx="755234" cy="228600"/>
          </a:xfrm>
          <a:prstGeom prst="rect">
            <a:avLst/>
          </a:prstGeom>
          <a:noFill/>
          <a:ln/>
        </p:spPr>
        <p:txBody>
          <a:bodyPr wrap="none" lIns="0" tIns="0" rIns="0" bIns="0" rtlCol="0" anchor="t"/>
          <a:lstStyle/>
          <a:p>
            <a:pPr marL="0" indent="0" algn="l">
              <a:lnSpc>
                <a:spcPct val="83000"/>
              </a:lnSpc>
              <a:buNone/>
            </a:pPr>
            <a:r>
              <a:rPr lang="en-US" sz="1800" dirty="0">
                <a:solidFill>
                  <a:srgbClr val="3E5770"/>
                </a:solidFill>
                <a:latin typeface="Geist SemiBold" pitchFamily="34" charset="0"/>
                <a:ea typeface="Geist SemiBold" pitchFamily="34" charset="-122"/>
                <a:cs typeface="Geist SemiBold" pitchFamily="34" charset="-120"/>
              </a:rPr>
              <a:t>3</a:t>
            </a:r>
            <a:endParaRPr lang="en-US" sz="1800" dirty="0"/>
          </a:p>
        </p:txBody>
      </p:sp>
      <p:sp>
        <p:nvSpPr>
          <p:cNvPr id="15" name="Shape 11"/>
          <p:cNvSpPr/>
          <p:nvPr/>
        </p:nvSpPr>
        <p:spPr>
          <a:xfrm>
            <a:off x="6324442" y="2370138"/>
            <a:ext cx="2400240" cy="19050"/>
          </a:xfrm>
          <a:prstGeom prst="rect">
            <a:avLst/>
          </a:prstGeom>
          <a:solidFill>
            <a:srgbClr val="4F6D87"/>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6324442" y="2526308"/>
            <a:ext cx="2400240" cy="1350169"/>
          </a:xfrm>
          <a:prstGeom prst="rect">
            <a:avLst/>
          </a:prstGeom>
        </p:spPr>
      </p:pic>
      <p:sp>
        <p:nvSpPr>
          <p:cNvPr id="17" name="Text 12"/>
          <p:cNvSpPr/>
          <p:nvPr/>
        </p:nvSpPr>
        <p:spPr>
          <a:xfrm>
            <a:off x="6324442" y="4009827"/>
            <a:ext cx="240024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DIGITAL AGE</a:t>
            </a:r>
            <a:endParaRPr lang="en-US" sz="1200" dirty="0"/>
          </a:p>
        </p:txBody>
      </p:sp>
      <p:sp>
        <p:nvSpPr>
          <p:cNvPr id="18" name="Text 13"/>
          <p:cNvSpPr/>
          <p:nvPr/>
        </p:nvSpPr>
        <p:spPr>
          <a:xfrm>
            <a:off x="6324442" y="4326037"/>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New ways to learn about faith, form community, and explore questions.</a:t>
            </a:r>
            <a:endParaRPr lang="en-US" sz="1500" dirty="0"/>
          </a:p>
        </p:txBody>
      </p:sp>
      <p:sp>
        <p:nvSpPr>
          <p:cNvPr id="19" name="Text 14"/>
          <p:cNvSpPr/>
          <p:nvPr/>
        </p:nvSpPr>
        <p:spPr>
          <a:xfrm>
            <a:off x="9181870" y="2050058"/>
            <a:ext cx="756623" cy="228600"/>
          </a:xfrm>
          <a:prstGeom prst="rect">
            <a:avLst/>
          </a:prstGeom>
          <a:noFill/>
          <a:ln/>
        </p:spPr>
        <p:txBody>
          <a:bodyPr wrap="none" lIns="0" tIns="0" rIns="0" bIns="0" rtlCol="0" anchor="t"/>
          <a:lstStyle/>
          <a:p>
            <a:pPr marL="0" indent="0" algn="l">
              <a:lnSpc>
                <a:spcPct val="83000"/>
              </a:lnSpc>
              <a:buNone/>
            </a:pPr>
            <a:r>
              <a:rPr lang="en-US" sz="1800" dirty="0">
                <a:solidFill>
                  <a:srgbClr val="3E5770"/>
                </a:solidFill>
                <a:latin typeface="Geist SemiBold" pitchFamily="34" charset="0"/>
                <a:ea typeface="Geist SemiBold" pitchFamily="34" charset="-122"/>
                <a:cs typeface="Geist SemiBold" pitchFamily="34" charset="-120"/>
              </a:rPr>
              <a:t>4</a:t>
            </a:r>
            <a:endParaRPr lang="en-US" sz="1800" dirty="0"/>
          </a:p>
        </p:txBody>
      </p:sp>
      <p:sp>
        <p:nvSpPr>
          <p:cNvPr id="20" name="Shape 15"/>
          <p:cNvSpPr/>
          <p:nvPr/>
        </p:nvSpPr>
        <p:spPr>
          <a:xfrm>
            <a:off x="9181870" y="2370138"/>
            <a:ext cx="2400240" cy="19050"/>
          </a:xfrm>
          <a:prstGeom prst="rect">
            <a:avLst/>
          </a:prstGeom>
          <a:solidFill>
            <a:srgbClr val="4F6D87"/>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9181870" y="2526308"/>
            <a:ext cx="2400240" cy="1350169"/>
          </a:xfrm>
          <a:prstGeom prst="rect">
            <a:avLst/>
          </a:prstGeom>
        </p:spPr>
      </p:pic>
      <p:sp>
        <p:nvSpPr>
          <p:cNvPr id="22" name="Text 16"/>
          <p:cNvSpPr/>
          <p:nvPr/>
        </p:nvSpPr>
        <p:spPr>
          <a:xfrm>
            <a:off x="9181870" y="4009827"/>
            <a:ext cx="240024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AF401D"/>
                </a:solidFill>
                <a:latin typeface="Geist Mono Medium" pitchFamily="34" charset="0"/>
                <a:ea typeface="Geist Mono Medium" pitchFamily="34" charset="-122"/>
                <a:cs typeface="Geist Mono Medium" pitchFamily="34" charset="-120"/>
              </a:rPr>
              <a:t>LANGUAGE MODELS</a:t>
            </a:r>
            <a:endParaRPr lang="en-US" sz="1200" dirty="0"/>
          </a:p>
        </p:txBody>
      </p:sp>
      <p:sp>
        <p:nvSpPr>
          <p:cNvPr id="23" name="Text 17"/>
          <p:cNvSpPr/>
          <p:nvPr/>
        </p:nvSpPr>
        <p:spPr>
          <a:xfrm>
            <a:off x="9181870" y="4326037"/>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Responds directly: follow-up, disagreement, clarification.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WHERE AI NOW SITS</a:t>
            </a:r>
            <a:endParaRPr lang="en-US" sz="1200" dirty="0"/>
          </a:p>
        </p:txBody>
      </p:sp>
      <p:sp>
        <p:nvSpPr>
          <p:cNvPr id="3" name="Text 1"/>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A new kind of reflective space</a:t>
            </a:r>
            <a:endParaRPr lang="en-US" sz="3000" dirty="0"/>
          </a:p>
        </p:txBody>
      </p:sp>
      <p:sp>
        <p:nvSpPr>
          <p:cNvPr id="4" name="Text 2"/>
          <p:cNvSpPr/>
          <p:nvPr/>
        </p:nvSpPr>
        <p:spPr>
          <a:xfrm>
            <a:off x="914377" y="2023368"/>
            <a:ext cx="518147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BOOKS · PODCASTS · WEBSITES</a:t>
            </a:r>
            <a:endParaRPr lang="en-US" sz="1200" dirty="0"/>
          </a:p>
        </p:txBody>
      </p:sp>
      <p:sp>
        <p:nvSpPr>
          <p:cNvPr id="5" name="Text 3"/>
          <p:cNvSpPr/>
          <p:nvPr/>
        </p:nvSpPr>
        <p:spPr>
          <a:xfrm>
            <a:off x="914377" y="2298303"/>
            <a:ext cx="4876678"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12141A"/>
                </a:solidFill>
                <a:latin typeface="Geist" pitchFamily="34" charset="0"/>
                <a:ea typeface="Geist" pitchFamily="34" charset="-122"/>
                <a:cs typeface="Geist" pitchFamily="34" charset="-120"/>
              </a:rPr>
              <a:t>Receiving information</a:t>
            </a:r>
            <a:endParaRPr lang="en-US" sz="2400" dirty="0"/>
          </a:p>
        </p:txBody>
      </p:sp>
      <p:sp>
        <p:nvSpPr>
          <p:cNvPr id="6" name="Text 4"/>
          <p:cNvSpPr/>
          <p:nvPr/>
        </p:nvSpPr>
        <p:spPr>
          <a:xfrm>
            <a:off x="914377" y="3248223"/>
            <a:ext cx="4876678" cy="1933277"/>
          </a:xfrm>
          <a:prstGeom prst="rect">
            <a:avLst/>
          </a:prstGeom>
          <a:noFill/>
          <a:ln/>
        </p:spPr>
        <p:txBody>
          <a:bodyPr wrap="square" lIns="0" tIns="0" rIns="0" bIns="0" rtlCol="0" anchor="t">
            <a:normAutofit/>
          </a:bodyPr>
          <a:lstStyle/>
          <a:p>
            <a:pPr marL="0" indent="0" algn="l">
              <a:lnSpc>
                <a:spcPct val="121000"/>
              </a:lnSpc>
              <a:buNone/>
            </a:pPr>
            <a:r>
              <a:rPr lang="en-US" sz="2100" dirty="0">
                <a:solidFill>
                  <a:srgbClr val="2A2D35"/>
                </a:solidFill>
                <a:latin typeface="Geist" pitchFamily="34" charset="0"/>
                <a:ea typeface="Geist" pitchFamily="34" charset="-122"/>
                <a:cs typeface="Geist" pitchFamily="34" charset="-120"/>
              </a:rPr>
              <a:t>Technologies through which we receive content.</a:t>
            </a:r>
            <a:endParaRPr lang="en-US" sz="2100" dirty="0"/>
          </a:p>
        </p:txBody>
      </p:sp>
      <p:sp>
        <p:nvSpPr>
          <p:cNvPr id="7" name="Text 5"/>
          <p:cNvSpPr/>
          <p:nvPr/>
        </p:nvSpPr>
        <p:spPr>
          <a:xfrm>
            <a:off x="6400640" y="2023368"/>
            <a:ext cx="518147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CONVERSATIONAL AI</a:t>
            </a:r>
            <a:endParaRPr lang="en-US" sz="1200" dirty="0"/>
          </a:p>
        </p:txBody>
      </p:sp>
      <p:sp>
        <p:nvSpPr>
          <p:cNvPr id="8" name="Text 6"/>
          <p:cNvSpPr/>
          <p:nvPr/>
        </p:nvSpPr>
        <p:spPr>
          <a:xfrm>
            <a:off x="6400640" y="2298303"/>
            <a:ext cx="4876678"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12141A"/>
                </a:solidFill>
                <a:latin typeface="Geist" pitchFamily="34" charset="0"/>
                <a:ea typeface="Geist" pitchFamily="34" charset="-122"/>
                <a:cs typeface="Geist" pitchFamily="34" charset="-120"/>
              </a:rPr>
              <a:t>Processing inner experience</a:t>
            </a:r>
            <a:endParaRPr lang="en-US" sz="2400" dirty="0"/>
          </a:p>
        </p:txBody>
      </p:sp>
      <p:sp>
        <p:nvSpPr>
          <p:cNvPr id="9" name="Text 7"/>
          <p:cNvSpPr/>
          <p:nvPr/>
        </p:nvSpPr>
        <p:spPr>
          <a:xfrm>
            <a:off x="6400640" y="3248223"/>
            <a:ext cx="4876678" cy="1933277"/>
          </a:xfrm>
          <a:prstGeom prst="rect">
            <a:avLst/>
          </a:prstGeom>
          <a:noFill/>
          <a:ln/>
        </p:spPr>
        <p:txBody>
          <a:bodyPr wrap="square" lIns="0" tIns="0" rIns="0" bIns="0" rtlCol="0" anchor="t">
            <a:normAutofit/>
          </a:bodyPr>
          <a:lstStyle/>
          <a:p>
            <a:pPr marL="0" indent="0" algn="l">
              <a:lnSpc>
                <a:spcPct val="121000"/>
              </a:lnSpc>
              <a:buNone/>
            </a:pPr>
            <a:r>
              <a:rPr lang="en-US" sz="2100" dirty="0">
                <a:solidFill>
                  <a:srgbClr val="2A2D35"/>
                </a:solidFill>
                <a:latin typeface="Geist" pitchFamily="34" charset="0"/>
                <a:ea typeface="Geist" pitchFamily="34" charset="-122"/>
                <a:cs typeface="Geist" pitchFamily="34" charset="-120"/>
              </a:rPr>
              <a:t>About 1 in 3 people have used an AI chatbot for </a:t>
            </a:r>
            <a:r>
              <a:rPr lang="en-US" sz="2100">
                <a:solidFill>
                  <a:srgbClr val="2A2D35"/>
                </a:solidFill>
                <a:latin typeface="Geist" pitchFamily="34" charset="0"/>
                <a:ea typeface="Geist" pitchFamily="34" charset="-122"/>
                <a:cs typeface="Geist" pitchFamily="34" charset="-120"/>
              </a:rPr>
              <a:t>emotional support.</a:t>
            </a:r>
            <a:endParaRPr lang="en-US" sz="2100" dirty="0"/>
          </a:p>
          <a:p>
            <a:pPr marL="0" indent="0" algn="l">
              <a:lnSpc>
                <a:spcPct val="121000"/>
              </a:lnSpc>
              <a:spcBef>
                <a:spcPts val="1200"/>
              </a:spcBef>
              <a:buNone/>
            </a:pPr>
            <a:r>
              <a:rPr lang="en-US" sz="1200">
                <a:solidFill>
                  <a:srgbClr val="2A2D35"/>
                </a:solidFill>
                <a:latin typeface="Geist" pitchFamily="34" charset="0"/>
                <a:ea typeface="Geist" pitchFamily="34" charset="-122"/>
                <a:cs typeface="Geist" pitchFamily="34" charset="-120"/>
              </a:rPr>
              <a:t>National </a:t>
            </a:r>
            <a:r>
              <a:rPr lang="en-US" sz="1200" dirty="0">
                <a:solidFill>
                  <a:srgbClr val="2A2D35"/>
                </a:solidFill>
                <a:latin typeface="Geist" pitchFamily="34" charset="0"/>
                <a:ea typeface="Geist" pitchFamily="34" charset="-122"/>
                <a:cs typeface="Geist" pitchFamily="34" charset="-120"/>
              </a:rPr>
              <a:t>Academy of Medicine discussion on AI and mental health, 2026. See also Kantar, 2025.</a:t>
            </a:r>
            <a:endParaRPr lang="en-US" sz="2100" dirty="0"/>
          </a:p>
        </p:txBody>
      </p:sp>
      <p:sp>
        <p:nvSpPr>
          <p:cNvPr id="11" name="Shape 9"/>
          <p:cNvSpPr/>
          <p:nvPr/>
        </p:nvSpPr>
        <p:spPr>
          <a:xfrm>
            <a:off x="6089498" y="1769368"/>
            <a:ext cx="12700" cy="3666133"/>
          </a:xfrm>
          <a:prstGeom prst="rect">
            <a:avLst/>
          </a:prstGeom>
          <a:solidFill>
            <a:srgbClr val="77818C"/>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80FB3-C2C2-D5D6-3533-AE5CEA3395B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821D903-6FE2-BA0D-9D0F-D91FAF5A9021}"/>
              </a:ext>
            </a:extLst>
          </p:cNvPr>
          <p:cNvSpPr/>
          <p:nvPr/>
        </p:nvSpPr>
        <p:spPr>
          <a:xfrm>
            <a:off x="609585" y="1903512"/>
            <a:ext cx="10972526"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FFFFFF"/>
                </a:solidFill>
                <a:latin typeface="Geist Mono Medium" pitchFamily="34" charset="0"/>
                <a:ea typeface="Geist Mono Medium" pitchFamily="34" charset="-122"/>
                <a:cs typeface="Geist Mono Medium" pitchFamily="34" charset="-120"/>
              </a:rPr>
              <a:t>THE GUIDING QUESTION</a:t>
            </a:r>
            <a:endParaRPr lang="en-US" sz="1200" dirty="0"/>
          </a:p>
        </p:txBody>
      </p:sp>
      <p:sp>
        <p:nvSpPr>
          <p:cNvPr id="3" name="Text 1">
            <a:extLst>
              <a:ext uri="{FF2B5EF4-FFF2-40B4-BE49-F238E27FC236}">
                <a16:creationId xmlns:a16="http://schemas.microsoft.com/office/drawing/2014/main" id="{7CECA10C-37F2-9A59-EF9A-C35222C65DCA}"/>
              </a:ext>
            </a:extLst>
          </p:cNvPr>
          <p:cNvSpPr/>
          <p:nvPr/>
        </p:nvSpPr>
        <p:spPr>
          <a:xfrm>
            <a:off x="609585" y="2289572"/>
            <a:ext cx="10972526" cy="2336800"/>
          </a:xfrm>
          <a:prstGeom prst="rect">
            <a:avLst/>
          </a:prstGeom>
          <a:noFill/>
          <a:ln/>
        </p:spPr>
        <p:txBody>
          <a:bodyPr wrap="square" lIns="0" tIns="0" rIns="0" bIns="0" rtlCol="0" anchor="t">
            <a:normAutofit/>
          </a:bodyPr>
          <a:lstStyle/>
          <a:p>
            <a:pPr marL="0" indent="0" algn="l">
              <a:lnSpc>
                <a:spcPct val="83000"/>
              </a:lnSpc>
              <a:buNone/>
            </a:pPr>
            <a:r>
              <a:rPr lang="en-US" sz="4600" kern="0" spc="-147">
                <a:solidFill>
                  <a:srgbClr val="FFFFFF"/>
                </a:solidFill>
                <a:latin typeface="Gloock" pitchFamily="34" charset="0"/>
                <a:ea typeface="Gloock" pitchFamily="34" charset="-122"/>
                <a:cs typeface="Gloock" pitchFamily="34" charset="-120"/>
              </a:rPr>
              <a:t>What happens when AI becomes a tool for </a:t>
            </a:r>
            <a:r>
              <a:rPr lang="en-US" sz="4600" kern="0" spc="-147">
                <a:solidFill>
                  <a:schemeClr val="bg1"/>
                </a:solidFill>
                <a:latin typeface="Gloock" pitchFamily="34" charset="0"/>
                <a:ea typeface="Gloock" pitchFamily="34" charset="-122"/>
                <a:cs typeface="Gloock" pitchFamily="34" charset="-120"/>
              </a:rPr>
              <a:t>spiritual reflection </a:t>
            </a:r>
            <a:r>
              <a:rPr lang="en-US" sz="4600" kern="0" spc="-147">
                <a:solidFill>
                  <a:srgbClr val="FFFFFF"/>
                </a:solidFill>
                <a:latin typeface="Gloock" pitchFamily="34" charset="0"/>
                <a:ea typeface="Gloock" pitchFamily="34" charset="-122"/>
                <a:cs typeface="Gloock" pitchFamily="34" charset="-120"/>
              </a:rPr>
              <a:t>in ways that begin to overlap with the territory of </a:t>
            </a:r>
            <a:r>
              <a:rPr lang="en-US" sz="4600" kern="0" spc="-147">
                <a:solidFill>
                  <a:srgbClr val="E4572E"/>
                </a:solidFill>
                <a:latin typeface="Gloock" pitchFamily="34" charset="0"/>
              </a:rPr>
              <a:t>human spiritual direction</a:t>
            </a:r>
            <a:r>
              <a:rPr lang="en-US" sz="4600" kern="0" spc="-147">
                <a:solidFill>
                  <a:srgbClr val="FFFFFF"/>
                </a:solidFill>
                <a:latin typeface="Gloock" pitchFamily="34" charset="0"/>
                <a:ea typeface="Gloock" pitchFamily="34" charset="-122"/>
                <a:cs typeface="Gloock" pitchFamily="34" charset="-120"/>
              </a:rPr>
              <a:t>?</a:t>
            </a:r>
            <a:endParaRPr lang="en-US" sz="4600" dirty="0"/>
          </a:p>
        </p:txBody>
      </p:sp>
    </p:spTree>
    <p:extLst>
      <p:ext uri="{BB962C8B-B14F-4D97-AF65-F5344CB8AC3E}">
        <p14:creationId xmlns:p14="http://schemas.microsoft.com/office/powerpoint/2010/main" val="587789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WHY IT HELPS</a:t>
            </a:r>
            <a:endParaRPr lang="en-US" sz="1200" dirty="0"/>
          </a:p>
        </p:txBody>
      </p:sp>
      <p:sp>
        <p:nvSpPr>
          <p:cNvPr id="3" name="Text 1"/>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Why AI can be useful for reflection</a:t>
            </a:r>
            <a:endParaRPr lang="en-US" sz="3000" dirty="0"/>
          </a:p>
        </p:txBody>
      </p:sp>
      <p:sp>
        <p:nvSpPr>
          <p:cNvPr id="4" name="Text 2"/>
          <p:cNvSpPr/>
          <p:nvPr/>
        </p:nvSpPr>
        <p:spPr>
          <a:xfrm>
            <a:off x="914377" y="2023368"/>
            <a:ext cx="518147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CLARITY</a:t>
            </a:r>
            <a:endParaRPr lang="en-US" sz="1200" dirty="0"/>
          </a:p>
        </p:txBody>
      </p:sp>
      <p:sp>
        <p:nvSpPr>
          <p:cNvPr id="5" name="Text 3"/>
          <p:cNvSpPr/>
          <p:nvPr/>
        </p:nvSpPr>
        <p:spPr>
          <a:xfrm>
            <a:off x="914377" y="2298303"/>
            <a:ext cx="4876678"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12141A"/>
                </a:solidFill>
                <a:latin typeface="Geist" pitchFamily="34" charset="0"/>
                <a:ea typeface="Geist" pitchFamily="34" charset="-122"/>
                <a:cs typeface="Geist" pitchFamily="34" charset="-120"/>
              </a:rPr>
              <a:t>Organizes messy inner experience</a:t>
            </a:r>
            <a:endParaRPr lang="en-US" sz="2400" dirty="0"/>
          </a:p>
        </p:txBody>
      </p:sp>
      <p:sp>
        <p:nvSpPr>
          <p:cNvPr id="6" name="Text 4"/>
          <p:cNvSpPr/>
          <p:nvPr/>
        </p:nvSpPr>
        <p:spPr>
          <a:xfrm>
            <a:off x="914377" y="3248223"/>
            <a:ext cx="4876678" cy="1933277"/>
          </a:xfrm>
          <a:prstGeom prst="rect">
            <a:avLst/>
          </a:prstGeom>
          <a:noFill/>
          <a:ln/>
        </p:spPr>
        <p:txBody>
          <a:bodyPr wrap="square" lIns="0" tIns="0" rIns="0" bIns="0" rtlCol="0" anchor="t">
            <a:normAutofit/>
          </a:bodyPr>
          <a:lstStyle/>
          <a:p>
            <a:pPr marL="0" indent="0" algn="l">
              <a:lnSpc>
                <a:spcPct val="121000"/>
              </a:lnSpc>
              <a:buNone/>
            </a:pPr>
            <a:r>
              <a:rPr lang="en-US" sz="2100" dirty="0">
                <a:solidFill>
                  <a:srgbClr val="2A2D35"/>
                </a:solidFill>
                <a:latin typeface="Geist" pitchFamily="34" charset="0"/>
                <a:ea typeface="Geist" pitchFamily="34" charset="-122"/>
                <a:cs typeface="Geist" pitchFamily="34" charset="-120"/>
              </a:rPr>
              <a:t>Summarizes, surfaces recurring themes, reflects back tensions, and helps find language.</a:t>
            </a:r>
            <a:endParaRPr lang="en-US" sz="2100" dirty="0"/>
          </a:p>
        </p:txBody>
      </p:sp>
      <p:sp>
        <p:nvSpPr>
          <p:cNvPr id="7" name="Text 5"/>
          <p:cNvSpPr/>
          <p:nvPr/>
        </p:nvSpPr>
        <p:spPr>
          <a:xfrm>
            <a:off x="6400640" y="2023368"/>
            <a:ext cx="5181470"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3E5770"/>
                </a:solidFill>
                <a:latin typeface="Geist Mono Medium" pitchFamily="34" charset="0"/>
                <a:ea typeface="Geist Mono Medium" pitchFamily="34" charset="-122"/>
                <a:cs typeface="Geist Mono Medium" pitchFamily="34" charset="-120"/>
              </a:rPr>
              <a:t>CONTROL</a:t>
            </a:r>
            <a:endParaRPr lang="en-US" sz="1200" dirty="0"/>
          </a:p>
        </p:txBody>
      </p:sp>
      <p:sp>
        <p:nvSpPr>
          <p:cNvPr id="8" name="Text 6"/>
          <p:cNvSpPr/>
          <p:nvPr/>
        </p:nvSpPr>
        <p:spPr>
          <a:xfrm>
            <a:off x="6400640" y="2298303"/>
            <a:ext cx="4876678" cy="822920"/>
          </a:xfrm>
          <a:prstGeom prst="rect">
            <a:avLst/>
          </a:prstGeom>
          <a:noFill/>
          <a:ln/>
        </p:spPr>
        <p:txBody>
          <a:bodyPr wrap="square" lIns="0" tIns="0" rIns="0" bIns="0" rtlCol="0" anchor="t">
            <a:normAutofit/>
          </a:bodyPr>
          <a:lstStyle/>
          <a:p>
            <a:pPr marL="0" indent="0" algn="l">
              <a:lnSpc>
                <a:spcPct val="113000"/>
              </a:lnSpc>
              <a:buNone/>
            </a:pPr>
            <a:r>
              <a:rPr lang="en-US" sz="2400" dirty="0">
                <a:solidFill>
                  <a:srgbClr val="12141A"/>
                </a:solidFill>
                <a:latin typeface="Geist" pitchFamily="34" charset="0"/>
                <a:ea typeface="Geist" pitchFamily="34" charset="-122"/>
                <a:cs typeface="Geist" pitchFamily="34" charset="-120"/>
              </a:rPr>
              <a:t>Low-friction, user-controlled reflection</a:t>
            </a:r>
            <a:endParaRPr lang="en-US" sz="2400" dirty="0"/>
          </a:p>
        </p:txBody>
      </p:sp>
      <p:sp>
        <p:nvSpPr>
          <p:cNvPr id="9" name="Text 7"/>
          <p:cNvSpPr/>
          <p:nvPr/>
        </p:nvSpPr>
        <p:spPr>
          <a:xfrm>
            <a:off x="6400640" y="3248223"/>
            <a:ext cx="4876678" cy="1933277"/>
          </a:xfrm>
          <a:prstGeom prst="rect">
            <a:avLst/>
          </a:prstGeom>
          <a:noFill/>
          <a:ln/>
        </p:spPr>
        <p:txBody>
          <a:bodyPr wrap="square" lIns="0" tIns="0" rIns="0" bIns="0" rtlCol="0" anchor="t">
            <a:normAutofit/>
          </a:bodyPr>
          <a:lstStyle/>
          <a:p>
            <a:pPr marL="0" indent="0" algn="l">
              <a:lnSpc>
                <a:spcPct val="121000"/>
              </a:lnSpc>
              <a:buNone/>
            </a:pPr>
            <a:r>
              <a:rPr lang="en-US" sz="2100" dirty="0">
                <a:solidFill>
                  <a:srgbClr val="2A2D35"/>
                </a:solidFill>
                <a:latin typeface="Geist" pitchFamily="34" charset="0"/>
                <a:ea typeface="Geist" pitchFamily="34" charset="-122"/>
                <a:cs typeface="Geist" pitchFamily="34" charset="-120"/>
              </a:rPr>
              <a:t>Control over timing, pace, and how much to disclose.</a:t>
            </a:r>
            <a:endParaRPr lang="en-US" sz="2100" dirty="0"/>
          </a:p>
        </p:txBody>
      </p:sp>
      <p:sp>
        <p:nvSpPr>
          <p:cNvPr id="10" name="Text 8"/>
          <p:cNvSpPr/>
          <p:nvPr/>
        </p:nvSpPr>
        <p:spPr>
          <a:xfrm>
            <a:off x="609585" y="5920284"/>
            <a:ext cx="11582110" cy="328216"/>
          </a:xfrm>
          <a:prstGeom prst="rect">
            <a:avLst/>
          </a:prstGeom>
          <a:noFill/>
          <a:ln/>
        </p:spPr>
        <p:txBody>
          <a:bodyPr wrap="none" lIns="0" tIns="99058" rIns="0" bIns="0" rtlCol="0" anchor="t"/>
          <a:lstStyle/>
          <a:p>
            <a:pPr marL="0" indent="0" algn="l">
              <a:lnSpc>
                <a:spcPct val="113000"/>
              </a:lnSpc>
              <a:buNone/>
            </a:pPr>
            <a:r>
              <a:rPr lang="en-US" sz="1600" dirty="0">
                <a:solidFill>
                  <a:srgbClr val="50555E"/>
                </a:solidFill>
                <a:latin typeface="Geist" pitchFamily="34" charset="0"/>
                <a:ea typeface="Geist" pitchFamily="34" charset="-122"/>
                <a:cs typeface="Geist" pitchFamily="34" charset="-120"/>
              </a:rPr>
              <a:t>Not automatically a shame-free or safe space: some disclose more freely; others hold back.</a:t>
            </a:r>
            <a:endParaRPr lang="en-US" sz="1600" dirty="0"/>
          </a:p>
        </p:txBody>
      </p:sp>
      <p:sp>
        <p:nvSpPr>
          <p:cNvPr id="11" name="Shape 9"/>
          <p:cNvSpPr/>
          <p:nvPr/>
        </p:nvSpPr>
        <p:spPr>
          <a:xfrm>
            <a:off x="6089498" y="1769368"/>
            <a:ext cx="12700" cy="3666133"/>
          </a:xfrm>
          <a:prstGeom prst="rect">
            <a:avLst/>
          </a:prstGeom>
          <a:solidFill>
            <a:srgbClr val="77818C"/>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A17BF-46C7-FD6B-F43E-1E849269655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F162191-4F2F-BFC9-1B30-CDE2A16FB612}"/>
              </a:ext>
            </a:extLst>
          </p:cNvPr>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THE BOUNDARIES</a:t>
            </a:r>
            <a:endParaRPr lang="en-US" sz="1200" dirty="0"/>
          </a:p>
        </p:txBody>
      </p:sp>
      <p:sp>
        <p:nvSpPr>
          <p:cNvPr id="3" name="Text 1">
            <a:extLst>
              <a:ext uri="{FF2B5EF4-FFF2-40B4-BE49-F238E27FC236}">
                <a16:creationId xmlns:a16="http://schemas.microsoft.com/office/drawing/2014/main" id="{9508CA81-F40E-86D2-7942-C7AFBA156443}"/>
              </a:ext>
            </a:extLst>
          </p:cNvPr>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Useful is not the same as spiritual direction</a:t>
            </a:r>
            <a:endParaRPr lang="en-US" sz="3000" dirty="0"/>
          </a:p>
        </p:txBody>
      </p:sp>
      <p:sp>
        <p:nvSpPr>
          <p:cNvPr id="4" name="Shape 2">
            <a:extLst>
              <a:ext uri="{FF2B5EF4-FFF2-40B4-BE49-F238E27FC236}">
                <a16:creationId xmlns:a16="http://schemas.microsoft.com/office/drawing/2014/main" id="{660894ED-E1FF-7013-7CD2-0E8A91634E58}"/>
              </a:ext>
            </a:extLst>
          </p:cNvPr>
          <p:cNvSpPr/>
          <p:nvPr/>
        </p:nvSpPr>
        <p:spPr>
          <a:xfrm>
            <a:off x="609585" y="1490960"/>
            <a:ext cx="5486263" cy="4278610"/>
          </a:xfrm>
          <a:prstGeom prst="rect">
            <a:avLst/>
          </a:prstGeom>
          <a:solidFill>
            <a:srgbClr val="EAE5DA"/>
          </a:solidFill>
          <a:ln/>
        </p:spPr>
        <p:txBody>
          <a:bodyPr/>
          <a:lstStyle/>
          <a:p>
            <a:endParaRPr lang="en-US"/>
          </a:p>
        </p:txBody>
      </p:sp>
      <p:sp>
        <p:nvSpPr>
          <p:cNvPr id="5" name="Text 3">
            <a:extLst>
              <a:ext uri="{FF2B5EF4-FFF2-40B4-BE49-F238E27FC236}">
                <a16:creationId xmlns:a16="http://schemas.microsoft.com/office/drawing/2014/main" id="{C24B8C86-569D-4106-EFEA-0F02B45E1078}"/>
              </a:ext>
            </a:extLst>
          </p:cNvPr>
          <p:cNvSpPr/>
          <p:nvPr/>
        </p:nvSpPr>
        <p:spPr>
          <a:xfrm>
            <a:off x="1066773" y="1846560"/>
            <a:ext cx="5029074" cy="182860"/>
          </a:xfrm>
          <a:prstGeom prst="rect">
            <a:avLst/>
          </a:prstGeom>
          <a:noFill/>
          <a:ln/>
        </p:spPr>
        <p:txBody>
          <a:bodyPr wrap="none" lIns="0" tIns="0" rIns="0" bIns="0" rtlCol="0" anchor="t"/>
          <a:lstStyle/>
          <a:p>
            <a:pPr marL="0" indent="0" algn="l">
              <a:lnSpc>
                <a:spcPct val="100000"/>
              </a:lnSpc>
              <a:buNone/>
            </a:pPr>
            <a:r>
              <a:rPr lang="en-US" sz="1200" kern="0" spc="120">
                <a:solidFill>
                  <a:srgbClr val="000000"/>
                </a:solidFill>
                <a:latin typeface="Geist Mono Medium" pitchFamily="34" charset="0"/>
                <a:ea typeface="Geist Mono Medium" pitchFamily="34" charset="-122"/>
                <a:cs typeface="Geist Mono Medium" pitchFamily="34" charset="-120"/>
              </a:rPr>
              <a:t>SPIRITUAL DIRECTION</a:t>
            </a:r>
            <a:endParaRPr lang="en-US" sz="1200" dirty="0"/>
          </a:p>
        </p:txBody>
      </p:sp>
      <p:sp>
        <p:nvSpPr>
          <p:cNvPr id="6" name="Text 4">
            <a:extLst>
              <a:ext uri="{FF2B5EF4-FFF2-40B4-BE49-F238E27FC236}">
                <a16:creationId xmlns:a16="http://schemas.microsoft.com/office/drawing/2014/main" id="{53C36DEB-0C75-2852-A0CC-CD432D35CE0D}"/>
              </a:ext>
            </a:extLst>
          </p:cNvPr>
          <p:cNvSpPr/>
          <p:nvPr/>
        </p:nvSpPr>
        <p:spPr>
          <a:xfrm>
            <a:off x="1066773" y="2121495"/>
            <a:ext cx="4571886" cy="342900"/>
          </a:xfrm>
          <a:prstGeom prst="rect">
            <a:avLst/>
          </a:prstGeom>
          <a:noFill/>
          <a:ln/>
        </p:spPr>
        <p:txBody>
          <a:bodyPr wrap="none" lIns="0" tIns="0" rIns="0" bIns="0" rtlCol="0" anchor="t"/>
          <a:lstStyle/>
          <a:p>
            <a:pPr>
              <a:lnSpc>
                <a:spcPct val="112000"/>
              </a:lnSpc>
            </a:pPr>
            <a:r>
              <a:rPr lang="en-US" sz="2000">
                <a:solidFill>
                  <a:srgbClr val="2A2D35"/>
                </a:solidFill>
                <a:latin typeface="Geist" pitchFamily="34" charset="0"/>
                <a:ea typeface="Geist" pitchFamily="34" charset="-122"/>
                <a:cs typeface="Geist" pitchFamily="34" charset="-120"/>
              </a:rPr>
              <a:t>Relational accompaniment</a:t>
            </a:r>
          </a:p>
        </p:txBody>
      </p:sp>
      <p:sp>
        <p:nvSpPr>
          <p:cNvPr id="7" name="Text 5">
            <a:extLst>
              <a:ext uri="{FF2B5EF4-FFF2-40B4-BE49-F238E27FC236}">
                <a16:creationId xmlns:a16="http://schemas.microsoft.com/office/drawing/2014/main" id="{FBB2F0BA-AA3B-CE2E-934D-DC3283E59698}"/>
              </a:ext>
            </a:extLst>
          </p:cNvPr>
          <p:cNvSpPr/>
          <p:nvPr/>
        </p:nvSpPr>
        <p:spPr>
          <a:xfrm>
            <a:off x="1066773" y="2591395"/>
            <a:ext cx="4571886" cy="2491184"/>
          </a:xfrm>
          <a:prstGeom prst="rect">
            <a:avLst/>
          </a:prstGeom>
          <a:noFill/>
          <a:ln/>
        </p:spPr>
        <p:txBody>
          <a:bodyPr wrap="square" lIns="0" tIns="0" rIns="0" bIns="0" rtlCol="0" anchor="t">
            <a:normAutofit/>
          </a:bodyPr>
          <a:lstStyle/>
          <a:p>
            <a:pPr marL="365760" indent="-365760">
              <a:lnSpc>
                <a:spcPct val="121000"/>
              </a:lnSpc>
              <a:buSzPct val="100000"/>
              <a:buChar char="•"/>
            </a:pPr>
            <a:r>
              <a:rPr lang="en-US">
                <a:solidFill>
                  <a:srgbClr val="2A2D35"/>
                </a:solidFill>
                <a:latin typeface="Geist" pitchFamily="34" charset="0"/>
                <a:ea typeface="Geist" pitchFamily="34" charset="-122"/>
                <a:cs typeface="Geist" pitchFamily="34" charset="-120"/>
              </a:rPr>
              <a:t>Embodiment and attunement to pauses, tone, and tears</a:t>
            </a:r>
            <a:endParaRPr lang="en-US"/>
          </a:p>
          <a:p>
            <a:pPr marL="365760" indent="-365760">
              <a:lnSpc>
                <a:spcPct val="121000"/>
              </a:lnSpc>
              <a:buSzPct val="100000"/>
              <a:buChar char="•"/>
            </a:pPr>
            <a:r>
              <a:rPr lang="en-US">
                <a:solidFill>
                  <a:srgbClr val="2A2D35"/>
                </a:solidFill>
                <a:latin typeface="Geist" pitchFamily="34" charset="0"/>
                <a:ea typeface="Geist" pitchFamily="34" charset="-122"/>
                <a:cs typeface="Geist" pitchFamily="34" charset="-120"/>
              </a:rPr>
              <a:t>Genuine human and spiritual presence</a:t>
            </a:r>
            <a:endParaRPr lang="en-US"/>
          </a:p>
          <a:p>
            <a:pPr marL="365760" indent="-365760">
              <a:lnSpc>
                <a:spcPct val="121000"/>
              </a:lnSpc>
              <a:buSzPct val="100000"/>
              <a:buChar char="•"/>
            </a:pPr>
            <a:r>
              <a:rPr lang="en-US">
                <a:solidFill>
                  <a:srgbClr val="2A2D35"/>
                </a:solidFill>
                <a:latin typeface="Geist" pitchFamily="34" charset="0"/>
                <a:ea typeface="Geist" pitchFamily="34" charset="-122"/>
                <a:cs typeface="Geist" pitchFamily="34" charset="-120"/>
              </a:rPr>
              <a:t>Pace and silence: staying with a question</a:t>
            </a:r>
            <a:endParaRPr lang="en-US"/>
          </a:p>
          <a:p>
            <a:pPr marL="365760" indent="-365760" algn="l">
              <a:lnSpc>
                <a:spcPct val="121000"/>
              </a:lnSpc>
              <a:buSzPct val="100000"/>
              <a:buChar char="•"/>
            </a:pPr>
            <a:endParaRPr lang="en-US" sz="1800" dirty="0"/>
          </a:p>
        </p:txBody>
      </p:sp>
      <p:sp>
        <p:nvSpPr>
          <p:cNvPr id="8" name="Shape 6">
            <a:extLst>
              <a:ext uri="{FF2B5EF4-FFF2-40B4-BE49-F238E27FC236}">
                <a16:creationId xmlns:a16="http://schemas.microsoft.com/office/drawing/2014/main" id="{AFA1D59B-0263-6CA9-41E7-F78692DE3C84}"/>
              </a:ext>
            </a:extLst>
          </p:cNvPr>
          <p:cNvSpPr/>
          <p:nvPr/>
        </p:nvSpPr>
        <p:spPr>
          <a:xfrm>
            <a:off x="6095848" y="1490960"/>
            <a:ext cx="5486263" cy="4278610"/>
          </a:xfrm>
          <a:prstGeom prst="rect">
            <a:avLst/>
          </a:prstGeom>
          <a:solidFill>
            <a:srgbClr val="FFFFFF"/>
          </a:solidFill>
          <a:ln/>
        </p:spPr>
        <p:txBody>
          <a:bodyPr/>
          <a:lstStyle/>
          <a:p>
            <a:pPr marL="365760" indent="-365760">
              <a:lnSpc>
                <a:spcPct val="121000"/>
              </a:lnSpc>
              <a:buSzPct val="100000"/>
              <a:buChar char="•"/>
            </a:pPr>
            <a:endParaRPr lang="en-US">
              <a:solidFill>
                <a:srgbClr val="000000"/>
              </a:solidFill>
              <a:latin typeface="Geist" pitchFamily="34" charset="0"/>
              <a:ea typeface="Geist" pitchFamily="34" charset="-122"/>
              <a:cs typeface="Geist" pitchFamily="34" charset="-120"/>
            </a:endParaRPr>
          </a:p>
        </p:txBody>
      </p:sp>
      <p:sp>
        <p:nvSpPr>
          <p:cNvPr id="9" name="Text 7">
            <a:extLst>
              <a:ext uri="{FF2B5EF4-FFF2-40B4-BE49-F238E27FC236}">
                <a16:creationId xmlns:a16="http://schemas.microsoft.com/office/drawing/2014/main" id="{FD250E90-F234-7D07-6D09-4E4409617A5E}"/>
              </a:ext>
            </a:extLst>
          </p:cNvPr>
          <p:cNvSpPr/>
          <p:nvPr/>
        </p:nvSpPr>
        <p:spPr>
          <a:xfrm>
            <a:off x="6400640" y="1860908"/>
            <a:ext cx="5029074" cy="182860"/>
          </a:xfrm>
          <a:prstGeom prst="rect">
            <a:avLst/>
          </a:prstGeom>
          <a:noFill/>
          <a:ln/>
        </p:spPr>
        <p:txBody>
          <a:bodyPr wrap="none" lIns="0" tIns="0" rIns="0" bIns="0" rtlCol="0" anchor="t"/>
          <a:lstStyle/>
          <a:p>
            <a:pPr marL="0" indent="0" algn="l">
              <a:lnSpc>
                <a:spcPct val="100000"/>
              </a:lnSpc>
              <a:buNone/>
            </a:pPr>
            <a:r>
              <a:rPr lang="en-US" sz="1200" kern="0" spc="120">
                <a:solidFill>
                  <a:srgbClr val="AF401D"/>
                </a:solidFill>
                <a:latin typeface="Geist Mono Medium" pitchFamily="34" charset="0"/>
                <a:ea typeface="Geist Mono Medium" pitchFamily="34" charset="-122"/>
                <a:cs typeface="Geist Mono Medium" pitchFamily="34" charset="-120"/>
              </a:rPr>
              <a:t>AI-GUIDED REFLECTION</a:t>
            </a:r>
            <a:endParaRPr lang="en-US" sz="1200" dirty="0"/>
          </a:p>
        </p:txBody>
      </p:sp>
      <p:sp>
        <p:nvSpPr>
          <p:cNvPr id="10" name="Text 8">
            <a:extLst>
              <a:ext uri="{FF2B5EF4-FFF2-40B4-BE49-F238E27FC236}">
                <a16:creationId xmlns:a16="http://schemas.microsoft.com/office/drawing/2014/main" id="{69310EA6-7270-9ED3-3438-A1009BB332CE}"/>
              </a:ext>
            </a:extLst>
          </p:cNvPr>
          <p:cNvSpPr/>
          <p:nvPr/>
        </p:nvSpPr>
        <p:spPr>
          <a:xfrm>
            <a:off x="6553036" y="2121495"/>
            <a:ext cx="4571886" cy="342900"/>
          </a:xfrm>
          <a:prstGeom prst="rect">
            <a:avLst/>
          </a:prstGeom>
          <a:noFill/>
          <a:ln/>
        </p:spPr>
        <p:txBody>
          <a:bodyPr wrap="none" lIns="0" tIns="0" rIns="0" bIns="0" rtlCol="0" anchor="t"/>
          <a:lstStyle/>
          <a:p>
            <a:pPr marL="0" indent="0" algn="l">
              <a:lnSpc>
                <a:spcPct val="112000"/>
              </a:lnSpc>
              <a:buNone/>
            </a:pPr>
            <a:endParaRPr lang="en-US" sz="2000" dirty="0"/>
          </a:p>
        </p:txBody>
      </p:sp>
      <p:sp>
        <p:nvSpPr>
          <p:cNvPr id="11" name="Text 9">
            <a:extLst>
              <a:ext uri="{FF2B5EF4-FFF2-40B4-BE49-F238E27FC236}">
                <a16:creationId xmlns:a16="http://schemas.microsoft.com/office/drawing/2014/main" id="{814E0100-CA4F-4D21-35FC-7D4E6511D967}"/>
              </a:ext>
            </a:extLst>
          </p:cNvPr>
          <p:cNvSpPr/>
          <p:nvPr/>
        </p:nvSpPr>
        <p:spPr>
          <a:xfrm>
            <a:off x="6553036" y="2591395"/>
            <a:ext cx="4571886" cy="2822575"/>
          </a:xfrm>
          <a:prstGeom prst="rect">
            <a:avLst/>
          </a:prstGeom>
          <a:noFill/>
          <a:ln/>
        </p:spPr>
        <p:txBody>
          <a:bodyPr wrap="square" lIns="0" tIns="0" rIns="0" bIns="0" rtlCol="0" anchor="t">
            <a:normAutofit/>
          </a:bodyPr>
          <a:lstStyle/>
          <a:p>
            <a:pPr marL="365760" indent="-365760" algn="l">
              <a:lnSpc>
                <a:spcPct val="121000"/>
              </a:lnSpc>
              <a:buSzPct val="100000"/>
              <a:buChar char="•"/>
            </a:pPr>
            <a:endParaRPr lang="en-US" sz="1800" dirty="0"/>
          </a:p>
        </p:txBody>
      </p:sp>
      <p:sp>
        <p:nvSpPr>
          <p:cNvPr id="12" name="Text 10">
            <a:extLst>
              <a:ext uri="{FF2B5EF4-FFF2-40B4-BE49-F238E27FC236}">
                <a16:creationId xmlns:a16="http://schemas.microsoft.com/office/drawing/2014/main" id="{61E6E3D0-7989-003F-1B06-F76A4A244BC8}"/>
              </a:ext>
            </a:extLst>
          </p:cNvPr>
          <p:cNvSpPr/>
          <p:nvPr/>
        </p:nvSpPr>
        <p:spPr>
          <a:xfrm>
            <a:off x="609585" y="5852160"/>
            <a:ext cx="10972800" cy="457200"/>
          </a:xfrm>
          <a:prstGeom prst="rect">
            <a:avLst/>
          </a:prstGeom>
          <a:noFill/>
          <a:ln/>
        </p:spPr>
        <p:txBody>
          <a:bodyPr wrap="square" lIns="0" tIns="99058" rIns="0" bIns="0" rtlCol="0" anchor="t"/>
          <a:lstStyle/>
          <a:p>
            <a:pPr marL="0" indent="0" algn="l">
              <a:lnSpc>
                <a:spcPct val="113000"/>
              </a:lnSpc>
              <a:buNone/>
            </a:pPr>
            <a:r>
              <a:rPr lang="en-US" sz="1200" dirty="0">
                <a:solidFill>
                  <a:srgbClr val="000000"/>
                </a:solidFill>
                <a:latin typeface="Geist" pitchFamily="34" charset="0"/>
                <a:ea typeface="Geist" pitchFamily="34" charset="-122"/>
                <a:cs typeface="Geist" pitchFamily="34" charset="-120"/>
              </a:rPr>
              <a:t>Emerging research shows conversational AI can foster a sense of closeness and raises concerns about overreliance. Kleinert et al., 2026, Communications Psychology; Yoo et al., 2026, JMIR Mental Health.</a:t>
            </a:r>
            <a:endParaRPr lang="en-US" sz="1200" dirty="0"/>
          </a:p>
        </p:txBody>
      </p:sp>
      <p:sp>
        <p:nvSpPr>
          <p:cNvPr id="13" name="Text 4">
            <a:extLst>
              <a:ext uri="{FF2B5EF4-FFF2-40B4-BE49-F238E27FC236}">
                <a16:creationId xmlns:a16="http://schemas.microsoft.com/office/drawing/2014/main" id="{9A3B49FC-3525-647A-98D4-950311A07AA2}"/>
              </a:ext>
            </a:extLst>
          </p:cNvPr>
          <p:cNvSpPr/>
          <p:nvPr/>
        </p:nvSpPr>
        <p:spPr>
          <a:xfrm>
            <a:off x="6400640" y="2112010"/>
            <a:ext cx="4571886" cy="342900"/>
          </a:xfrm>
          <a:prstGeom prst="rect">
            <a:avLst/>
          </a:prstGeom>
          <a:noFill/>
          <a:ln/>
        </p:spPr>
        <p:txBody>
          <a:bodyPr wrap="none" lIns="0" tIns="0" rIns="0" bIns="0" rtlCol="0" anchor="t"/>
          <a:lstStyle/>
          <a:p>
            <a:pPr marL="0" indent="0" algn="l">
              <a:lnSpc>
                <a:spcPct val="112000"/>
              </a:lnSpc>
              <a:buNone/>
            </a:pPr>
            <a:r>
              <a:rPr lang="en-US" sz="2000">
                <a:solidFill>
                  <a:srgbClr val="000000"/>
                </a:solidFill>
                <a:latin typeface="Geist" pitchFamily="34" charset="0"/>
                <a:ea typeface="Geist" pitchFamily="34" charset="-122"/>
                <a:cs typeface="Geist" pitchFamily="34" charset="-120"/>
              </a:rPr>
              <a:t>Responsive and always available</a:t>
            </a:r>
            <a:endParaRPr lang="en-US" sz="2000" dirty="0"/>
          </a:p>
        </p:txBody>
      </p:sp>
      <p:sp>
        <p:nvSpPr>
          <p:cNvPr id="14" name="Text 9">
            <a:extLst>
              <a:ext uri="{FF2B5EF4-FFF2-40B4-BE49-F238E27FC236}">
                <a16:creationId xmlns:a16="http://schemas.microsoft.com/office/drawing/2014/main" id="{82B69FA5-361F-3405-C3EE-AA868CA288B3}"/>
              </a:ext>
            </a:extLst>
          </p:cNvPr>
          <p:cNvSpPr/>
          <p:nvPr/>
        </p:nvSpPr>
        <p:spPr>
          <a:xfrm>
            <a:off x="6400640" y="2591395"/>
            <a:ext cx="4571886" cy="2822575"/>
          </a:xfrm>
          <a:prstGeom prst="rect">
            <a:avLst/>
          </a:prstGeom>
          <a:noFill/>
          <a:ln/>
        </p:spPr>
        <p:txBody>
          <a:bodyPr wrap="square" lIns="0" tIns="0" rIns="0" bIns="0" rtlCol="0" anchor="t">
            <a:normAutofit/>
          </a:bodyPr>
          <a:lstStyle/>
          <a:p>
            <a:pPr marL="365760" indent="-365760">
              <a:lnSpc>
                <a:spcPct val="121000"/>
              </a:lnSpc>
              <a:buSzPct val="100000"/>
              <a:buChar char="•"/>
            </a:pPr>
            <a:r>
              <a:rPr lang="en-US">
                <a:solidFill>
                  <a:srgbClr val="000000"/>
                </a:solidFill>
                <a:latin typeface="Geist" pitchFamily="34" charset="0"/>
                <a:ea typeface="Geist" pitchFamily="34" charset="-122"/>
                <a:cs typeface="Geist" pitchFamily="34" charset="-120"/>
              </a:rPr>
              <a:t>Infers emotion from words, but not an embodied encounter</a:t>
            </a:r>
            <a:endParaRPr lang="en-US"/>
          </a:p>
          <a:p>
            <a:pPr marL="365760" indent="-365760">
              <a:lnSpc>
                <a:spcPct val="121000"/>
              </a:lnSpc>
              <a:buSzPct val="100000"/>
              <a:buChar char="•"/>
            </a:pPr>
            <a:r>
              <a:rPr lang="en-US">
                <a:solidFill>
                  <a:srgbClr val="000000"/>
                </a:solidFill>
                <a:latin typeface="Geist" pitchFamily="34" charset="0"/>
                <a:ea typeface="Geist" pitchFamily="34" charset="-122"/>
                <a:cs typeface="Geist" pitchFamily="34" charset="-120"/>
              </a:rPr>
              <a:t>Generates the language of empathy and prayer, without praying</a:t>
            </a:r>
            <a:endParaRPr lang="en-US"/>
          </a:p>
          <a:p>
            <a:pPr marL="365760" indent="-365760">
              <a:lnSpc>
                <a:spcPct val="121000"/>
              </a:lnSpc>
              <a:buSzPct val="100000"/>
              <a:buChar char="•"/>
            </a:pPr>
            <a:r>
              <a:rPr lang="en-US">
                <a:solidFill>
                  <a:srgbClr val="000000"/>
                </a:solidFill>
                <a:latin typeface="Geist" pitchFamily="34" charset="0"/>
                <a:ea typeface="Geist" pitchFamily="34" charset="-122"/>
                <a:cs typeface="Geist" pitchFamily="34" charset="-120"/>
              </a:rPr>
              <a:t>Tends to move: responds, explains, asks the next question</a:t>
            </a:r>
          </a:p>
        </p:txBody>
      </p:sp>
    </p:spTree>
    <p:extLst>
      <p:ext uri="{BB962C8B-B14F-4D97-AF65-F5344CB8AC3E}">
        <p14:creationId xmlns:p14="http://schemas.microsoft.com/office/powerpoint/2010/main" val="2653462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903512"/>
            <a:ext cx="10972526" cy="182860"/>
          </a:xfrm>
          <a:prstGeom prst="rect">
            <a:avLst/>
          </a:prstGeom>
          <a:noFill/>
          <a:ln/>
        </p:spPr>
        <p:txBody>
          <a:bodyPr wrap="none" lIns="0" tIns="0" rIns="0" bIns="0" rtlCol="0" anchor="t"/>
          <a:lstStyle/>
          <a:p>
            <a:pPr marL="0" indent="0" algn="l">
              <a:lnSpc>
                <a:spcPct val="100000"/>
              </a:lnSpc>
              <a:buNone/>
            </a:pPr>
            <a:r>
              <a:rPr lang="en-US" sz="1200" kern="0" spc="120" dirty="0">
                <a:solidFill>
                  <a:srgbClr val="FFFFFF"/>
                </a:solidFill>
                <a:latin typeface="Geist Mono Medium" pitchFamily="34" charset="0"/>
                <a:ea typeface="Geist Mono Medium" pitchFamily="34" charset="-122"/>
                <a:cs typeface="Geist Mono Medium" pitchFamily="34" charset="-120"/>
              </a:rPr>
              <a:t>THE GUIDING PRINCIPLE</a:t>
            </a:r>
            <a:endParaRPr lang="en-US" sz="1200" dirty="0"/>
          </a:p>
        </p:txBody>
      </p:sp>
      <p:sp>
        <p:nvSpPr>
          <p:cNvPr id="3" name="Text 1"/>
          <p:cNvSpPr/>
          <p:nvPr/>
        </p:nvSpPr>
        <p:spPr>
          <a:xfrm>
            <a:off x="609585" y="2289572"/>
            <a:ext cx="10972526" cy="2336800"/>
          </a:xfrm>
          <a:prstGeom prst="rect">
            <a:avLst/>
          </a:prstGeom>
          <a:noFill/>
          <a:ln/>
        </p:spPr>
        <p:txBody>
          <a:bodyPr wrap="square" lIns="0" tIns="0" rIns="0" bIns="0" rtlCol="0" anchor="t">
            <a:normAutofit/>
          </a:bodyPr>
          <a:lstStyle/>
          <a:p>
            <a:pPr marL="0" indent="0" algn="l">
              <a:lnSpc>
                <a:spcPct val="83000"/>
              </a:lnSpc>
              <a:buNone/>
            </a:pPr>
            <a:r>
              <a:rPr lang="en-US" sz="4600" kern="0" spc="-147" dirty="0">
                <a:solidFill>
                  <a:srgbClr val="FFFFFF"/>
                </a:solidFill>
                <a:latin typeface="Gloock" pitchFamily="34" charset="0"/>
                <a:ea typeface="Gloock" pitchFamily="34" charset="-122"/>
                <a:cs typeface="Gloock" pitchFamily="34" charset="-120"/>
              </a:rPr>
              <a:t>AI can be a meaningful companion for spiritual reflection, but it should </a:t>
            </a:r>
            <a:r>
              <a:rPr lang="en-US" sz="4600" kern="0" spc="-147" dirty="0">
                <a:solidFill>
                  <a:srgbClr val="E4572E"/>
                </a:solidFill>
                <a:latin typeface="Gloock" pitchFamily="34" charset="0"/>
                <a:ea typeface="Gloock" pitchFamily="34" charset="-122"/>
                <a:cs typeface="Gloock" pitchFamily="34" charset="-120"/>
              </a:rPr>
              <a:t>not be treated as a replacement</a:t>
            </a:r>
            <a:r>
              <a:rPr lang="en-US" sz="4600" kern="0" spc="-147" dirty="0">
                <a:solidFill>
                  <a:srgbClr val="FFFFFF"/>
                </a:solidFill>
                <a:latin typeface="Gloock" pitchFamily="34" charset="0"/>
                <a:ea typeface="Gloock" pitchFamily="34" charset="-122"/>
                <a:cs typeface="Gloock" pitchFamily="34" charset="-120"/>
              </a:rPr>
              <a:t> for human spiritual direction or pastoral care.       </a:t>
            </a:r>
            <a:endParaRPr lang="en-US" sz="4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THE COMPANION ROLE</a:t>
            </a:r>
            <a:endParaRPr lang="en-US" sz="1200" dirty="0"/>
          </a:p>
        </p:txBody>
      </p:sp>
      <p:sp>
        <p:nvSpPr>
          <p:cNvPr id="3" name="Text 1"/>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Between human conversations</a:t>
            </a:r>
            <a:endParaRPr lang="en-US" sz="3000" dirty="0"/>
          </a:p>
        </p:txBody>
      </p:sp>
      <p:pic>
        <p:nvPicPr>
          <p:cNvPr id="4" name="Image 0" descr="preencoded.png"/>
          <p:cNvPicPr>
            <a:picLocks noChangeAspect="1"/>
          </p:cNvPicPr>
          <p:nvPr/>
        </p:nvPicPr>
        <p:blipFill>
          <a:blip r:embed="rId3"/>
          <a:stretch>
            <a:fillRect/>
          </a:stretch>
        </p:blipFill>
        <p:spPr>
          <a:xfrm>
            <a:off x="609585" y="2664520"/>
            <a:ext cx="457189" cy="457200"/>
          </a:xfrm>
          <a:prstGeom prst="rect">
            <a:avLst/>
          </a:prstGeom>
        </p:spPr>
      </p:pic>
      <p:sp>
        <p:nvSpPr>
          <p:cNvPr id="5" name="Text 2"/>
          <p:cNvSpPr/>
          <p:nvPr/>
        </p:nvSpPr>
        <p:spPr>
          <a:xfrm>
            <a:off x="609585" y="3255070"/>
            <a:ext cx="2400240" cy="291405"/>
          </a:xfrm>
          <a:prstGeom prst="rect">
            <a:avLst/>
          </a:prstGeom>
          <a:noFill/>
          <a:ln/>
        </p:spPr>
        <p:txBody>
          <a:bodyPr wrap="none" lIns="0" tIns="0" rIns="0" bIns="0" rtlCol="0" anchor="t"/>
          <a:lstStyle/>
          <a:p>
            <a:pPr marL="0" indent="0" algn="l">
              <a:lnSpc>
                <a:spcPct val="112000"/>
              </a:lnSpc>
              <a:buNone/>
            </a:pPr>
            <a:r>
              <a:rPr lang="en-US" sz="1700" dirty="0">
                <a:solidFill>
                  <a:srgbClr val="12141A"/>
                </a:solidFill>
                <a:latin typeface="Geist" pitchFamily="34" charset="0"/>
                <a:ea typeface="Geist" pitchFamily="34" charset="-122"/>
                <a:cs typeface="Geist" pitchFamily="34" charset="-120"/>
              </a:rPr>
              <a:t>Capture what emerged</a:t>
            </a:r>
            <a:endParaRPr lang="en-US" sz="1700" dirty="0"/>
          </a:p>
        </p:txBody>
      </p:sp>
      <p:sp>
        <p:nvSpPr>
          <p:cNvPr id="6" name="Text 3"/>
          <p:cNvSpPr/>
          <p:nvPr/>
        </p:nvSpPr>
        <p:spPr>
          <a:xfrm>
            <a:off x="609585" y="3711575"/>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What has surfaced since the last session.</a:t>
            </a:r>
            <a:endParaRPr lang="en-US" sz="1500" dirty="0"/>
          </a:p>
        </p:txBody>
      </p:sp>
      <p:pic>
        <p:nvPicPr>
          <p:cNvPr id="7" name="Image 1" descr="preencoded.png"/>
          <p:cNvPicPr>
            <a:picLocks noChangeAspect="1"/>
          </p:cNvPicPr>
          <p:nvPr/>
        </p:nvPicPr>
        <p:blipFill>
          <a:blip r:embed="rId4"/>
          <a:stretch>
            <a:fillRect/>
          </a:stretch>
        </p:blipFill>
        <p:spPr>
          <a:xfrm>
            <a:off x="3467013" y="2664520"/>
            <a:ext cx="457189" cy="457200"/>
          </a:xfrm>
          <a:prstGeom prst="rect">
            <a:avLst/>
          </a:prstGeom>
        </p:spPr>
      </p:pic>
      <p:sp>
        <p:nvSpPr>
          <p:cNvPr id="8" name="Text 4"/>
          <p:cNvSpPr/>
          <p:nvPr/>
        </p:nvSpPr>
        <p:spPr>
          <a:xfrm>
            <a:off x="3467013" y="3255070"/>
            <a:ext cx="2400240" cy="291405"/>
          </a:xfrm>
          <a:prstGeom prst="rect">
            <a:avLst/>
          </a:prstGeom>
          <a:noFill/>
          <a:ln/>
        </p:spPr>
        <p:txBody>
          <a:bodyPr wrap="none" lIns="0" tIns="0" rIns="0" bIns="0" rtlCol="0" anchor="t"/>
          <a:lstStyle/>
          <a:p>
            <a:pPr marL="0" indent="0" algn="l">
              <a:lnSpc>
                <a:spcPct val="112000"/>
              </a:lnSpc>
              <a:buNone/>
            </a:pPr>
            <a:r>
              <a:rPr lang="en-US" sz="1700" dirty="0">
                <a:solidFill>
                  <a:srgbClr val="12141A"/>
                </a:solidFill>
                <a:latin typeface="Geist" pitchFamily="34" charset="0"/>
                <a:ea typeface="Geist" pitchFamily="34" charset="-122"/>
                <a:cs typeface="Geist" pitchFamily="34" charset="-120"/>
              </a:rPr>
              <a:t>Notice patterns</a:t>
            </a:r>
            <a:endParaRPr lang="en-US" sz="1700" dirty="0"/>
          </a:p>
        </p:txBody>
      </p:sp>
      <p:sp>
        <p:nvSpPr>
          <p:cNvPr id="9" name="Text 5"/>
          <p:cNvSpPr/>
          <p:nvPr/>
        </p:nvSpPr>
        <p:spPr>
          <a:xfrm>
            <a:off x="3467013" y="3711575"/>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Recurring questions, themes, and tensions.</a:t>
            </a:r>
            <a:endParaRPr lang="en-US" sz="1500" dirty="0"/>
          </a:p>
        </p:txBody>
      </p:sp>
      <p:pic>
        <p:nvPicPr>
          <p:cNvPr id="10" name="Image 2" descr="preencoded.png"/>
          <p:cNvPicPr>
            <a:picLocks noChangeAspect="1"/>
          </p:cNvPicPr>
          <p:nvPr/>
        </p:nvPicPr>
        <p:blipFill>
          <a:blip r:embed="rId5"/>
          <a:stretch>
            <a:fillRect/>
          </a:stretch>
        </p:blipFill>
        <p:spPr>
          <a:xfrm>
            <a:off x="6324442" y="2664520"/>
            <a:ext cx="457189" cy="457200"/>
          </a:xfrm>
          <a:prstGeom prst="rect">
            <a:avLst/>
          </a:prstGeom>
        </p:spPr>
      </p:pic>
      <p:sp>
        <p:nvSpPr>
          <p:cNvPr id="11" name="Text 6"/>
          <p:cNvSpPr/>
          <p:nvPr/>
        </p:nvSpPr>
        <p:spPr>
          <a:xfrm>
            <a:off x="6324442" y="3255070"/>
            <a:ext cx="2400240" cy="291405"/>
          </a:xfrm>
          <a:prstGeom prst="rect">
            <a:avLst/>
          </a:prstGeom>
          <a:noFill/>
          <a:ln/>
        </p:spPr>
        <p:txBody>
          <a:bodyPr wrap="none" lIns="0" tIns="0" rIns="0" bIns="0" rtlCol="0" anchor="t"/>
          <a:lstStyle/>
          <a:p>
            <a:pPr marL="0" indent="0" algn="l">
              <a:lnSpc>
                <a:spcPct val="112000"/>
              </a:lnSpc>
              <a:buNone/>
            </a:pPr>
            <a:r>
              <a:rPr lang="en-US" sz="1700" dirty="0">
                <a:solidFill>
                  <a:srgbClr val="12141A"/>
                </a:solidFill>
                <a:latin typeface="Geist" pitchFamily="34" charset="0"/>
                <a:ea typeface="Geist" pitchFamily="34" charset="-122"/>
                <a:cs typeface="Geist" pitchFamily="34" charset="-120"/>
              </a:rPr>
              <a:t>Prepare questions</a:t>
            </a:r>
            <a:endParaRPr lang="en-US" sz="1700" dirty="0"/>
          </a:p>
        </p:txBody>
      </p:sp>
      <p:sp>
        <p:nvSpPr>
          <p:cNvPr id="12" name="Text 7"/>
          <p:cNvSpPr/>
          <p:nvPr/>
        </p:nvSpPr>
        <p:spPr>
          <a:xfrm>
            <a:off x="6324442" y="3711575"/>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What to explore more deeply with a director.</a:t>
            </a:r>
            <a:endParaRPr lang="en-US" sz="1500" dirty="0"/>
          </a:p>
        </p:txBody>
      </p:sp>
      <p:pic>
        <p:nvPicPr>
          <p:cNvPr id="13" name="Image 3" descr="preencoded.png"/>
          <p:cNvPicPr>
            <a:picLocks noChangeAspect="1"/>
          </p:cNvPicPr>
          <p:nvPr/>
        </p:nvPicPr>
        <p:blipFill>
          <a:blip r:embed="rId6"/>
          <a:stretch>
            <a:fillRect/>
          </a:stretch>
        </p:blipFill>
        <p:spPr>
          <a:xfrm>
            <a:off x="9181870" y="2664520"/>
            <a:ext cx="457189" cy="457200"/>
          </a:xfrm>
          <a:prstGeom prst="rect">
            <a:avLst/>
          </a:prstGeom>
        </p:spPr>
      </p:pic>
      <p:sp>
        <p:nvSpPr>
          <p:cNvPr id="14" name="Text 8"/>
          <p:cNvSpPr/>
          <p:nvPr/>
        </p:nvSpPr>
        <p:spPr>
          <a:xfrm>
            <a:off x="9181870" y="3255070"/>
            <a:ext cx="2400240" cy="291405"/>
          </a:xfrm>
          <a:prstGeom prst="rect">
            <a:avLst/>
          </a:prstGeom>
          <a:noFill/>
          <a:ln/>
        </p:spPr>
        <p:txBody>
          <a:bodyPr wrap="none" lIns="0" tIns="0" rIns="0" bIns="0" rtlCol="0" anchor="t"/>
          <a:lstStyle/>
          <a:p>
            <a:pPr marL="0" indent="0" algn="l">
              <a:lnSpc>
                <a:spcPct val="112000"/>
              </a:lnSpc>
              <a:buNone/>
            </a:pPr>
            <a:r>
              <a:rPr lang="en-US" sz="1700" dirty="0">
                <a:solidFill>
                  <a:srgbClr val="12141A"/>
                </a:solidFill>
                <a:latin typeface="Geist" pitchFamily="34" charset="0"/>
                <a:ea typeface="Geist" pitchFamily="34" charset="-122"/>
                <a:cs typeface="Geist" pitchFamily="34" charset="-120"/>
              </a:rPr>
              <a:t>Spiritual direction</a:t>
            </a:r>
            <a:endParaRPr lang="en-US" sz="1700" dirty="0"/>
          </a:p>
        </p:txBody>
      </p:sp>
      <p:sp>
        <p:nvSpPr>
          <p:cNvPr id="15" name="Text 9"/>
          <p:cNvSpPr/>
          <p:nvPr/>
        </p:nvSpPr>
        <p:spPr>
          <a:xfrm>
            <a:off x="9181870" y="3711575"/>
            <a:ext cx="2400240" cy="828675"/>
          </a:xfrm>
          <a:prstGeom prst="rect">
            <a:avLst/>
          </a:prstGeom>
          <a:noFill/>
          <a:ln/>
        </p:spPr>
        <p:txBody>
          <a:bodyPr wrap="square" lIns="0" tIns="0" rIns="0" bIns="0" rtlCol="0" anchor="t">
            <a:normAutofit/>
          </a:bodyPr>
          <a:lstStyle/>
          <a:p>
            <a:pPr marL="0" indent="0" algn="l">
              <a:lnSpc>
                <a:spcPct val="121000"/>
              </a:lnSpc>
              <a:buNone/>
            </a:pPr>
            <a:r>
              <a:rPr lang="en-US" sz="1500" dirty="0">
                <a:solidFill>
                  <a:srgbClr val="2A2D35"/>
                </a:solidFill>
                <a:latin typeface="Geist" pitchFamily="34" charset="0"/>
                <a:ea typeface="Geist" pitchFamily="34" charset="-122"/>
                <a:cs typeface="Geist" pitchFamily="34" charset="-120"/>
              </a:rPr>
              <a:t>Where discernment happens, with another person.</a:t>
            </a:r>
            <a:endParaRPr lang="en-US" sz="1500" dirty="0"/>
          </a:p>
        </p:txBody>
      </p:sp>
      <p:sp>
        <p:nvSpPr>
          <p:cNvPr id="16" name="Text 10"/>
          <p:cNvSpPr/>
          <p:nvPr/>
        </p:nvSpPr>
        <p:spPr>
          <a:xfrm>
            <a:off x="609585" y="4800600"/>
            <a:ext cx="10972800" cy="1005840"/>
          </a:xfrm>
          <a:prstGeom prst="rect">
            <a:avLst/>
          </a:prstGeom>
          <a:noFill/>
          <a:ln/>
        </p:spPr>
        <p:txBody>
          <a:bodyPr wrap="square" lIns="0" tIns="99058" rIns="0" bIns="0" rtlCol="0" anchor="t"/>
          <a:lstStyle/>
          <a:p>
            <a:pPr marL="0" indent="0" algn="l">
              <a:lnSpc>
                <a:spcPct val="113000"/>
              </a:lnSpc>
              <a:buNone/>
            </a:pPr>
            <a:r>
              <a:rPr lang="en-US" sz="2800" i="1" dirty="0">
                <a:solidFill>
                  <a:srgbClr val="50555E"/>
                </a:solidFill>
                <a:latin typeface="Geist" pitchFamily="34" charset="0"/>
                <a:ea typeface="Geist" pitchFamily="34" charset="-122"/>
                <a:cs typeface="Geist" pitchFamily="34" charset="-120"/>
              </a:rPr>
              <a:t>AI can help us prepare for discernment without pretending to be the discerner.</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09600"/>
            <a:ext cx="1158211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3E5770"/>
                </a:solidFill>
                <a:latin typeface="Geist Mono Medium" pitchFamily="34" charset="0"/>
                <a:ea typeface="Geist Mono Medium" pitchFamily="34" charset="-122"/>
                <a:cs typeface="Geist Mono Medium" pitchFamily="34" charset="-120"/>
              </a:rPr>
              <a:t>PRACTICAL RESPONSIBILITIES</a:t>
            </a:r>
            <a:endParaRPr lang="en-US" sz="1200" dirty="0"/>
          </a:p>
        </p:txBody>
      </p:sp>
      <p:sp>
        <p:nvSpPr>
          <p:cNvPr id="3" name="Text 1"/>
          <p:cNvSpPr/>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Implications </a:t>
            </a:r>
            <a:r>
              <a:rPr lang="en-US" sz="3000" kern="0" spc="-45">
                <a:solidFill>
                  <a:srgbClr val="12141A"/>
                </a:solidFill>
                <a:latin typeface="Gloock" pitchFamily="34" charset="0"/>
                <a:ea typeface="Gloock" pitchFamily="34" charset="-122"/>
                <a:cs typeface="Gloock" pitchFamily="34" charset="-120"/>
              </a:rPr>
              <a:t>for spiritual directors </a:t>
            </a:r>
            <a:r>
              <a:rPr lang="en-US" sz="3000" kern="0" spc="-45" dirty="0">
                <a:solidFill>
                  <a:srgbClr val="12141A"/>
                </a:solidFill>
                <a:latin typeface="Gloock" pitchFamily="34" charset="0"/>
                <a:ea typeface="Gloock" pitchFamily="34" charset="-122"/>
                <a:cs typeface="Gloock" pitchFamily="34" charset="-120"/>
              </a:rPr>
              <a:t>and developers</a:t>
            </a:r>
            <a:endParaRPr lang="en-US" sz="3000" dirty="0"/>
          </a:p>
        </p:txBody>
      </p:sp>
      <p:sp>
        <p:nvSpPr>
          <p:cNvPr id="4" name="Text 2"/>
          <p:cNvSpPr/>
          <p:nvPr/>
        </p:nvSpPr>
        <p:spPr>
          <a:xfrm>
            <a:off x="914377" y="1956197"/>
            <a:ext cx="4876678" cy="342900"/>
          </a:xfrm>
          <a:prstGeom prst="rect">
            <a:avLst/>
          </a:prstGeom>
          <a:noFill/>
          <a:ln/>
        </p:spPr>
        <p:txBody>
          <a:bodyPr wrap="none" lIns="0" tIns="0" rIns="0" bIns="0" rtlCol="0" anchor="t"/>
          <a:lstStyle/>
          <a:p>
            <a:pPr marL="0" indent="0" algn="l">
              <a:lnSpc>
                <a:spcPct val="112000"/>
              </a:lnSpc>
              <a:buNone/>
            </a:pPr>
            <a:r>
              <a:rPr lang="en-US" sz="2000">
                <a:solidFill>
                  <a:srgbClr val="12141A"/>
                </a:solidFill>
                <a:latin typeface="Geist" pitchFamily="34" charset="0"/>
                <a:ea typeface="Geist" pitchFamily="34" charset="-122"/>
                <a:cs typeface="Geist" pitchFamily="34" charset="-120"/>
              </a:rPr>
              <a:t>Spiritual directors</a:t>
            </a:r>
            <a:endParaRPr lang="en-US" sz="2000" dirty="0"/>
          </a:p>
        </p:txBody>
      </p:sp>
      <p:sp>
        <p:nvSpPr>
          <p:cNvPr id="5" name="Text 3"/>
          <p:cNvSpPr/>
          <p:nvPr/>
        </p:nvSpPr>
        <p:spPr>
          <a:xfrm>
            <a:off x="914377" y="2426097"/>
            <a:ext cx="4876678" cy="2822575"/>
          </a:xfrm>
          <a:prstGeom prst="rect">
            <a:avLst/>
          </a:prstGeom>
          <a:noFill/>
          <a:ln/>
        </p:spPr>
        <p:txBody>
          <a:bodyPr wrap="square" lIns="0" tIns="0" rIns="0" bIns="0" rtlCol="0" anchor="t">
            <a:normAutofit/>
          </a:bodyPr>
          <a:lstStyle/>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Assume some people already use AI this way</a:t>
            </a:r>
            <a:endParaRPr lang="en-US" sz="1800" dirty="0"/>
          </a:p>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Ask about it, without judgment</a:t>
            </a:r>
            <a:endParaRPr lang="en-US" sz="1800" dirty="0"/>
          </a:p>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Help people use it with discernment</a:t>
            </a:r>
            <a:endParaRPr lang="en-US" sz="1800" dirty="0"/>
          </a:p>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Name its limits clearly</a:t>
            </a:r>
            <a:endParaRPr lang="en-US" sz="1800" dirty="0"/>
          </a:p>
        </p:txBody>
      </p:sp>
      <p:sp>
        <p:nvSpPr>
          <p:cNvPr id="6" name="Text 4"/>
          <p:cNvSpPr/>
          <p:nvPr/>
        </p:nvSpPr>
        <p:spPr>
          <a:xfrm>
            <a:off x="6400640" y="1956197"/>
            <a:ext cx="4876678" cy="342900"/>
          </a:xfrm>
          <a:prstGeom prst="rect">
            <a:avLst/>
          </a:prstGeom>
          <a:noFill/>
          <a:ln/>
        </p:spPr>
        <p:txBody>
          <a:bodyPr wrap="none" lIns="0" tIns="0" rIns="0" bIns="0" rtlCol="0" anchor="t"/>
          <a:lstStyle/>
          <a:p>
            <a:pPr marL="0" indent="0" algn="l">
              <a:lnSpc>
                <a:spcPct val="112000"/>
              </a:lnSpc>
              <a:buNone/>
            </a:pPr>
            <a:r>
              <a:rPr lang="en-US" sz="2000" dirty="0">
                <a:solidFill>
                  <a:srgbClr val="12141A"/>
                </a:solidFill>
                <a:latin typeface="Geist" pitchFamily="34" charset="0"/>
                <a:ea typeface="Geist" pitchFamily="34" charset="-122"/>
                <a:cs typeface="Geist" pitchFamily="34" charset="-120"/>
              </a:rPr>
              <a:t>Developers</a:t>
            </a:r>
            <a:endParaRPr lang="en-US" sz="2000" dirty="0"/>
          </a:p>
        </p:txBody>
      </p:sp>
      <p:sp>
        <p:nvSpPr>
          <p:cNvPr id="7" name="Text 5"/>
          <p:cNvSpPr/>
          <p:nvPr/>
        </p:nvSpPr>
        <p:spPr>
          <a:xfrm>
            <a:off x="6400640" y="2426097"/>
            <a:ext cx="4876678" cy="2822575"/>
          </a:xfrm>
          <a:prstGeom prst="rect">
            <a:avLst/>
          </a:prstGeom>
          <a:noFill/>
          <a:ln/>
        </p:spPr>
        <p:txBody>
          <a:bodyPr wrap="square" lIns="0" tIns="0" rIns="0" bIns="0" rtlCol="0" anchor="t">
            <a:normAutofit/>
          </a:bodyPr>
          <a:lstStyle/>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Help users notice patterns and prepare for human conversation</a:t>
            </a:r>
            <a:endParaRPr lang="en-US" sz="1800" dirty="0"/>
          </a:p>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Know when to slow down and not over-interpret</a:t>
            </a:r>
            <a:endParaRPr lang="en-US" sz="1800" dirty="0"/>
          </a:p>
          <a:p>
            <a:pPr marL="365760" indent="-365760" algn="l">
              <a:lnSpc>
                <a:spcPct val="121000"/>
              </a:lnSpc>
              <a:buSzPct val="100000"/>
              <a:buChar char="•"/>
            </a:pPr>
            <a:r>
              <a:rPr lang="en-US" sz="1800" dirty="0">
                <a:solidFill>
                  <a:srgbClr val="2A2D35"/>
                </a:solidFill>
                <a:latin typeface="Geist" pitchFamily="34" charset="0"/>
                <a:ea typeface="Geist" pitchFamily="34" charset="-122"/>
                <a:cs typeface="Geist" pitchFamily="34" charset="-120"/>
              </a:rPr>
              <a:t>Recognize when to point toward a director, pastor, therapist, or trusted person</a:t>
            </a:r>
            <a:endParaRPr lang="en-US" sz="1800" dirty="0"/>
          </a:p>
        </p:txBody>
      </p:sp>
      <p:sp>
        <p:nvSpPr>
          <p:cNvPr id="8" name="Text 6"/>
          <p:cNvSpPr/>
          <p:nvPr/>
        </p:nvSpPr>
        <p:spPr>
          <a:xfrm>
            <a:off x="609585" y="5669280"/>
            <a:ext cx="11582110" cy="457200"/>
          </a:xfrm>
          <a:prstGeom prst="rect">
            <a:avLst/>
          </a:prstGeom>
          <a:noFill/>
          <a:ln/>
        </p:spPr>
        <p:txBody>
          <a:bodyPr wrap="none" lIns="0" tIns="99058" rIns="0" bIns="0" rtlCol="0" anchor="t"/>
          <a:lstStyle/>
          <a:p>
            <a:pPr marL="0" indent="0" algn="l">
              <a:lnSpc>
                <a:spcPct val="113000"/>
              </a:lnSpc>
              <a:buNone/>
            </a:pPr>
            <a:r>
              <a:rPr lang="en-US" sz="2000" i="1" dirty="0">
                <a:solidFill>
                  <a:srgbClr val="50555E"/>
                </a:solidFill>
                <a:latin typeface="Geist" pitchFamily="34" charset="0"/>
                <a:ea typeface="Geist" pitchFamily="34" charset="-122"/>
                <a:cs typeface="Geist" pitchFamily="34" charset="-120"/>
              </a:rPr>
              <a:t>The goal is to design AI that knows it is not a spiritual director.</a:t>
            </a:r>
            <a:endParaRPr lang="en-US" sz="2000" dirty="0"/>
          </a:p>
        </p:txBody>
      </p:sp>
      <p:sp>
        <p:nvSpPr>
          <p:cNvPr id="9" name="Shape 7"/>
          <p:cNvSpPr/>
          <p:nvPr/>
        </p:nvSpPr>
        <p:spPr>
          <a:xfrm>
            <a:off x="6089498" y="1752997"/>
            <a:ext cx="12700" cy="3698875"/>
          </a:xfrm>
          <a:prstGeom prst="rect">
            <a:avLst/>
          </a:prstGeom>
          <a:solidFill>
            <a:srgbClr val="77818C"/>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12780" y="914400"/>
            <a:ext cx="8000800" cy="3999210"/>
          </a:xfrm>
          <a:prstGeom prst="rect">
            <a:avLst/>
          </a:prstGeom>
          <a:noFill/>
          <a:ln/>
        </p:spPr>
        <p:txBody>
          <a:bodyPr/>
          <a:lstStyle/>
          <a:p>
            <a:endParaRPr lang="en-US"/>
          </a:p>
        </p:txBody>
      </p:sp>
      <p:sp>
        <p:nvSpPr>
          <p:cNvPr id="3" name="Text 1"/>
          <p:cNvSpPr/>
          <p:nvPr/>
        </p:nvSpPr>
        <p:spPr>
          <a:xfrm>
            <a:off x="1117572" y="1193800"/>
            <a:ext cx="8000800" cy="182860"/>
          </a:xfrm>
          <a:prstGeom prst="rect">
            <a:avLst/>
          </a:prstGeom>
          <a:noFill/>
          <a:ln/>
        </p:spPr>
        <p:txBody>
          <a:bodyPr wrap="none" lIns="0" tIns="0" rIns="0" bIns="0" rtlCol="0" anchor="t"/>
          <a:lstStyle/>
          <a:p>
            <a:pPr marL="0" indent="0" algn="l">
              <a:lnSpc>
                <a:spcPct val="100000"/>
              </a:lnSpc>
              <a:buNone/>
            </a:pPr>
            <a:r>
              <a:rPr lang="en-US" sz="1200" kern="0" spc="96" dirty="0">
                <a:solidFill>
                  <a:srgbClr val="FFFFFF"/>
                </a:solidFill>
                <a:latin typeface="Geist Mono Medium" pitchFamily="34" charset="0"/>
                <a:ea typeface="Geist Mono Medium" pitchFamily="34" charset="-122"/>
                <a:cs typeface="Geist Mono Medium" pitchFamily="34" charset="-120"/>
              </a:rPr>
              <a:t>CLOSING</a:t>
            </a:r>
            <a:endParaRPr lang="en-US" sz="1200" dirty="0"/>
          </a:p>
        </p:txBody>
      </p:sp>
      <p:sp>
        <p:nvSpPr>
          <p:cNvPr id="4" name="Text 2"/>
          <p:cNvSpPr/>
          <p:nvPr/>
        </p:nvSpPr>
        <p:spPr>
          <a:xfrm>
            <a:off x="1117573" y="1468735"/>
            <a:ext cx="5160398" cy="1320800"/>
          </a:xfrm>
          <a:prstGeom prst="rect">
            <a:avLst/>
          </a:prstGeom>
          <a:noFill/>
          <a:ln/>
        </p:spPr>
        <p:txBody>
          <a:bodyPr wrap="square" lIns="0" tIns="0" rIns="0" bIns="0" rtlCol="0" anchor="t">
            <a:normAutofit/>
          </a:bodyPr>
          <a:lstStyle/>
          <a:p>
            <a:pPr marL="0" indent="0" algn="l">
              <a:lnSpc>
                <a:spcPct val="95000"/>
              </a:lnSpc>
              <a:buNone/>
            </a:pPr>
            <a:r>
              <a:rPr lang="en-US" sz="3000" kern="0" spc="-130" dirty="0">
                <a:solidFill>
                  <a:srgbClr val="FFFFFF"/>
                </a:solidFill>
                <a:latin typeface="Gloock" pitchFamily="34" charset="0"/>
                <a:ea typeface="Gloock" pitchFamily="34" charset="-122"/>
                <a:cs typeface="Gloock" pitchFamily="34" charset="-120"/>
              </a:rPr>
              <a:t>Let AI help us notice, name, and prepare our thoughts.</a:t>
            </a:r>
            <a:endParaRPr lang="en-US" sz="3000" dirty="0"/>
          </a:p>
        </p:txBody>
      </p:sp>
      <p:sp>
        <p:nvSpPr>
          <p:cNvPr id="5" name="Text 3"/>
          <p:cNvSpPr/>
          <p:nvPr/>
        </p:nvSpPr>
        <p:spPr>
          <a:xfrm>
            <a:off x="1117572" y="2880360"/>
            <a:ext cx="7391215" cy="1828800"/>
          </a:xfrm>
          <a:prstGeom prst="rect">
            <a:avLst/>
          </a:prstGeom>
          <a:noFill/>
          <a:ln/>
        </p:spPr>
        <p:txBody>
          <a:bodyPr wrap="square" lIns="0" tIns="0" rIns="0" bIns="0" rtlCol="0" anchor="t">
            <a:normAutofit/>
          </a:bodyPr>
          <a:lstStyle/>
          <a:p>
            <a:pPr marL="0" indent="0" algn="l">
              <a:lnSpc>
                <a:spcPct val="95000"/>
              </a:lnSpc>
              <a:buNone/>
            </a:pPr>
            <a:r>
              <a:rPr lang="en-US" sz="3800" kern="0" spc="-107" dirty="0">
                <a:solidFill>
                  <a:srgbClr val="FFFFFF"/>
                </a:solidFill>
                <a:latin typeface="Gloock" pitchFamily="34" charset="0"/>
                <a:ea typeface="Gloock" pitchFamily="34" charset="-122"/>
                <a:cs typeface="Gloock" pitchFamily="34" charset="-120"/>
              </a:rPr>
              <a:t>Let </a:t>
            </a:r>
            <a:r>
              <a:rPr lang="en-US" sz="3800" kern="0" spc="-107" dirty="0">
                <a:solidFill>
                  <a:srgbClr val="E4572E"/>
                </a:solidFill>
                <a:latin typeface="Gloock" pitchFamily="34" charset="0"/>
                <a:ea typeface="Gloock" pitchFamily="34" charset="-122"/>
                <a:cs typeface="Gloock" pitchFamily="34" charset="-120"/>
              </a:rPr>
              <a:t>human beings</a:t>
            </a:r>
            <a:r>
              <a:rPr lang="en-US" sz="3800" kern="0" spc="-107" dirty="0">
                <a:solidFill>
                  <a:srgbClr val="FFFFFF"/>
                </a:solidFill>
                <a:latin typeface="Gloock" pitchFamily="34" charset="0"/>
                <a:ea typeface="Gloock" pitchFamily="34" charset="-122"/>
                <a:cs typeface="Gloock" pitchFamily="34" charset="-120"/>
              </a:rPr>
              <a:t> listen deeply, discern with us, and walk with us through what we find.</a:t>
            </a:r>
            <a:endParaRPr lang="en-US" sz="3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References">
    <p:spTree>
      <p:nvGrpSpPr>
        <p:cNvPr id="1" name=""/>
        <p:cNvGrpSpPr/>
        <p:nvPr/>
      </p:nvGrpSpPr>
      <p:grpSpPr>
        <a:xfrm>
          <a:off x="0" y="0"/>
          <a:ext cx="0" cy="0"/>
          <a:chOff x="0" y="0"/>
          <a:chExt cx="0" cy="0"/>
        </a:xfrm>
      </p:grpSpPr>
      <p:sp>
        <p:nvSpPr>
          <p:cNvPr id="2" name="Eyebrow"/>
          <p:cNvSpPr txBox="1"/>
          <p:nvPr/>
        </p:nvSpPr>
        <p:spPr>
          <a:xfrm>
            <a:off x="609585" y="609600"/>
            <a:ext cx="10972526" cy="182860"/>
          </a:xfrm>
          <a:prstGeom prst="rect">
            <a:avLst/>
          </a:prstGeom>
          <a:noFill/>
          <a:ln/>
        </p:spPr>
        <p:txBody>
          <a:bodyPr wrap="none" lIns="0" tIns="0" rIns="0" bIns="0" rtlCol="0" anchor="t"/>
          <a:lstStyle/>
          <a:p>
            <a:pPr marL="0" indent="0" algn="l">
              <a:buNone/>
            </a:pPr>
            <a:r>
              <a:rPr lang="en-US" sz="1200" kern="0" spc="96" dirty="0">
                <a:solidFill>
                  <a:srgbClr val="3E5770"/>
                </a:solidFill>
                <a:latin typeface="Geist Mono Medium" pitchFamily="34" charset="0"/>
                <a:ea typeface="Geist Mono Medium" pitchFamily="34" charset="-122"/>
                <a:cs typeface="Geist Mono Medium" pitchFamily="34" charset="-120"/>
              </a:rPr>
              <a:t>REFERENCES</a:t>
            </a:r>
          </a:p>
        </p:txBody>
      </p:sp>
      <p:sp>
        <p:nvSpPr>
          <p:cNvPr id="3" name="Title"/>
          <p:cNvSpPr txBox="1"/>
          <p:nvPr/>
        </p:nvSpPr>
        <p:spPr>
          <a:xfrm>
            <a:off x="609585" y="884535"/>
            <a:ext cx="10972526" cy="400050"/>
          </a:xfrm>
          <a:prstGeom prst="rect">
            <a:avLst/>
          </a:prstGeom>
          <a:noFill/>
          <a:ln/>
        </p:spPr>
        <p:txBody>
          <a:bodyPr wrap="none" lIns="0" tIns="0" rIns="0" bIns="0" rtlCol="0" anchor="t"/>
          <a:lstStyle/>
          <a:p>
            <a:pPr marL="0" indent="0" algn="l">
              <a:lnSpc>
                <a:spcPct val="88000"/>
              </a:lnSpc>
              <a:buNone/>
            </a:pPr>
            <a:r>
              <a:rPr lang="en-US" sz="3000" kern="0" spc="-45" dirty="0">
                <a:solidFill>
                  <a:srgbClr val="12141A"/>
                </a:solidFill>
                <a:latin typeface="Gloock" pitchFamily="34" charset="0"/>
                <a:ea typeface="Gloock" pitchFamily="34" charset="-122"/>
                <a:cs typeface="Gloock" pitchFamily="34" charset="-120"/>
              </a:rPr>
              <a:t>Sources cited</a:t>
            </a:r>
          </a:p>
        </p:txBody>
      </p:sp>
      <p:sp>
        <p:nvSpPr>
          <p:cNvPr id="4" name="References left"/>
          <p:cNvSpPr txBox="1"/>
          <p:nvPr/>
        </p:nvSpPr>
        <p:spPr>
          <a:xfrm>
            <a:off x="609585" y="1700000"/>
            <a:ext cx="5257800" cy="4600000"/>
          </a:xfrm>
          <a:prstGeom prst="rect">
            <a:avLst/>
          </a:prstGeom>
          <a:noFill/>
          <a:ln/>
        </p:spPr>
        <p:txBody>
          <a:bodyPr wrap="square" lIns="0" tIns="0" rIns="0" bIns="0" rtlCol="0" anchor="t"/>
          <a:lstStyle/>
          <a:p>
            <a:pPr marL="320040" indent="-320040" algn="l">
              <a:lnSpc>
                <a:spcPct val="112000"/>
              </a:lnSpc>
              <a:buNone/>
            </a:pPr>
            <a:r>
              <a:rPr lang="en-US" sz="1300" kern="0" dirty="0">
                <a:solidFill>
                  <a:srgbClr val="2A2D35"/>
                </a:solidFill>
                <a:latin typeface="Geist" pitchFamily="34" charset="0"/>
                <a:ea typeface="Geist" pitchFamily="34" charset="-122"/>
                <a:cs typeface="Geist" pitchFamily="34" charset="-120"/>
              </a:rPr>
              <a:t>Campbell, H. A., &amp; Tsuria, R. (Eds.). (2022). </a:t>
            </a:r>
            <a:r>
              <a:rPr lang="en-US" sz="1300" i="1" kern="0" dirty="0">
                <a:solidFill>
                  <a:srgbClr val="2A2D35"/>
                </a:solidFill>
                <a:latin typeface="Geist" pitchFamily="34" charset="0"/>
                <a:ea typeface="Geist" pitchFamily="34" charset="-122"/>
                <a:cs typeface="Geist" pitchFamily="34" charset="-120"/>
              </a:rPr>
              <a:t>Digital religion: Understanding religious practice in digital media</a:t>
            </a:r>
            <a:r>
              <a:rPr lang="en-US" sz="1300" kern="0" dirty="0">
                <a:solidFill>
                  <a:srgbClr val="2A2D35"/>
                </a:solidFill>
                <a:latin typeface="Geist" pitchFamily="34" charset="0"/>
                <a:ea typeface="Geist" pitchFamily="34" charset="-122"/>
                <a:cs typeface="Geist" pitchFamily="34" charset="-120"/>
              </a:rPr>
              <a:t> (2nd ed.). Routledge.</a:t>
            </a:r>
          </a:p>
          <a:p>
            <a:pPr marL="320040" indent="-320040" algn="l">
              <a:lnSpc>
                <a:spcPct val="112000"/>
              </a:lnSpc>
              <a:spcBef>
                <a:spcPts val="1400"/>
              </a:spcBef>
              <a:buNone/>
            </a:pPr>
            <a:r>
              <a:rPr lang="en-US" sz="1300" kern="0" dirty="0">
                <a:solidFill>
                  <a:srgbClr val="2A2D35"/>
                </a:solidFill>
                <a:latin typeface="Geist" pitchFamily="34" charset="0"/>
                <a:ea typeface="Geist" pitchFamily="34" charset="-122"/>
                <a:cs typeface="Geist" pitchFamily="34" charset="-120"/>
              </a:rPr>
              <a:t>Foucault, M. (1988). Technologies of the self. In L. H. Martin, H. Gutman, &amp; P. H. Hutton (Eds.), </a:t>
            </a:r>
            <a:r>
              <a:rPr lang="en-US" sz="1300" i="1" kern="0" dirty="0">
                <a:solidFill>
                  <a:srgbClr val="2A2D35"/>
                </a:solidFill>
                <a:latin typeface="Geist" pitchFamily="34" charset="0"/>
                <a:ea typeface="Geist" pitchFamily="34" charset="-122"/>
                <a:cs typeface="Geist" pitchFamily="34" charset="-120"/>
              </a:rPr>
              <a:t>Technologies of the self: A seminar with Michel Foucault</a:t>
            </a:r>
            <a:r>
              <a:rPr lang="en-US" sz="1300" kern="0" dirty="0">
                <a:solidFill>
                  <a:srgbClr val="2A2D35"/>
                </a:solidFill>
                <a:latin typeface="Geist" pitchFamily="34" charset="0"/>
                <a:ea typeface="Geist" pitchFamily="34" charset="-122"/>
                <a:cs typeface="Geist" pitchFamily="34" charset="-120"/>
              </a:rPr>
              <a:t> (pp. 16–49). University of Massachusetts Press.</a:t>
            </a:r>
          </a:p>
          <a:p>
            <a:pPr marL="320040" indent="-320040" algn="l">
              <a:lnSpc>
                <a:spcPct val="112000"/>
              </a:lnSpc>
              <a:spcBef>
                <a:spcPts val="1400"/>
              </a:spcBef>
              <a:buNone/>
            </a:pPr>
            <a:r>
              <a:rPr lang="en-US" sz="1300" kern="0" dirty="0">
                <a:solidFill>
                  <a:srgbClr val="2A2D35"/>
                </a:solidFill>
                <a:latin typeface="Geist" pitchFamily="34" charset="0"/>
                <a:ea typeface="Geist" pitchFamily="34" charset="-122"/>
                <a:cs typeface="Geist" pitchFamily="34" charset="-120"/>
              </a:rPr>
              <a:t>Kleinert, T., Waldschütz, M., Blau, J., Heinrichs, M., &amp; Schiller, B. (2026). AI outperforms humans in establishing interpersonal closeness in emotionally engaging interactions, but only when labelled as human. </a:t>
            </a:r>
            <a:r>
              <a:rPr lang="en-US" sz="1300" i="1" kern="0" dirty="0">
                <a:solidFill>
                  <a:srgbClr val="2A2D35"/>
                </a:solidFill>
                <a:latin typeface="Geist" pitchFamily="34" charset="0"/>
                <a:ea typeface="Geist" pitchFamily="34" charset="-122"/>
                <a:cs typeface="Geist" pitchFamily="34" charset="-120"/>
              </a:rPr>
              <a:t>Communications Psychology, 4</a:t>
            </a:r>
            <a:r>
              <a:rPr lang="en-US" sz="1300" kern="0" dirty="0">
                <a:solidFill>
                  <a:srgbClr val="2A2D35"/>
                </a:solidFill>
                <a:latin typeface="Geist" pitchFamily="34" charset="0"/>
                <a:ea typeface="Geist" pitchFamily="34" charset="-122"/>
                <a:cs typeface="Geist" pitchFamily="34" charset="-120"/>
              </a:rPr>
              <a:t>, 23. https://doi.org/10.1038/s44271-025-00391-7</a:t>
            </a:r>
          </a:p>
        </p:txBody>
      </p:sp>
      <p:sp>
        <p:nvSpPr>
          <p:cNvPr id="5" name="References right"/>
          <p:cNvSpPr txBox="1"/>
          <p:nvPr/>
        </p:nvSpPr>
        <p:spPr>
          <a:xfrm>
            <a:off x="6324600" y="1700000"/>
            <a:ext cx="5257800" cy="4600000"/>
          </a:xfrm>
          <a:prstGeom prst="rect">
            <a:avLst/>
          </a:prstGeom>
          <a:noFill/>
          <a:ln/>
        </p:spPr>
        <p:txBody>
          <a:bodyPr wrap="square" lIns="0" tIns="0" rIns="0" bIns="0" rtlCol="0" anchor="t"/>
          <a:lstStyle/>
          <a:p>
            <a:pPr marL="320040" indent="-320040" algn="l">
              <a:lnSpc>
                <a:spcPct val="112000"/>
              </a:lnSpc>
              <a:buNone/>
            </a:pPr>
            <a:r>
              <a:rPr lang="en-US" sz="1300" kern="0" dirty="0">
                <a:solidFill>
                  <a:srgbClr val="2A2D35"/>
                </a:solidFill>
                <a:latin typeface="Geist" pitchFamily="34" charset="0"/>
                <a:ea typeface="Geist" pitchFamily="34" charset="-122"/>
                <a:cs typeface="Geist" pitchFamily="34" charset="-120"/>
              </a:rPr>
              <a:t>National Academy of Medicine. (2026, May 13). </a:t>
            </a:r>
            <a:r>
              <a:rPr lang="en-US" sz="1300" i="1" kern="0" dirty="0">
                <a:solidFill>
                  <a:srgbClr val="2A2D35"/>
                </a:solidFill>
                <a:latin typeface="Geist" pitchFamily="34" charset="0"/>
                <a:ea typeface="Geist" pitchFamily="34" charset="-122"/>
                <a:cs typeface="Geist" pitchFamily="34" charset="-120"/>
              </a:rPr>
              <a:t>AI chatbots for mental health: What works, what harms, and what’s next</a:t>
            </a:r>
            <a:r>
              <a:rPr lang="en-US" sz="1300" kern="0" dirty="0">
                <a:solidFill>
                  <a:srgbClr val="2A2D35"/>
                </a:solidFill>
                <a:latin typeface="Geist" pitchFamily="34" charset="0"/>
                <a:ea typeface="Geist" pitchFamily="34" charset="-122"/>
                <a:cs typeface="Geist" pitchFamily="34" charset="-120"/>
              </a:rPr>
              <a:t> [Health in the Headlines webinar summary]. https://nam.edu/news-and-insights/ai-chatbots-for-mental-health-what-works-what-harms-and-whats-next/</a:t>
            </a:r>
          </a:p>
          <a:p>
            <a:pPr marL="320040" indent="-320040" algn="l">
              <a:lnSpc>
                <a:spcPct val="112000"/>
              </a:lnSpc>
              <a:spcBef>
                <a:spcPts val="1400"/>
              </a:spcBef>
              <a:buNone/>
            </a:pPr>
            <a:r>
              <a:rPr lang="en-US" sz="1300" kern="0" dirty="0">
                <a:solidFill>
                  <a:srgbClr val="2A2D35"/>
                </a:solidFill>
                <a:latin typeface="Geist" pitchFamily="34" charset="0"/>
                <a:ea typeface="Geist" pitchFamily="34" charset="-122"/>
                <a:cs typeface="Geist" pitchFamily="34" charset="-120"/>
              </a:rPr>
              <a:t>Wigmore, S. (2025, July 17). </a:t>
            </a:r>
            <a:r>
              <a:rPr lang="en-US" sz="1300" i="1" kern="0" dirty="0">
                <a:solidFill>
                  <a:srgbClr val="2A2D35"/>
                </a:solidFill>
                <a:latin typeface="Geist" pitchFamily="34" charset="0"/>
                <a:ea typeface="Geist" pitchFamily="34" charset="-122"/>
                <a:cs typeface="Geist" pitchFamily="34" charset="-120"/>
              </a:rPr>
              <a:t>The rise of AI as a source of emotional support</a:t>
            </a:r>
            <a:r>
              <a:rPr lang="en-US" sz="1300" kern="0" dirty="0">
                <a:solidFill>
                  <a:srgbClr val="2A2D35"/>
                </a:solidFill>
                <a:latin typeface="Geist" pitchFamily="34" charset="0"/>
                <a:ea typeface="Geist" pitchFamily="34" charset="-122"/>
                <a:cs typeface="Geist" pitchFamily="34" charset="-120"/>
              </a:rPr>
              <a:t>. Kantar. https://www.kantar.com/inspiration/research-services/ai-for-emotional-support-pf</a:t>
            </a:r>
          </a:p>
          <a:p>
            <a:pPr marL="320040" indent="-320040" algn="l">
              <a:lnSpc>
                <a:spcPct val="112000"/>
              </a:lnSpc>
              <a:spcBef>
                <a:spcPts val="1400"/>
              </a:spcBef>
              <a:buNone/>
            </a:pPr>
            <a:r>
              <a:rPr lang="en-US" sz="1300" kern="0" dirty="0">
                <a:solidFill>
                  <a:srgbClr val="2A2D35"/>
                </a:solidFill>
                <a:latin typeface="Geist" pitchFamily="34" charset="0"/>
                <a:ea typeface="Geist" pitchFamily="34" charset="-122"/>
                <a:cs typeface="Geist" pitchFamily="34" charset="-120"/>
              </a:rPr>
              <a:t>Yoo, D. W., Shi, J. M., Rodriguez, V. J., &amp; Saha, K. (2026). AI chatbots for mental health self-management: Lived experience–centered qualitative study. </a:t>
            </a:r>
            <a:r>
              <a:rPr lang="en-US" sz="1300" i="1" kern="0" dirty="0">
                <a:solidFill>
                  <a:srgbClr val="2A2D35"/>
                </a:solidFill>
                <a:latin typeface="Geist" pitchFamily="34" charset="0"/>
                <a:ea typeface="Geist" pitchFamily="34" charset="-122"/>
                <a:cs typeface="Geist" pitchFamily="34" charset="-120"/>
              </a:rPr>
              <a:t>JMIR Mental Health, 13</a:t>
            </a:r>
            <a:r>
              <a:rPr lang="en-US" sz="1300" kern="0" dirty="0">
                <a:solidFill>
                  <a:srgbClr val="2A2D35"/>
                </a:solidFill>
                <a:latin typeface="Geist" pitchFamily="34" charset="0"/>
                <a:ea typeface="Geist" pitchFamily="34" charset="-122"/>
                <a:cs typeface="Geist" pitchFamily="34" charset="-120"/>
              </a:rPr>
              <a:t>, e78288. https://doi.org/10.2196/78288</a:t>
            </a:r>
          </a:p>
        </p:txBody>
      </p:sp>
      <p:sp>
        <p:nvSpPr>
          <p:cNvPr id="6" name="Divider"/>
          <p:cNvSpPr/>
          <p:nvPr/>
        </p:nvSpPr>
        <p:spPr>
          <a:xfrm>
            <a:off x="6089498" y="1700000"/>
            <a:ext cx="12700" cy="3300000"/>
          </a:xfrm>
          <a:prstGeom prst="rect">
            <a:avLst/>
          </a:prstGeom>
          <a:solidFill>
            <a:srgbClr val="77818C"/>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9228</TotalTime>
  <Words>2712</Words>
  <Application>Microsoft Macintosh PowerPoint</Application>
  <PresentationFormat>Widescreen</PresentationFormat>
  <Paragraphs>139</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Geist</vt:lpstr>
      <vt:lpstr>Geist SemiBold</vt:lpstr>
      <vt:lpstr>Gloock</vt:lpstr>
      <vt:lpstr>Arial</vt:lpstr>
      <vt:lpstr>Geist Mono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Nia Austin Ikpeiwunna</cp:lastModifiedBy>
  <cp:revision>6</cp:revision>
  <cp:lastPrinted>2026-10-06T16:46:28Z</cp:lastPrinted>
  <dcterms:created xsi:type="dcterms:W3CDTF">2026-09-30T18:08:42Z</dcterms:created>
  <dcterms:modified xsi:type="dcterms:W3CDTF">2026-10-08T01:45:47Z</dcterms:modified>
</cp:coreProperties>
</file>