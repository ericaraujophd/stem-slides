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19288D-EAD3-5AE6-3A55-C257EA99D6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F14316A3-524B-3AC4-B4D2-201ED8FB1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FF6F053E-B476-FEAA-191A-0C15B168F1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A9579-621D-4A1D-AA68-57792F951029}" type="datetimeFigureOut">
              <a:rPr lang="nl-NL" smtClean="0"/>
              <a:t>17-9-2026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F9613F1-69E2-4E2E-9FDC-F2FF7B445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83EEB1B-9B13-9D84-7534-D6173F23D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34D521-562B-4523-A495-E39B0F319FC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220492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5A8243-7628-CFA8-215B-7592B9B4B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2BFBF65-BD91-711A-311E-B43CBEB262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C0D3F27-D8F7-C063-7D46-547374613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A9579-621D-4A1D-AA68-57792F951029}" type="datetimeFigureOut">
              <a:rPr lang="nl-NL" smtClean="0"/>
              <a:t>17-9-2026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D5F75CE-71F9-7DBC-819B-972441534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479D539-587F-6A3D-7AC3-B2C192429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34D521-562B-4523-A495-E39B0F319FC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079990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3D4BE7-4EB2-C7ED-693C-0682F5E83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7C83A83-72E6-378F-2F84-5557CB37EF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C81DAB5-8514-CB2B-D464-1E091B963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A9579-621D-4A1D-AA68-57792F951029}" type="datetimeFigureOut">
              <a:rPr lang="nl-NL" smtClean="0"/>
              <a:t>17-9-2026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2DEFB1CD-1BC7-AF2D-2A4B-8DBEF414B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F019E5FF-B530-D813-8DD1-D4587B19E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34D521-562B-4523-A495-E39B0F319FC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727239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0CCE45-7299-418E-CFCE-EDA5A98B7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B724E3D-88DD-1343-5F71-9945426926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C2DB0721-9BB1-25C1-2BF8-DF8F6D6233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C8A32065-F6AB-7FE5-F28A-8A48FE14A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A9579-621D-4A1D-AA68-57792F951029}" type="datetimeFigureOut">
              <a:rPr lang="nl-NL" smtClean="0"/>
              <a:t>17-9-2026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9276E8A9-9733-A7A1-62E8-676A4D601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4791EA46-5009-F1A1-1039-C4D9DF521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34D521-562B-4523-A495-E39B0F319FC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682245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F58DDD-F2DB-D6A9-F2AB-4509B8BF2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124DD357-2DC8-5429-322F-3CD481A024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39F893B8-9970-F010-8699-924BD6CB63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BAC8BD8F-331C-D83E-7220-EC044C02DD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3876E527-7AB1-F2D8-6EED-2129025FD5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2489C16B-5F21-395E-4A1B-F4ECD23A9A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A9579-621D-4A1D-AA68-57792F951029}" type="datetimeFigureOut">
              <a:rPr lang="nl-NL" smtClean="0"/>
              <a:t>17-9-2026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235E5B2F-9404-70DA-C176-1084ED515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E26BFF72-1294-667A-DE09-CF7DAC0D0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34D521-562B-4523-A495-E39B0F319FC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972450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738F37-04CE-14D9-3F3C-85AD6E68D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0CCD4806-5141-B03E-FAD1-AA8EA4D81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A9579-621D-4A1D-AA68-57792F951029}" type="datetimeFigureOut">
              <a:rPr lang="nl-NL" smtClean="0"/>
              <a:t>17-9-2026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1DAC3DCF-FB8F-A54F-6FEA-FB8A97256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AB4F04BD-6DD1-8C8C-1185-26AC6FBA1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34D521-562B-4523-A495-E39B0F319FC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629781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68216CC2-AB59-F9CC-1D0B-99E0F7E16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A9579-621D-4A1D-AA68-57792F951029}" type="datetimeFigureOut">
              <a:rPr lang="nl-NL" smtClean="0"/>
              <a:t>17-9-2026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958D079C-05A1-F8E9-3958-C89BA1749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5377DD18-2710-ED3B-EB3C-320F89B37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34D521-562B-4523-A495-E39B0F319FC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168553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651676-BAAB-AB4D-1CCD-18BA2953B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17BDB47-5E58-D2C7-480B-6535CC93B5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C3A87CB5-6E90-C95E-8997-AC02ED8AAC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08EA735-31C1-D85A-A724-0A33B7A1EA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A9579-621D-4A1D-AA68-57792F951029}" type="datetimeFigureOut">
              <a:rPr lang="nl-NL" smtClean="0"/>
              <a:t>17-9-2026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35408DE-0AEE-4849-8AC2-1BA748113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482C2F8D-501C-99B1-311A-4D972617D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34D521-562B-4523-A495-E39B0F319FC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892922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9FA7A9-76C9-04C8-88F8-A357DEC6B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F9CE6B4F-6A7B-36A9-04F6-086779B9BC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2F360772-E71E-4D62-3441-96243D0572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9DB2A7A7-1003-8C48-6745-72215836CB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A9579-621D-4A1D-AA68-57792F951029}" type="datetimeFigureOut">
              <a:rPr lang="nl-NL" smtClean="0"/>
              <a:t>17-9-2026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DF70F9F2-6445-9720-321F-98C2F3E8C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715EA384-52B0-4754-32E8-52192AF84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34D521-562B-4523-A495-E39B0F319FC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18703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B8BC74-463F-17F0-CD8B-A8F3B0575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C7070C4-C071-5225-0AE1-17B4BEC4E6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92486C0-11BD-FED4-216A-72EBE01BD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A9579-621D-4A1D-AA68-57792F951029}" type="datetimeFigureOut">
              <a:rPr lang="nl-NL" smtClean="0"/>
              <a:t>17-9-2026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B97182E-4597-5CB5-43F3-AE3DC9877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D7E7010C-E196-BA8A-3795-B3E784D57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34D521-562B-4523-A495-E39B0F319FC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33606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127CC500-DCFD-F22A-EB04-9012631EA1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CF900CB4-A6E8-9A9B-6826-AF778C7BEF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8E033AF-217F-A291-441D-EBBFDFC06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A9579-621D-4A1D-AA68-57792F951029}" type="datetimeFigureOut">
              <a:rPr lang="nl-NL" smtClean="0"/>
              <a:t>17-9-2026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9A6178C-03DC-E6D9-B6B5-351BFD000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FD855E4C-7D2B-C6D8-9FE6-FC75746F7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34D521-562B-4523-A495-E39B0F319FC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086640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B3B80882-E9D3-3EFC-C6FA-A3DED1F70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6F301CF-68B6-C2EC-F3BE-92EEF6EAA8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560A68F-77F6-5C9C-8B2A-BEA51897BA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BA9579-621D-4A1D-AA68-57792F951029}" type="datetimeFigureOut">
              <a:rPr lang="nl-NL" smtClean="0"/>
              <a:t>17-9-2026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98ECC688-782F-FBEB-6AAD-EC9A4FD6E3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F7BC899-9280-CE1F-C430-252194BE1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34D521-562B-4523-A495-E39B0F319FC8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61707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CA16F22E-4716-CA29-1F53-4AAD52955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760503" y="-18309"/>
            <a:ext cx="4438566" cy="6883029"/>
            <a:chOff x="7760503" y="-18309"/>
            <a:chExt cx="4438566" cy="6883029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9412336-19ED-F153-443B-C46CDBED62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760512" y="-11580"/>
              <a:ext cx="4431490" cy="6876300"/>
            </a:xfrm>
            <a:prstGeom prst="rect">
              <a:avLst/>
            </a:prstGeom>
            <a:gradFill>
              <a:gsLst>
                <a:gs pos="7000">
                  <a:schemeClr val="accent2"/>
                </a:gs>
                <a:gs pos="100000">
                  <a:schemeClr val="accent5"/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506AA53-E761-6881-5941-313119CC76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7760503" y="1713600"/>
              <a:ext cx="4431496" cy="5144400"/>
            </a:xfrm>
            <a:prstGeom prst="rect">
              <a:avLst/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60000">
                  <a:schemeClr val="accent5">
                    <a:lumMod val="60000"/>
                    <a:lumOff val="40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44707E7-29B6-36B5-B4C4-6160DFDB98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760509" y="-11586"/>
              <a:ext cx="3264743" cy="6876300"/>
            </a:xfrm>
            <a:prstGeom prst="rect">
              <a:avLst/>
            </a:prstGeom>
            <a:gradFill flip="none" rotWithShape="1">
              <a:gsLst>
                <a:gs pos="3000">
                  <a:schemeClr val="accent2">
                    <a:lumMod val="60000"/>
                    <a:lumOff val="40000"/>
                    <a:alpha val="78000"/>
                  </a:schemeClr>
                </a:gs>
                <a:gs pos="42000">
                  <a:schemeClr val="accent2">
                    <a:alpha val="0"/>
                  </a:schemeClr>
                </a:gs>
              </a:gsLst>
              <a:lin ang="3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C1A8476-48ED-D7D6-F383-338B2F00A1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6547151" y="1202115"/>
              <a:ext cx="6872341" cy="4431494"/>
            </a:xfrm>
            <a:prstGeom prst="rect">
              <a:avLst/>
            </a:prstGeom>
            <a:gradFill>
              <a:gsLst>
                <a:gs pos="0">
                  <a:schemeClr val="accent5">
                    <a:alpha val="86000"/>
                  </a:schemeClr>
                </a:gs>
                <a:gs pos="57000">
                  <a:schemeClr val="accent2">
                    <a:alpha val="0"/>
                  </a:scheme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12A50880-0983-383C-8056-F6A8D917BF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28214" y="1489364"/>
            <a:ext cx="3310215" cy="3136500"/>
          </a:xfrm>
        </p:spPr>
        <p:txBody>
          <a:bodyPr anchor="t">
            <a:normAutofit/>
          </a:bodyPr>
          <a:lstStyle/>
          <a:p>
            <a:pPr algn="l"/>
            <a:endParaRPr lang="nl-NL" sz="3200" dirty="0">
              <a:solidFill>
                <a:srgbClr val="FFFFFF"/>
              </a:solidFill>
            </a:endParaRP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E3A1E232-077F-57B4-1704-6150724B09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28214" y="4763729"/>
            <a:ext cx="3310215" cy="1217971"/>
          </a:xfrm>
        </p:spPr>
        <p:txBody>
          <a:bodyPr anchor="ctr">
            <a:normAutofit/>
          </a:bodyPr>
          <a:lstStyle/>
          <a:p>
            <a:pPr algn="l"/>
            <a:endParaRPr lang="nl-NL" sz="2000">
              <a:solidFill>
                <a:srgbClr val="FFFFFF"/>
              </a:solidFill>
            </a:endParaRP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CF5BA64C-09E0-F19E-3B8C-5780D74286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" b="11443"/>
          <a:stretch>
            <a:fillRect/>
          </a:stretch>
        </p:blipFill>
        <p:spPr>
          <a:xfrm>
            <a:off x="1" y="-7623"/>
            <a:ext cx="7760508" cy="6872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3184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F13079-C96F-3963-FCDA-8467544D0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Part I  Exploring the Field</a:t>
            </a:r>
            <a:br>
              <a:rPr lang="nl-NL" dirty="0"/>
            </a:b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3569668-E318-41EC-55A8-A6BAC4C6EA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Chapter 2: AI Ethics Frameworks: A Pandemonium</a:t>
            </a:r>
            <a:endParaRPr lang="nl-NL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r>
              <a:rPr lang="nl-NL" dirty="0" err="1"/>
              <a:t>Chapter</a:t>
            </a:r>
            <a:r>
              <a:rPr lang="nl-NL" dirty="0"/>
              <a:t> 3: </a:t>
            </a:r>
            <a:r>
              <a:rPr lang="en-US" dirty="0"/>
              <a:t>AI: Demystifying the Technology</a:t>
            </a:r>
            <a:endParaRPr lang="nl-NL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Chapter 4  Exploring Ethics: A Practice-Grounded Approach</a:t>
            </a:r>
            <a:endParaRPr lang="nl-NL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Chapter 5  Five Lenses Model: A Heuristic for AI Ethics</a:t>
            </a: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070640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7DA94D-A295-2AD6-01E4-22941EA5E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Part II  AI in Action</a:t>
            </a:r>
            <a:br>
              <a:rPr lang="nl-NL" dirty="0"/>
            </a:b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3F95A53-FBA8-2A38-778E-729D85AEE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6"/>
            </a:pPr>
            <a:r>
              <a:rPr lang="en-US" dirty="0"/>
              <a:t>AI and the Digital Public Square: The Normative Landscape of Social Media Algorithms</a:t>
            </a:r>
            <a:endParaRPr lang="nl-NL" dirty="0"/>
          </a:p>
          <a:p>
            <a:pPr marL="514350" indent="-514350">
              <a:buFont typeface="+mj-lt"/>
              <a:buAutoNum type="arabicPeriod" startAt="6"/>
            </a:pPr>
            <a:r>
              <a:rPr lang="en-US" dirty="0"/>
              <a:t>AI and Sex: Re-thinking Design and Development of Sex Tech to Support Sexual Flourishing</a:t>
            </a:r>
            <a:endParaRPr lang="nl-NL" dirty="0"/>
          </a:p>
          <a:p>
            <a:pPr marL="514350" indent="-514350">
              <a:buFont typeface="+mj-lt"/>
              <a:buAutoNum type="arabicPeriod" startAt="6"/>
            </a:pPr>
            <a:r>
              <a:rPr lang="en-US" dirty="0"/>
              <a:t>AI and Healthcare: Trade-offs in Development and Application of AI Technology for Patient Care</a:t>
            </a:r>
            <a:endParaRPr lang="nl-NL" dirty="0"/>
          </a:p>
          <a:p>
            <a:pPr marL="514350" indent="-514350">
              <a:buFont typeface="+mj-lt"/>
              <a:buAutoNum type="arabicPeriod" startAt="6"/>
            </a:pPr>
            <a:r>
              <a:rPr lang="en-US" dirty="0"/>
              <a:t>AI and Banking: Blind Spots, Challenges, and Flourishing of Society</a:t>
            </a:r>
            <a:endParaRPr lang="nl-NL" dirty="0"/>
          </a:p>
          <a:p>
            <a:pPr marL="514350" indent="-514350">
              <a:buFont typeface="+mj-lt"/>
              <a:buAutoNum type="arabicPeriod" startAt="6"/>
            </a:pPr>
            <a:r>
              <a:rPr lang="en-US" dirty="0"/>
              <a:t>AI and Military Operations: The Case of Lavender</a:t>
            </a: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8225233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51CED8-C487-01A3-E794-9983206CB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Part II  AI in Action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83586A0-9510-A9AC-5F25-81494A4A0D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11"/>
            </a:pPr>
            <a:r>
              <a:rPr lang="en-US" dirty="0"/>
              <a:t>AI and Court: The Use of Automatic Speaker Comparison in Forensic Practice</a:t>
            </a:r>
            <a:endParaRPr lang="nl-NL" dirty="0"/>
          </a:p>
          <a:p>
            <a:pPr marL="514350" indent="-514350">
              <a:buFont typeface="+mj-lt"/>
              <a:buAutoNum type="arabicPeriod" startAt="11"/>
            </a:pPr>
            <a:r>
              <a:rPr lang="en-US" dirty="0"/>
              <a:t>AI and Public Administration: Simply Tech Support?</a:t>
            </a:r>
          </a:p>
          <a:p>
            <a:pPr marL="514350" indent="-514350">
              <a:buFont typeface="+mj-lt"/>
              <a:buAutoNum type="arabicPeriod" startAt="11"/>
            </a:pPr>
            <a:r>
              <a:rPr lang="en-US" dirty="0"/>
              <a:t>AI and Farming: Towards a Sustainable and Equitable Agriculture</a:t>
            </a:r>
            <a:endParaRPr lang="nl-NL" dirty="0"/>
          </a:p>
          <a:p>
            <a:pPr marL="514350" indent="-514350">
              <a:buFont typeface="+mj-lt"/>
              <a:buAutoNum type="arabicPeriod" startAt="11"/>
            </a:pPr>
            <a:r>
              <a:rPr lang="en-US" dirty="0"/>
              <a:t>AI and Cybersecurity: Navigating the Ethics of Artificial Intelligence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225460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D2FC20-9BE1-61E0-D52C-B7432465C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Part II  AI in Action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850FEDE-7A29-DE49-C497-74FFAC0D36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15"/>
            </a:pPr>
            <a:r>
              <a:rPr lang="en-US" dirty="0"/>
              <a:t>AI and Engineering: Design of Wind Turbine Foundations and the Estimation of Project Costs</a:t>
            </a:r>
            <a:endParaRPr lang="nl-NL" dirty="0"/>
          </a:p>
          <a:p>
            <a:pPr marL="514350" indent="-514350">
              <a:buFont typeface="+mj-lt"/>
              <a:buAutoNum type="arabicPeriod" startAt="15"/>
            </a:pPr>
            <a:r>
              <a:rPr lang="en-US" dirty="0"/>
              <a:t>AI and Education: A Non-Reductionist Critique of Learning with or without Generative AI</a:t>
            </a:r>
            <a:endParaRPr lang="nl-NL" dirty="0"/>
          </a:p>
          <a:p>
            <a:pPr marL="514350" indent="-514350">
              <a:buFont typeface="+mj-lt"/>
              <a:buAutoNum type="arabicPeriod" startAt="15"/>
            </a:pPr>
            <a:r>
              <a:rPr lang="en-US" dirty="0"/>
              <a:t>AI and Research: Voices of Novice Researchers Matter</a:t>
            </a:r>
            <a:endParaRPr lang="nl-NL" dirty="0"/>
          </a:p>
          <a:p>
            <a:pPr marL="514350" indent="-514350">
              <a:buFont typeface="+mj-lt"/>
              <a:buAutoNum type="arabicPeriod" startAt="15"/>
            </a:pPr>
            <a:r>
              <a:rPr lang="en-US" dirty="0"/>
              <a:t>AI and Generativity: A Multi-Aspectual Analysis of Affordances, Reductions and Ethical Responses</a:t>
            </a:r>
            <a:endParaRPr lang="nl-NL" dirty="0"/>
          </a:p>
          <a:p>
            <a:pPr marL="0" indent="0">
              <a:buNone/>
            </a:pP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4194943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494F0D-78EF-CB01-5FB6-259531DB5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Part III  Deep Dive</a:t>
            </a:r>
            <a:br>
              <a:rPr lang="nl-NL" dirty="0"/>
            </a:b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062CCC9-E4DE-63BB-0A58-C3DD2BFCED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 startAt="19"/>
            </a:pPr>
            <a:r>
              <a:rPr lang="en-US" dirty="0"/>
              <a:t>Thinking About Practices: The Philosophical Basis of the Five Lenses Model</a:t>
            </a:r>
            <a:endParaRPr lang="nl-NL" dirty="0"/>
          </a:p>
          <a:p>
            <a:pPr marL="514350" indent="-514350">
              <a:buFont typeface="+mj-lt"/>
              <a:buAutoNum type="arabicPeriod" startAt="19"/>
            </a:pPr>
            <a:r>
              <a:rPr lang="en-US" dirty="0"/>
              <a:t>Learning Lessons from the First Wave of AI for Future AI</a:t>
            </a:r>
            <a:endParaRPr lang="nl-NL" dirty="0"/>
          </a:p>
          <a:p>
            <a:pPr marL="514350" indent="-514350">
              <a:buFont typeface="+mj-lt"/>
              <a:buAutoNum type="arabicPeriod" startAt="19"/>
            </a:pPr>
            <a:r>
              <a:rPr lang="en-US" dirty="0"/>
              <a:t>AI and the Human/Machine Distinction: Intelligence and Agency</a:t>
            </a:r>
            <a:endParaRPr lang="nl-NL" dirty="0"/>
          </a:p>
          <a:p>
            <a:pPr marL="514350" indent="-514350">
              <a:buFont typeface="+mj-lt"/>
              <a:buAutoNum type="arabicPeriod" startAt="19"/>
            </a:pPr>
            <a:r>
              <a:rPr lang="en-US" dirty="0"/>
              <a:t>AI and Worldview</a:t>
            </a:r>
            <a:endParaRPr lang="nl-NL" dirty="0"/>
          </a:p>
          <a:p>
            <a:pPr marL="514350" indent="-514350">
              <a:buFont typeface="+mj-lt"/>
              <a:buAutoNum type="arabicPeriod" startAt="19"/>
            </a:pPr>
            <a:r>
              <a:rPr lang="en-US" dirty="0"/>
              <a:t>Foreign Electoral Interference and the Rule of Law: AI Shield, Responsibility Gap, and State Accountability</a:t>
            </a:r>
            <a:endParaRPr lang="nl-NL" dirty="0"/>
          </a:p>
          <a:p>
            <a:pPr marL="514350" indent="-514350">
              <a:buFont typeface="+mj-lt"/>
              <a:buAutoNum type="arabicPeriod" startAt="19"/>
            </a:pPr>
            <a:r>
              <a:rPr lang="en-US" dirty="0"/>
              <a:t>Wisdom of the Spheres: AI, Situational Awareness, and Our World of Personal Relations</a:t>
            </a:r>
            <a:endParaRPr lang="nl-NL" dirty="0"/>
          </a:p>
          <a:p>
            <a:pPr marL="514350" indent="-514350">
              <a:buFont typeface="+mj-lt"/>
              <a:buAutoNum type="arabicPeriod" startAt="19"/>
            </a:pPr>
            <a:r>
              <a:rPr lang="nl-NL" dirty="0" err="1"/>
              <a:t>Revisiting</a:t>
            </a:r>
            <a:r>
              <a:rPr lang="nl-NL" dirty="0"/>
              <a:t> AI </a:t>
            </a:r>
            <a:r>
              <a:rPr lang="nl-NL" dirty="0" err="1"/>
              <a:t>Ethics</a:t>
            </a:r>
            <a:endParaRPr lang="nl-NL" dirty="0"/>
          </a:p>
          <a:p>
            <a:pPr marL="0" indent="0">
              <a:buNone/>
            </a:pP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434620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48E972-4F4C-85ED-877D-914BB8DEC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nl-NL"/>
          </a:p>
        </p:txBody>
      </p:sp>
      <p:pic>
        <p:nvPicPr>
          <p:cNvPr id="5" name="Tijdelijke aanduiding voor inhoud 4">
            <a:extLst>
              <a:ext uri="{FF2B5EF4-FFF2-40B4-BE49-F238E27FC236}">
                <a16:creationId xmlns:a16="http://schemas.microsoft.com/office/drawing/2014/main" id="{5B94FE4E-05D2-E211-BA25-8A4C5389F2C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58886" y="-40706"/>
            <a:ext cx="5246914" cy="6982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45000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297</Words>
  <Application>Microsoft Office PowerPoint</Application>
  <PresentationFormat>Breedbeeld</PresentationFormat>
  <Paragraphs>32</Paragraphs>
  <Slides>7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Kantoorthema</vt:lpstr>
      <vt:lpstr>PowerPoint-presentatie</vt:lpstr>
      <vt:lpstr>Part I  Exploring the Field </vt:lpstr>
      <vt:lpstr>Part II  AI in Action </vt:lpstr>
      <vt:lpstr>Part II  AI in Action</vt:lpstr>
      <vt:lpstr>Part II  AI in Action</vt:lpstr>
      <vt:lpstr>Part III  Deep Dive 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Boshuijzen - Van Burken, Christine</dc:creator>
  <cp:lastModifiedBy>Boshuijzen - Van Burken, Christine</cp:lastModifiedBy>
  <cp:revision>3</cp:revision>
  <dcterms:created xsi:type="dcterms:W3CDTF">2026-09-17T00:36:21Z</dcterms:created>
  <dcterms:modified xsi:type="dcterms:W3CDTF">2026-09-17T00:48:44Z</dcterms:modified>
</cp:coreProperties>
</file>