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book and the two presenters. Edited volume with Maarten Verkerk, Springer, February 2027.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Lenses Model (Ch. 5, Verkerk and Voordijk). We chose the word lenses deliberately: like glasses, each lens lets you see values in a practice that are not immediately apparent.
Lens I: identify the practice's core values, its raison d'etre. Anna's AI R&amp;D practice is led by technological values, Charlotte's hospital practice by care values, Peter's municipal policy practice by legal values.
Lens II: determine the enabling values (every other value category: social, economic, juridical, and so on) and assess how critical each is.
Lens III: assess stakeholders' core values, primary and secondary, and ask which interests are justified.
Lens IV: review worldview values, the personal and shared convictions of the team.
Lens V: translate all of these into design specifications through a cascade adapted from Van de Poel: value category, specific values, norms, design specifications.
No standard list of values for every practice. Applying the lenses takes time and teamwork with stakeholders; it is not done in an afternoon.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to Nick Brems for a few minutes on his experience co-writing his chapter with a philosopher.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781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781200"/>
          </a:solidFill>
          <a:ln/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400" kern="0" dirty="0">
                <a:solidFill>
                  <a:srgbClr val="E4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514600"/>
            <a:ext cx="32004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4343400"/>
            <a:ext cx="3108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1"/>
          <p:cNvSpPr/>
          <p:nvPr/>
        </p:nvSpPr>
        <p:spPr>
          <a:xfrm>
            <a:off x="548640" y="6172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Revisiting AI Ethics  ·  Springer 2027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2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78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263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Revisiting AI Ethics  ·  Springer 2027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2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2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panel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E46B00"/>
          </a:solidFill>
          <a:ln/>
        </p:spPr>
      </p:sp>
      <p:pic>
        <p:nvPicPr>
          <p:cNvPr id="3" name="Book cover" descr="Cover of Revisiting AI Eth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0" y="914400"/>
            <a:ext cx="3291840" cy="4928616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640080" y="685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STEM  ·  FRIDAY 9 OCTOBER  ·  PRINCE BOARD ROOM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4173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Revisiting AI Ethics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060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BD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Practice-Grounded Approach to Development, Application, and Policy Making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8862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by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Maarten J. Verkerk, Christine Boshuijzen-van Burken, Eric Araújo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  ·  forthcoming February 2027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39496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Christine Boshuijzen-van Burken</a:t>
            </a:r>
            <a:pPr indent="0" marL="0">
              <a:buNone/>
            </a:pPr>
            <a:r>
              <a:rPr lang="en-US" sz="1400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Eindhoven University of Technology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Eric Araújo</a:t>
            </a:r>
            <a:pPr indent="0" marL="0">
              <a:buNone/>
            </a:pPr>
            <a:r>
              <a:rPr lang="en-US" sz="1400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Calvin University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4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Exploring the Field</a:t>
            </a:r>
            <a:endParaRPr lang="en-US" sz="4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2 to 5</a:t>
            </a:r>
            <a:endParaRPr lang="en-US" sz="1600" dirty="0"/>
          </a:p>
        </p:txBody>
      </p:sp>
      <p:sp>
        <p:nvSpPr>
          <p:cNvPr id="5" name="Ch 2 badge"/>
          <p:cNvSpPr/>
          <p:nvPr/>
        </p:nvSpPr>
        <p:spPr>
          <a:xfrm>
            <a:off x="4754880" y="1490472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548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Ch 2 text"/>
          <p:cNvSpPr txBox="1"/>
          <p:nvPr/>
        </p:nvSpPr>
        <p:spPr>
          <a:xfrm>
            <a:off x="5394960" y="1444752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Ethics Frameworks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Pandemonium</a:t>
            </a:r>
            <a:endParaRPr lang="en-US" sz="2200" dirty="0"/>
          </a:p>
        </p:txBody>
      </p:sp>
      <p:sp>
        <p:nvSpPr>
          <p:cNvPr id="8" name="Ch 3 badge"/>
          <p:cNvSpPr/>
          <p:nvPr/>
        </p:nvSpPr>
        <p:spPr>
          <a:xfrm>
            <a:off x="4754880" y="2542032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0" name="Ch 3 text"/>
          <p:cNvSpPr txBox="1"/>
          <p:nvPr/>
        </p:nvSpPr>
        <p:spPr>
          <a:xfrm>
            <a:off x="5394960" y="2496312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Demystifying the Technology</a:t>
            </a:r>
            <a:endParaRPr lang="en-US" sz="2200" dirty="0"/>
          </a:p>
        </p:txBody>
      </p:sp>
      <p:sp>
        <p:nvSpPr>
          <p:cNvPr id="11" name="Ch 4 badge"/>
          <p:cNvSpPr/>
          <p:nvPr/>
        </p:nvSpPr>
        <p:spPr>
          <a:xfrm>
            <a:off x="4754880" y="3593592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3" name="Ch 4 text"/>
          <p:cNvSpPr txBox="1"/>
          <p:nvPr/>
        </p:nvSpPr>
        <p:spPr>
          <a:xfrm>
            <a:off x="5394960" y="3547872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Ethics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Practice-Grounded Approach</a:t>
            </a:r>
            <a:endParaRPr lang="en-US" sz="2200" dirty="0"/>
          </a:p>
        </p:txBody>
      </p:sp>
      <p:sp>
        <p:nvSpPr>
          <p:cNvPr id="14" name="Ch 5 badge"/>
          <p:cNvSpPr/>
          <p:nvPr/>
        </p:nvSpPr>
        <p:spPr>
          <a:xfrm>
            <a:off x="4754880" y="4645152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4645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6" name="Ch 5 text"/>
          <p:cNvSpPr txBox="1"/>
          <p:nvPr/>
        </p:nvSpPr>
        <p:spPr>
          <a:xfrm>
            <a:off x="5394960" y="4599432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Lenses Model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Heuristic for AI Ethics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2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 Lenses Model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lenses bring the relevant values of a concrete practice into view. The fifth turns them into design specifications.</a:t>
            </a:r>
            <a:endParaRPr lang="en-US" sz="1700" dirty="0"/>
          </a:p>
        </p:txBody>
      </p:sp>
      <p:sp>
        <p:nvSpPr>
          <p:cNvPr id="4" name="Lens I card"/>
          <p:cNvSpPr/>
          <p:nvPr/>
        </p:nvSpPr>
        <p:spPr>
          <a:xfrm>
            <a:off x="548640" y="18745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DF0E4"/>
          </a:solidFill>
          <a:ln/>
        </p:spPr>
      </p:sp>
      <p:sp>
        <p:nvSpPr>
          <p:cNvPr id="5" name="Lens I circle"/>
          <p:cNvSpPr/>
          <p:nvPr/>
        </p:nvSpPr>
        <p:spPr>
          <a:xfrm>
            <a:off x="777240" y="2103120"/>
            <a:ext cx="640080" cy="640080"/>
          </a:xfrm>
          <a:prstGeom prst="ellipse">
            <a:avLst/>
          </a:prstGeom>
          <a:solidFill>
            <a:srgbClr val="781200"/>
          </a:solidFill>
          <a:ln/>
        </p:spPr>
      </p:sp>
      <p:pic>
        <p:nvPicPr>
          <p:cNvPr id="6" name="Lens I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2585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4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I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80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practice’s raison d’être? Its qualifying values come first.</a:t>
            </a:r>
            <a:endParaRPr lang="en-US" sz="1700" dirty="0"/>
          </a:p>
        </p:txBody>
      </p:sp>
      <p:sp>
        <p:nvSpPr>
          <p:cNvPr id="9" name="Lens II card"/>
          <p:cNvSpPr/>
          <p:nvPr/>
        </p:nvSpPr>
        <p:spPr>
          <a:xfrm>
            <a:off x="3367735" y="18745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DF0E4"/>
          </a:solidFill>
          <a:ln/>
        </p:spPr>
      </p:sp>
      <p:sp>
        <p:nvSpPr>
          <p:cNvPr id="10" name="Lens II circle"/>
          <p:cNvSpPr/>
          <p:nvPr/>
        </p:nvSpPr>
        <p:spPr>
          <a:xfrm>
            <a:off x="3596335" y="2103120"/>
            <a:ext cx="640080" cy="640080"/>
          </a:xfrm>
          <a:prstGeom prst="ellipse">
            <a:avLst/>
          </a:prstGeom>
          <a:solidFill>
            <a:srgbClr val="781200"/>
          </a:solidFill>
          <a:ln/>
        </p:spPr>
      </p:sp>
      <p:pic>
        <p:nvPicPr>
          <p:cNvPr id="11" name="Lens II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783" y="22585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73575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4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II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596335" y="2880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values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other value categories make the practice possible, and how critical is each?</a:t>
            </a:r>
            <a:endParaRPr lang="en-US" sz="1700" dirty="0"/>
          </a:p>
        </p:txBody>
      </p:sp>
      <p:sp>
        <p:nvSpPr>
          <p:cNvPr id="14" name="Lens III card"/>
          <p:cNvSpPr/>
          <p:nvPr/>
        </p:nvSpPr>
        <p:spPr>
          <a:xfrm>
            <a:off x="6186830" y="18745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DF0E4"/>
          </a:solidFill>
          <a:ln/>
        </p:spPr>
      </p:sp>
      <p:sp>
        <p:nvSpPr>
          <p:cNvPr id="15" name="Lens III circle"/>
          <p:cNvSpPr/>
          <p:nvPr/>
        </p:nvSpPr>
        <p:spPr>
          <a:xfrm>
            <a:off x="6415430" y="2103120"/>
            <a:ext cx="640080" cy="640080"/>
          </a:xfrm>
          <a:prstGeom prst="ellipse">
            <a:avLst/>
          </a:prstGeom>
          <a:solidFill>
            <a:srgbClr val="781200"/>
          </a:solidFill>
          <a:ln/>
        </p:spPr>
      </p:sp>
      <p:pic>
        <p:nvPicPr>
          <p:cNvPr id="16" name="Lens III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878" y="22585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92670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4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III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415430" y="2880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Stakeholders’ core values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primary and secondary stakeholders have justified interests?</a:t>
            </a:r>
            <a:endParaRPr lang="en-US" sz="1700" dirty="0"/>
          </a:p>
        </p:txBody>
      </p:sp>
      <p:sp>
        <p:nvSpPr>
          <p:cNvPr id="19" name="Lens IV card"/>
          <p:cNvSpPr/>
          <p:nvPr/>
        </p:nvSpPr>
        <p:spPr>
          <a:xfrm>
            <a:off x="9005926" y="1874520"/>
            <a:ext cx="2606040" cy="2331720"/>
          </a:xfrm>
          <a:prstGeom prst="roundRect">
            <a:avLst>
              <a:gd name="adj" fmla="val 4706"/>
            </a:avLst>
          </a:prstGeom>
          <a:solidFill>
            <a:srgbClr val="FDF0E4"/>
          </a:solidFill>
          <a:ln/>
        </p:spPr>
      </p:sp>
      <p:sp>
        <p:nvSpPr>
          <p:cNvPr id="20" name="Lens IV circle"/>
          <p:cNvSpPr/>
          <p:nvPr/>
        </p:nvSpPr>
        <p:spPr>
          <a:xfrm>
            <a:off x="9234526" y="2103120"/>
            <a:ext cx="640080" cy="640080"/>
          </a:xfrm>
          <a:prstGeom prst="ellipse">
            <a:avLst/>
          </a:prstGeom>
          <a:solidFill>
            <a:srgbClr val="781200"/>
          </a:solidFill>
          <a:ln/>
        </p:spPr>
      </p:sp>
      <p:pic>
        <p:nvPicPr>
          <p:cNvPr id="21" name="Lens IV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974" y="225856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011766" y="21488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4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IV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9234526" y="28803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Worldview values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4A4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personal and shared convictions does the team bring?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4297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all relevant values of the practice</a:t>
            </a:r>
            <a:endParaRPr lang="en-US" sz="1400" dirty="0"/>
          </a:p>
        </p:txBody>
      </p:sp>
      <p:sp>
        <p:nvSpPr>
          <p:cNvPr id="25" name="Arrow down"/>
          <p:cNvSpPr/>
          <p:nvPr/>
        </p:nvSpPr>
        <p:spPr>
          <a:xfrm rot="10800000">
            <a:off x="5897880" y="4681728"/>
            <a:ext cx="384048" cy="201168"/>
          </a:xfrm>
          <a:prstGeom prst="triangle">
            <a:avLst/>
          </a:prstGeom>
          <a:solidFill>
            <a:srgbClr val="E46B00"/>
          </a:solidFill>
          <a:ln/>
        </p:spPr>
      </p:sp>
      <p:sp>
        <p:nvSpPr>
          <p:cNvPr id="26" name="Lens V band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10435"/>
            </a:avLst>
          </a:prstGeom>
          <a:solidFill>
            <a:srgbClr val="781200"/>
          </a:solidFill>
          <a:ln/>
        </p:spPr>
      </p:sp>
      <p:sp>
        <p:nvSpPr>
          <p:cNvPr id="27" name="Lens V circle"/>
          <p:cNvSpPr/>
          <p:nvPr/>
        </p:nvSpPr>
        <p:spPr>
          <a:xfrm>
            <a:off x="777240" y="5184648"/>
            <a:ext cx="640080" cy="640080"/>
          </a:xfrm>
          <a:prstGeom prst="ellipse">
            <a:avLst/>
          </a:prstGeom>
          <a:solidFill>
            <a:srgbClr val="E46B00"/>
          </a:solidFill>
          <a:ln/>
        </p:spPr>
      </p:sp>
      <p:pic>
        <p:nvPicPr>
          <p:cNvPr id="28" name="Lens V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340096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0200" y="509320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 V</a:t>
            </a:r>
            <a:endParaRPr lang="en-US" sz="14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values into design</a:t>
            </a:r>
            <a:endParaRPr lang="en-US" sz="1400" dirty="0"/>
          </a:p>
        </p:txBody>
      </p:sp>
      <p:sp>
        <p:nvSpPr>
          <p:cNvPr id="30" name="Cascade 1"/>
          <p:cNvSpPr/>
          <p:nvPr/>
        </p:nvSpPr>
        <p:spPr>
          <a:xfrm>
            <a:off x="4709160" y="523036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9A3A2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4709160" y="523036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categories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6126480" y="523036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3" name="Cascade 2"/>
          <p:cNvSpPr/>
          <p:nvPr/>
        </p:nvSpPr>
        <p:spPr>
          <a:xfrm>
            <a:off x="6446520" y="523036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9A3A22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446520" y="523036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values</a:t>
            </a:r>
            <a:endParaRPr lang="en-US" sz="1400" dirty="0"/>
          </a:p>
        </p:txBody>
      </p:sp>
      <p:sp>
        <p:nvSpPr>
          <p:cNvPr id="35" name="Text 28"/>
          <p:cNvSpPr txBox="1"/>
          <p:nvPr/>
        </p:nvSpPr>
        <p:spPr>
          <a:xfrm>
            <a:off x="7863840" y="523036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6" name="Cascade 3"/>
          <p:cNvSpPr/>
          <p:nvPr/>
        </p:nvSpPr>
        <p:spPr>
          <a:xfrm>
            <a:off x="8183880" y="523036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9A3A22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8183880" y="523036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Norms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9601200" y="5230368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9" name="Cascade 4"/>
          <p:cNvSpPr/>
          <p:nvPr/>
        </p:nvSpPr>
        <p:spPr>
          <a:xfrm>
            <a:off x="9921240" y="5230368"/>
            <a:ext cx="1417320" cy="548640"/>
          </a:xfrm>
          <a:prstGeom prst="roundRect">
            <a:avLst>
              <a:gd name="adj" fmla="val 13333"/>
            </a:avLst>
          </a:prstGeom>
          <a:solidFill>
            <a:srgbClr val="E46B00"/>
          </a:solidFill>
          <a:ln/>
        </p:spPr>
      </p:sp>
      <p:sp>
        <p:nvSpPr>
          <p:cNvPr id="40" name="Text 33"/>
          <p:cNvSpPr txBox="1"/>
          <p:nvPr/>
        </p:nvSpPr>
        <p:spPr>
          <a:xfrm>
            <a:off x="9921240" y="523036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specs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2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4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Action</a:t>
            </a:r>
            <a:endParaRPr lang="en-US" sz="4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6 to 18</a:t>
            </a:r>
            <a:endParaRPr lang="en-US" sz="1600" dirty="0"/>
          </a:p>
        </p:txBody>
      </p:sp>
      <p:sp>
        <p:nvSpPr>
          <p:cNvPr id="5" name="Ch 6 badge"/>
          <p:cNvSpPr/>
          <p:nvPr/>
        </p:nvSpPr>
        <p:spPr>
          <a:xfrm>
            <a:off x="4480560" y="530352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480560" y="530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7" name="Ch 6 text"/>
          <p:cNvSpPr txBox="1"/>
          <p:nvPr/>
        </p:nvSpPr>
        <p:spPr>
          <a:xfrm>
            <a:off x="5120640" y="484632"/>
            <a:ext cx="3063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the Digital Public Square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Normative landscape of social media algorithms</a:t>
            </a:r>
            <a:endParaRPr lang="en-US" sz="1500" dirty="0"/>
          </a:p>
        </p:txBody>
      </p:sp>
      <p:sp>
        <p:nvSpPr>
          <p:cNvPr id="8" name="Ch 7 badge"/>
          <p:cNvSpPr/>
          <p:nvPr/>
        </p:nvSpPr>
        <p:spPr>
          <a:xfrm>
            <a:off x="4480560" y="1335024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10" name="Ch 7 text"/>
          <p:cNvSpPr txBox="1"/>
          <p:nvPr/>
        </p:nvSpPr>
        <p:spPr>
          <a:xfrm>
            <a:off x="5120640" y="1289304"/>
            <a:ext cx="3063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Sex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of sex tech to support sexual flourishing</a:t>
            </a:r>
            <a:endParaRPr lang="en-US" sz="1500" dirty="0"/>
          </a:p>
        </p:txBody>
      </p:sp>
      <p:sp>
        <p:nvSpPr>
          <p:cNvPr id="11" name="Ch 8 badge"/>
          <p:cNvSpPr/>
          <p:nvPr/>
        </p:nvSpPr>
        <p:spPr>
          <a:xfrm>
            <a:off x="4480560" y="2139696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80560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13" name="Ch 8 text"/>
          <p:cNvSpPr txBox="1"/>
          <p:nvPr/>
        </p:nvSpPr>
        <p:spPr>
          <a:xfrm>
            <a:off x="5120640" y="2093976"/>
            <a:ext cx="3063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Healthcare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in AI for patient care</a:t>
            </a:r>
            <a:endParaRPr lang="en-US" sz="1500" dirty="0"/>
          </a:p>
        </p:txBody>
      </p:sp>
      <p:sp>
        <p:nvSpPr>
          <p:cNvPr id="14" name="Ch 9 badge"/>
          <p:cNvSpPr/>
          <p:nvPr/>
        </p:nvSpPr>
        <p:spPr>
          <a:xfrm>
            <a:off x="4480560" y="2944368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8056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16" name="Ch 9 text"/>
          <p:cNvSpPr txBox="1"/>
          <p:nvPr/>
        </p:nvSpPr>
        <p:spPr>
          <a:xfrm>
            <a:off x="5120640" y="2898648"/>
            <a:ext cx="3063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Banking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spots, challenges, and flourishing of society</a:t>
            </a:r>
            <a:endParaRPr lang="en-US" sz="1500" dirty="0"/>
          </a:p>
        </p:txBody>
      </p:sp>
      <p:sp>
        <p:nvSpPr>
          <p:cNvPr id="17" name="Ch 10 badge"/>
          <p:cNvSpPr/>
          <p:nvPr/>
        </p:nvSpPr>
        <p:spPr>
          <a:xfrm>
            <a:off x="4480560" y="3749040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48056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19" name="Ch 10 text"/>
          <p:cNvSpPr txBox="1"/>
          <p:nvPr/>
        </p:nvSpPr>
        <p:spPr>
          <a:xfrm>
            <a:off x="5120640" y="3703320"/>
            <a:ext cx="3063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Military Operations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of Lavender</a:t>
            </a:r>
            <a:endParaRPr lang="en-US" sz="1500" dirty="0"/>
          </a:p>
        </p:txBody>
      </p:sp>
      <p:sp>
        <p:nvSpPr>
          <p:cNvPr id="20" name="Ch 11 badge"/>
          <p:cNvSpPr/>
          <p:nvPr/>
        </p:nvSpPr>
        <p:spPr>
          <a:xfrm>
            <a:off x="4480560" y="4553712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056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22" name="Ch 11 text"/>
          <p:cNvSpPr txBox="1"/>
          <p:nvPr/>
        </p:nvSpPr>
        <p:spPr>
          <a:xfrm>
            <a:off x="5120640" y="4507992"/>
            <a:ext cx="3063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Court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speaker comparison in forensic practice</a:t>
            </a:r>
            <a:endParaRPr lang="en-US" sz="1500" dirty="0"/>
          </a:p>
        </p:txBody>
      </p:sp>
      <p:sp>
        <p:nvSpPr>
          <p:cNvPr id="23" name="Ch 12 badge"/>
          <p:cNvSpPr/>
          <p:nvPr/>
        </p:nvSpPr>
        <p:spPr>
          <a:xfrm>
            <a:off x="4480560" y="5358384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480560" y="5358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25" name="Ch 12 text"/>
          <p:cNvSpPr txBox="1"/>
          <p:nvPr/>
        </p:nvSpPr>
        <p:spPr>
          <a:xfrm>
            <a:off x="5120640" y="5312664"/>
            <a:ext cx="30632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Public Administration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tech support?</a:t>
            </a:r>
            <a:endParaRPr lang="en-US" sz="1500" dirty="0"/>
          </a:p>
        </p:txBody>
      </p:sp>
      <p:sp>
        <p:nvSpPr>
          <p:cNvPr id="26" name="Ch 13 badge"/>
          <p:cNvSpPr/>
          <p:nvPr/>
        </p:nvSpPr>
        <p:spPr>
          <a:xfrm>
            <a:off x="8275320" y="530352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75320" y="530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28" name="Ch 13 text"/>
          <p:cNvSpPr txBox="1"/>
          <p:nvPr/>
        </p:nvSpPr>
        <p:spPr>
          <a:xfrm>
            <a:off x="8915400" y="484632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Farming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Towards a sustainable and equitable agriculture</a:t>
            </a:r>
            <a:endParaRPr lang="en-US" sz="1500" dirty="0"/>
          </a:p>
        </p:txBody>
      </p:sp>
      <p:sp>
        <p:nvSpPr>
          <p:cNvPr id="29" name="Ch 14 badge"/>
          <p:cNvSpPr/>
          <p:nvPr/>
        </p:nvSpPr>
        <p:spPr>
          <a:xfrm>
            <a:off x="8275320" y="1335024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31" name="Ch 14 text"/>
          <p:cNvSpPr txBox="1"/>
          <p:nvPr/>
        </p:nvSpPr>
        <p:spPr>
          <a:xfrm>
            <a:off x="8915400" y="1289304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Cybersecurity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Navigating the ethics of AI</a:t>
            </a:r>
            <a:endParaRPr lang="en-US" sz="1500" dirty="0"/>
          </a:p>
        </p:txBody>
      </p:sp>
      <p:sp>
        <p:nvSpPr>
          <p:cNvPr id="32" name="Ch 15 badge"/>
          <p:cNvSpPr/>
          <p:nvPr/>
        </p:nvSpPr>
        <p:spPr>
          <a:xfrm>
            <a:off x="8275320" y="2139696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275320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34" name="Ch 15 text"/>
          <p:cNvSpPr txBox="1"/>
          <p:nvPr/>
        </p:nvSpPr>
        <p:spPr>
          <a:xfrm>
            <a:off x="8915400" y="2093976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Engineering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turbine foundations and project costs</a:t>
            </a:r>
            <a:endParaRPr lang="en-US" sz="1500" dirty="0"/>
          </a:p>
        </p:txBody>
      </p:sp>
      <p:sp>
        <p:nvSpPr>
          <p:cNvPr id="35" name="Ch 16 badge"/>
          <p:cNvSpPr/>
          <p:nvPr/>
        </p:nvSpPr>
        <p:spPr>
          <a:xfrm>
            <a:off x="8275320" y="2944368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7532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500" dirty="0"/>
          </a:p>
        </p:txBody>
      </p:sp>
      <p:sp>
        <p:nvSpPr>
          <p:cNvPr id="37" name="Ch 16 text"/>
          <p:cNvSpPr txBox="1"/>
          <p:nvPr/>
        </p:nvSpPr>
        <p:spPr>
          <a:xfrm>
            <a:off x="8915400" y="2898648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Education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non-reductionist critique of learning with or without generative AI</a:t>
            </a:r>
            <a:endParaRPr lang="en-US" sz="1500" dirty="0"/>
          </a:p>
        </p:txBody>
      </p:sp>
      <p:sp>
        <p:nvSpPr>
          <p:cNvPr id="38" name="Ch 17 badge"/>
          <p:cNvSpPr/>
          <p:nvPr/>
        </p:nvSpPr>
        <p:spPr>
          <a:xfrm>
            <a:off x="8275320" y="3749040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2753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40" name="Ch 17 text"/>
          <p:cNvSpPr txBox="1"/>
          <p:nvPr/>
        </p:nvSpPr>
        <p:spPr>
          <a:xfrm>
            <a:off x="8915400" y="3703320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Research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Voices of novice researchers matter</a:t>
            </a:r>
            <a:endParaRPr lang="en-US" sz="1500" dirty="0"/>
          </a:p>
        </p:txBody>
      </p:sp>
      <p:sp>
        <p:nvSpPr>
          <p:cNvPr id="41" name="Ch 18 badge"/>
          <p:cNvSpPr/>
          <p:nvPr/>
        </p:nvSpPr>
        <p:spPr>
          <a:xfrm>
            <a:off x="8275320" y="4553712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27532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43" name="Ch 18 text"/>
          <p:cNvSpPr txBox="1"/>
          <p:nvPr/>
        </p:nvSpPr>
        <p:spPr>
          <a:xfrm>
            <a:off x="8915400" y="4507992"/>
            <a:ext cx="2880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Generativity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Affordances, reductions, and ethical responses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2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011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E4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III</a:t>
            </a:r>
            <a:endParaRPr lang="en-US" sz="16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251460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</a:t>
            </a:r>
            <a:endParaRPr lang="en-US" sz="40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548640" y="4343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19 to 25</a:t>
            </a:r>
            <a:endParaRPr lang="en-US" sz="1600" dirty="0"/>
          </a:p>
        </p:txBody>
      </p:sp>
      <p:sp>
        <p:nvSpPr>
          <p:cNvPr id="5" name="Ch 19 badge"/>
          <p:cNvSpPr/>
          <p:nvPr/>
        </p:nvSpPr>
        <p:spPr>
          <a:xfrm>
            <a:off x="4754880" y="530352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754880" y="530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7" name="Ch 19 text"/>
          <p:cNvSpPr txBox="1"/>
          <p:nvPr/>
        </p:nvSpPr>
        <p:spPr>
          <a:xfrm>
            <a:off x="5394960" y="484632"/>
            <a:ext cx="6309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About Practices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philosophical basis of the Five Lenses Model</a:t>
            </a:r>
            <a:endParaRPr lang="en-US" sz="1600" dirty="0"/>
          </a:p>
        </p:txBody>
      </p:sp>
      <p:sp>
        <p:nvSpPr>
          <p:cNvPr id="8" name="Ch 20 badge"/>
          <p:cNvSpPr/>
          <p:nvPr/>
        </p:nvSpPr>
        <p:spPr>
          <a:xfrm>
            <a:off x="4754880" y="1335024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0" y="1335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0" name="Ch 20 text"/>
          <p:cNvSpPr txBox="1"/>
          <p:nvPr/>
        </p:nvSpPr>
        <p:spPr>
          <a:xfrm>
            <a:off x="5394960" y="1289304"/>
            <a:ext cx="6309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Lessons from the First Wave of AI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future AI</a:t>
            </a:r>
            <a:endParaRPr lang="en-US" sz="1600" dirty="0"/>
          </a:p>
        </p:txBody>
      </p:sp>
      <p:sp>
        <p:nvSpPr>
          <p:cNvPr id="11" name="Ch 21 badge"/>
          <p:cNvSpPr/>
          <p:nvPr/>
        </p:nvSpPr>
        <p:spPr>
          <a:xfrm>
            <a:off x="4754880" y="2139696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54880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500" dirty="0"/>
          </a:p>
        </p:txBody>
      </p:sp>
      <p:sp>
        <p:nvSpPr>
          <p:cNvPr id="13" name="Ch 21 text"/>
          <p:cNvSpPr txBox="1"/>
          <p:nvPr/>
        </p:nvSpPr>
        <p:spPr>
          <a:xfrm>
            <a:off x="5394960" y="2093976"/>
            <a:ext cx="6309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the Human/Machine Distinction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and agency</a:t>
            </a:r>
            <a:endParaRPr lang="en-US" sz="1600" dirty="0"/>
          </a:p>
        </p:txBody>
      </p:sp>
      <p:sp>
        <p:nvSpPr>
          <p:cNvPr id="14" name="Ch 22 badge"/>
          <p:cNvSpPr/>
          <p:nvPr/>
        </p:nvSpPr>
        <p:spPr>
          <a:xfrm>
            <a:off x="4754880" y="2944368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0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500" dirty="0"/>
          </a:p>
        </p:txBody>
      </p:sp>
      <p:sp>
        <p:nvSpPr>
          <p:cNvPr id="16" name="Ch 22 text"/>
          <p:cNvSpPr txBox="1"/>
          <p:nvPr/>
        </p:nvSpPr>
        <p:spPr>
          <a:xfrm>
            <a:off x="5394960" y="2898648"/>
            <a:ext cx="6309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Worldview</a:t>
            </a:r>
            <a:endParaRPr lang="en-US" sz="1600" dirty="0"/>
          </a:p>
        </p:txBody>
      </p:sp>
      <p:sp>
        <p:nvSpPr>
          <p:cNvPr id="17" name="Ch 23 badge"/>
          <p:cNvSpPr/>
          <p:nvPr/>
        </p:nvSpPr>
        <p:spPr>
          <a:xfrm>
            <a:off x="4754880" y="3749040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500" dirty="0"/>
          </a:p>
        </p:txBody>
      </p:sp>
      <p:sp>
        <p:nvSpPr>
          <p:cNvPr id="19" name="Ch 23 text"/>
          <p:cNvSpPr txBox="1"/>
          <p:nvPr/>
        </p:nvSpPr>
        <p:spPr>
          <a:xfrm>
            <a:off x="5394960" y="3703320"/>
            <a:ext cx="6309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Electoral Interference and the Rule of Law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shield, responsibility gap, and state accountability</a:t>
            </a:r>
            <a:endParaRPr lang="en-US" sz="1600" dirty="0"/>
          </a:p>
        </p:txBody>
      </p:sp>
      <p:sp>
        <p:nvSpPr>
          <p:cNvPr id="20" name="Ch 24 badge"/>
          <p:cNvSpPr/>
          <p:nvPr/>
        </p:nvSpPr>
        <p:spPr>
          <a:xfrm>
            <a:off x="4754880" y="4553712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0" y="4553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500" dirty="0"/>
          </a:p>
        </p:txBody>
      </p:sp>
      <p:sp>
        <p:nvSpPr>
          <p:cNvPr id="22" name="Ch 24 text"/>
          <p:cNvSpPr txBox="1"/>
          <p:nvPr/>
        </p:nvSpPr>
        <p:spPr>
          <a:xfrm>
            <a:off x="5394960" y="4507992"/>
            <a:ext cx="6309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 of the Spheres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situational awareness, and our world of personal relations</a:t>
            </a:r>
            <a:endParaRPr lang="en-US" sz="1600" dirty="0"/>
          </a:p>
        </p:txBody>
      </p:sp>
      <p:sp>
        <p:nvSpPr>
          <p:cNvPr id="23" name="Ch 25 badge"/>
          <p:cNvSpPr/>
          <p:nvPr/>
        </p:nvSpPr>
        <p:spPr>
          <a:xfrm>
            <a:off x="4754880" y="5358384"/>
            <a:ext cx="457200" cy="457200"/>
          </a:xfrm>
          <a:prstGeom prst="ellipse">
            <a:avLst/>
          </a:prstGeom>
          <a:solidFill>
            <a:srgbClr val="E46B0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54880" y="5358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500" dirty="0"/>
          </a:p>
        </p:txBody>
      </p:sp>
      <p:sp>
        <p:nvSpPr>
          <p:cNvPr id="25" name="Ch 25 text"/>
          <p:cNvSpPr txBox="1"/>
          <p:nvPr/>
        </p:nvSpPr>
        <p:spPr>
          <a:xfrm>
            <a:off x="5394960" y="5312664"/>
            <a:ext cx="63093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Revisiting AI Ethics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2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0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4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AUTHORS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8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Nick Brems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1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chapter with a philosopher</a:t>
            </a:r>
            <a:endParaRPr lang="en-US" sz="2600" dirty="0"/>
          </a:p>
        </p:txBody>
      </p:sp>
      <p:pic>
        <p:nvPicPr>
          <p:cNvPr id="5" name="Quot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41148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40690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practice and philosophy share one chapter?</a:t>
            </a:r>
            <a:endParaRPr lang="en-US" sz="1700" dirty="0"/>
          </a:p>
        </p:txBody>
      </p:sp>
      <p:sp>
        <p:nvSpPr>
          <p:cNvPr id="7" name="Practice circle"/>
          <p:cNvSpPr/>
          <p:nvPr/>
        </p:nvSpPr>
        <p:spPr>
          <a:xfrm>
            <a:off x="6309360" y="1234440"/>
            <a:ext cx="3840480" cy="3840480"/>
          </a:xfrm>
          <a:prstGeom prst="ellipse">
            <a:avLst/>
          </a:prstGeom>
          <a:solidFill>
            <a:srgbClr val="781200">
              <a:alpha val="90000"/>
            </a:srgbClr>
          </a:solidFill>
          <a:ln/>
        </p:spPr>
      </p:sp>
      <p:sp>
        <p:nvSpPr>
          <p:cNvPr id="8" name="Philosophy circle"/>
          <p:cNvSpPr/>
          <p:nvPr/>
        </p:nvSpPr>
        <p:spPr>
          <a:xfrm>
            <a:off x="8001000" y="1234440"/>
            <a:ext cx="3840480" cy="3840480"/>
          </a:xfrm>
          <a:prstGeom prst="ellipse">
            <a:avLst/>
          </a:prstGeom>
          <a:solidFill>
            <a:srgbClr val="E46B00">
              <a:alpha val="75000"/>
            </a:srgbClr>
          </a:solidFill>
          <a:ln/>
        </p:spPr>
      </p:sp>
      <p:pic>
        <p:nvPicPr>
          <p:cNvPr id="9" name="Practic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60604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53796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800" dirty="0"/>
          </a:p>
        </p:txBody>
      </p:sp>
      <p:pic>
        <p:nvPicPr>
          <p:cNvPr id="11" name="Philosoph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0" y="2606040"/>
            <a:ext cx="54864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92124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1800" dirty="0"/>
          </a:p>
        </p:txBody>
      </p:sp>
      <p:pic>
        <p:nvPicPr>
          <p:cNvPr id="13" name="Chapte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0" y="2606040"/>
            <a:ext cx="457200" cy="4572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366760" y="3200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</a:t>
            </a:r>
            <a:endParaRPr lang="en-US" sz="16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26364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B6259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ook cover" descr="Cover of Revisiting AI Ethic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3291840" cy="4928616"/>
          </a:xfrm>
          <a:prstGeom prst="rect">
            <a:avLst/>
          </a:prstGeom>
          <a:effectLst>
            <a:outerShdw sx="100000" sy="100000" kx="0" ky="0" algn="bl" rotWithShape="0" blurRad="177800" dist="76200" dir="5400000">
              <a:srgbClr val="000000">
                <a:alpha val="45000"/>
              </a:srgbClr>
            </a:outerShdw>
          </a:effectLst>
        </p:spPr>
      </p:pic>
      <p:sp>
        <p:nvSpPr>
          <p:cNvPr id="3" name="Text 0"/>
          <p:cNvSpPr txBox="1"/>
          <p:nvPr/>
        </p:nvSpPr>
        <p:spPr>
          <a:xfrm>
            <a:off x="4846320" y="9144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3C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FEBRUARY 2027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4846320" y="137160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4846320" y="23774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BD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ethical framework firmly rooted in AI practices and supported by well-established ethical and philosophical principles.</a:t>
            </a:r>
            <a:endParaRPr lang="en-US" sz="1800" dirty="0"/>
          </a:p>
        </p:txBody>
      </p:sp>
      <p:sp>
        <p:nvSpPr>
          <p:cNvPr id="6" name="Offer card"/>
          <p:cNvSpPr/>
          <p:nvPr/>
        </p:nvSpPr>
        <p:spPr>
          <a:xfrm>
            <a:off x="4846320" y="3611880"/>
            <a:ext cx="667512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pic>
        <p:nvPicPr>
          <p:cNvPr id="7" name="QR code" descr="QR code linking to the book on link.springer.c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3813048"/>
            <a:ext cx="1828800" cy="18288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178040" y="3840480"/>
            <a:ext cx="4206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6B6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off with code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600" b="1" spc="300" kern="0" dirty="0">
                <a:solidFill>
                  <a:srgbClr val="E46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SPRAUT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78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link.springer.com/book/9783032412539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siting AI Ethics">
  <a:themeElements>
    <a:clrScheme name="Revisiting AI Ethics">
      <a:dk1>
        <a:srgbClr val="1F1A17"/>
      </a:dk1>
      <a:lt1>
        <a:srgbClr val="FFFFFF"/>
      </a:lt1>
      <a:dk2>
        <a:srgbClr val="781200"/>
      </a:dk2>
      <a:lt2>
        <a:srgbClr val="FDF0E4"/>
      </a:lt2>
      <a:accent1>
        <a:srgbClr val="781200"/>
      </a:accent1>
      <a:accent2>
        <a:srgbClr val="E46B00"/>
      </a:accent2>
      <a:accent3>
        <a:srgbClr val="0E3049"/>
      </a:accent3>
      <a:accent4>
        <a:srgbClr val="2E5A6B"/>
      </a:accent4>
      <a:accent5>
        <a:srgbClr val="B7472A"/>
      </a:accent5>
      <a:accent6>
        <a:srgbClr val="6B6259"/>
      </a:accent6>
      <a:hlink>
        <a:srgbClr val="E46B00"/>
      </a:hlink>
      <a:folHlink>
        <a:srgbClr val="781200"/>
      </a:folHlink>
    </a:clrScheme>
    <a:fontScheme name="Revisiting AI Eth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Revisiting AI Ethics</dc:title>
  <dc:subject>PptxGenJS Presentation</dc:subject>
  <dc:creator>PptxGenJS</dc:creator>
  <cp:lastModifiedBy>PptxGenJS</cp:lastModifiedBy>
  <cp:revision>1</cp:revision>
  <dcterms:created xsi:type="dcterms:W3CDTF">2026-10-09T12:34:57Z</dcterms:created>
  <dcterms:modified xsi:type="dcterms:W3CDTF">2026-10-09T12:34:57Z</dcterms:modified>
</cp:coreProperties>
</file>