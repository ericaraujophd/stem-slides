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embeddedFontLst>
    <p:embeddedFont>
      <p:font typeface="Inter" panose="020B0502030000000004" pitchFamily="34" charset="0"/>
      <p:regular r:id="rId18"/>
      <p:bold r:id="rId19"/>
    </p:embeddedFont>
    <p:embeddedFont>
      <p:font typeface="Lora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82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pic>
        <p:nvPicPr>
          <p:cNvPr id="3" name="bridge-image" descr="preencoded.png"/>
          <p:cNvPicPr>
            <a:picLocks noChangeAspect="1"/>
          </p:cNvPicPr>
          <p:nvPr/>
        </p:nvPicPr>
        <p:blipFill>
          <a:blip r:embed="rId3"/>
          <a:srcRect t="3846" b="3846"/>
          <a:stretch/>
        </p:blipFill>
        <p:spPr>
          <a:xfrm>
            <a:off x="0" y="0"/>
            <a:ext cx="6604000" cy="9144000"/>
          </a:xfrm>
          <a:prstGeom prst="rect">
            <a:avLst/>
          </a:prstGeom>
        </p:spPr>
      </p:pic>
      <p:sp>
        <p:nvSpPr>
          <p:cNvPr id="4" name="conference"/>
          <p:cNvSpPr/>
          <p:nvPr/>
        </p:nvSpPr>
        <p:spPr>
          <a:xfrm>
            <a:off x="7366000" y="711200"/>
            <a:ext cx="812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6"/>
              </a:lnSpc>
              <a:buNone/>
            </a:pPr>
            <a:r>
              <a:rPr lang="en-US" alt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WISDOM IN THE AGE OF AI CONFERENCE 2026 · AI &amp; STEM TRACK</a:t>
            </a:r>
            <a:endParaRPr lang="en-US" sz="1800" dirty="0"/>
          </a:p>
          <a:p>
            <a:pPr marL="0" indent="0" algn="l">
              <a:lnSpc>
                <a:spcPts val="2196"/>
              </a:lnSpc>
              <a:buNone/>
            </a:pPr>
            <a:r>
              <a:rPr lang="en-US" alt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CALVIN UNIVERSITY · OCTOBER 8–10, 2026</a:t>
            </a:r>
            <a:endParaRPr lang="en-US" sz="1800" dirty="0"/>
          </a:p>
        </p:txBody>
      </p:sp>
      <p:sp>
        <p:nvSpPr>
          <p:cNvPr id="5" name="conference-rule"/>
          <p:cNvSpPr/>
          <p:nvPr/>
        </p:nvSpPr>
        <p:spPr>
          <a:xfrm>
            <a:off x="7366000" y="1879600"/>
            <a:ext cx="812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title-text"/>
          <p:cNvSpPr/>
          <p:nvPr/>
        </p:nvSpPr>
        <p:spPr>
          <a:xfrm>
            <a:off x="7366000" y="2336800"/>
            <a:ext cx="787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16"/>
              </a:lnSpc>
              <a:buNone/>
            </a:pPr>
            <a:r>
              <a:rPr lang="en-US" altLang="en-US" sz="58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AI as a Bridge</a:t>
            </a:r>
            <a:endParaRPr lang="en-US" sz="5800" dirty="0"/>
          </a:p>
        </p:txBody>
      </p:sp>
      <p:sp>
        <p:nvSpPr>
          <p:cNvPr id="7" name="subtitle"/>
          <p:cNvSpPr/>
          <p:nvPr/>
        </p:nvSpPr>
        <p:spPr>
          <a:xfrm>
            <a:off x="7366000" y="4343400"/>
            <a:ext cx="7874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12"/>
              </a:lnSpc>
              <a:buNone/>
            </a:pPr>
            <a:r>
              <a:rPr lang="en-US" altLang="en-US" sz="39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Supporting Human Dignity in Justice-Impacted Communities</a:t>
            </a:r>
            <a:endParaRPr lang="en-US" sz="3900" dirty="0"/>
          </a:p>
        </p:txBody>
      </p:sp>
      <p:sp>
        <p:nvSpPr>
          <p:cNvPr id="8" name="quote"/>
          <p:cNvSpPr/>
          <p:nvPr/>
        </p:nvSpPr>
        <p:spPr>
          <a:xfrm>
            <a:off x="7366000" y="6235700"/>
            <a:ext cx="76784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altLang="en-US" sz="2500" i="1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 human test for the technology we are building.”</a:t>
            </a:r>
            <a:endParaRPr lang="en-US" sz="2500" dirty="0"/>
          </a:p>
        </p:txBody>
      </p:sp>
      <p:sp>
        <p:nvSpPr>
          <p:cNvPr id="9" name="presenter"/>
          <p:cNvSpPr/>
          <p:nvPr/>
        </p:nvSpPr>
        <p:spPr>
          <a:xfrm>
            <a:off x="7366000" y="79248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Sandra E. Mosley · Founder, First Choice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pic>
        <p:nvPicPr>
          <p:cNvPr id="3" name="maya-image" descr="preencoded.png"/>
          <p:cNvPicPr>
            <a:picLocks noChangeAspect="1"/>
          </p:cNvPicPr>
          <p:nvPr/>
        </p:nvPicPr>
        <p:blipFill>
          <a:blip r:embed="rId3"/>
          <a:srcRect t="3846" b="3846"/>
          <a:stretch/>
        </p:blipFill>
        <p:spPr>
          <a:xfrm>
            <a:off x="9652000" y="0"/>
            <a:ext cx="6604000" cy="9144000"/>
          </a:xfrm>
          <a:prstGeom prst="rect">
            <a:avLst/>
          </a:prstGeom>
        </p:spPr>
      </p:pic>
      <p:sp>
        <p:nvSpPr>
          <p:cNvPr id="4" name="scenario-label"/>
          <p:cNvSpPr/>
          <p:nvPr/>
        </p:nvSpPr>
        <p:spPr>
          <a:xfrm>
            <a:off x="762000" y="12192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SCENARIO</a:t>
            </a:r>
            <a:endParaRPr lang="en-US" sz="2000" dirty="0"/>
          </a:p>
        </p:txBody>
      </p:sp>
      <p:sp>
        <p:nvSpPr>
          <p:cNvPr id="5" name="maya-title"/>
          <p:cNvSpPr/>
          <p:nvPr/>
        </p:nvSpPr>
        <p:spPr>
          <a:xfrm>
            <a:off x="762000" y="2133600"/>
            <a:ext cx="774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16"/>
              </a:lnSpc>
              <a:buNone/>
            </a:pPr>
            <a:r>
              <a:rPr lang="en-US" altLang="en-US" sz="58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Maya is more</a:t>
            </a:r>
            <a:endParaRPr lang="en-US" sz="5800" dirty="0"/>
          </a:p>
          <a:p>
            <a:pPr marL="0" indent="0" algn="l">
              <a:lnSpc>
                <a:spcPts val="5916"/>
              </a:lnSpc>
              <a:buNone/>
            </a:pPr>
            <a:r>
              <a:rPr lang="en-US" altLang="en-US" sz="58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than a list of tasks.</a:t>
            </a:r>
            <a:endParaRPr lang="en-US" sz="5800" dirty="0"/>
          </a:p>
        </p:txBody>
      </p:sp>
      <p:sp>
        <p:nvSpPr>
          <p:cNvPr id="6" name="maya-context"/>
          <p:cNvSpPr/>
          <p:nvPr/>
        </p:nvSpPr>
        <p:spPr>
          <a:xfrm>
            <a:off x="762000" y="4953000"/>
            <a:ext cx="774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25"/>
              </a:lnSpc>
              <a:buNone/>
            </a:pPr>
            <a:r>
              <a:rPr lang="en-US" altLang="en-US" sz="29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Work. Transportation. A required appointment. Family. A future.</a:t>
            </a:r>
            <a:endParaRPr lang="en-US" sz="2900" dirty="0"/>
          </a:p>
        </p:txBody>
      </p:sp>
      <p:sp>
        <p:nvSpPr>
          <p:cNvPr id="7" name="closing-rule"/>
          <p:cNvSpPr/>
          <p:nvPr/>
        </p:nvSpPr>
        <p:spPr>
          <a:xfrm>
            <a:off x="762000" y="6781800"/>
            <a:ext cx="7493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maya-closing"/>
          <p:cNvSpPr/>
          <p:nvPr/>
        </p:nvSpPr>
        <p:spPr>
          <a:xfrm>
            <a:off x="762000" y="7213600"/>
            <a:ext cx="774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altLang="en-US" sz="30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She is trying to rebuild a life.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7874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68"/>
              </a:lnSpc>
              <a:buNone/>
            </a:pPr>
            <a:r>
              <a:rPr lang="en-US" altLang="en-US" sz="46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 system sees separate problems.</a:t>
            </a:r>
            <a:endParaRPr lang="en-US" sz="4600" dirty="0"/>
          </a:p>
          <a:p>
            <a:pPr marL="0" indent="0" algn="l">
              <a:lnSpc>
                <a:spcPts val="4968"/>
              </a:lnSpc>
              <a:buNone/>
            </a:pPr>
            <a:r>
              <a:rPr lang="en-US" altLang="en-US" sz="46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 person lives one life.</a:t>
            </a:r>
            <a:endParaRPr lang="en-US" sz="4600" dirty="0"/>
          </a:p>
        </p:txBody>
      </p:sp>
      <p:sp>
        <p:nvSpPr>
          <p:cNvPr id="4" name="content-rule"/>
          <p:cNvSpPr/>
          <p:nvPr/>
        </p:nvSpPr>
        <p:spPr>
          <a:xfrm>
            <a:off x="762000" y="26416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5" name="system-label"/>
          <p:cNvSpPr/>
          <p:nvPr/>
        </p:nvSpPr>
        <p:spPr>
          <a:xfrm>
            <a:off x="762000" y="32258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SEES</a:t>
            </a:r>
            <a:endParaRPr lang="en-US" sz="2000" dirty="0"/>
          </a:p>
        </p:txBody>
      </p:sp>
      <p:sp>
        <p:nvSpPr>
          <p:cNvPr id="6" name="system-list"/>
          <p:cNvSpPr/>
          <p:nvPr/>
        </p:nvSpPr>
        <p:spPr>
          <a:xfrm>
            <a:off x="762000" y="3898900"/>
            <a:ext cx="533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90"/>
              </a:lnSpc>
              <a:spcAft>
                <a:spcPts val="900"/>
              </a:spcAft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</a:t>
            </a:r>
            <a:endParaRPr lang="en-US" sz="3300" dirty="0"/>
          </a:p>
          <a:p>
            <a:pPr marL="0" indent="0" algn="l">
              <a:lnSpc>
                <a:spcPts val="4290"/>
              </a:lnSpc>
              <a:spcAft>
                <a:spcPts val="900"/>
              </a:spcAft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</a:t>
            </a:r>
            <a:endParaRPr lang="en-US" sz="3300" dirty="0"/>
          </a:p>
          <a:p>
            <a:pPr marL="0" indent="0" algn="l">
              <a:lnSpc>
                <a:spcPts val="4290"/>
              </a:lnSpc>
              <a:spcAft>
                <a:spcPts val="900"/>
              </a:spcAft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</a:t>
            </a:r>
            <a:endParaRPr lang="en-US" sz="3300" dirty="0"/>
          </a:p>
          <a:p>
            <a:pPr marL="0" indent="0" algn="l">
              <a:lnSpc>
                <a:spcPts val="429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3300" dirty="0"/>
          </a:p>
        </p:txBody>
      </p:sp>
      <p:sp>
        <p:nvSpPr>
          <p:cNvPr id="7" name="vertical-rule"/>
          <p:cNvSpPr/>
          <p:nvPr/>
        </p:nvSpPr>
        <p:spPr>
          <a:xfrm>
            <a:off x="7886700" y="3175000"/>
            <a:ext cx="9144" cy="3619500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person-label"/>
          <p:cNvSpPr/>
          <p:nvPr/>
        </p:nvSpPr>
        <p:spPr>
          <a:xfrm>
            <a:off x="8890000" y="32258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PERSON CARRIES</a:t>
            </a:r>
            <a:endParaRPr lang="en-US" sz="2000" dirty="0"/>
          </a:p>
        </p:txBody>
      </p:sp>
      <p:sp>
        <p:nvSpPr>
          <p:cNvPr id="9" name="person-emphasis"/>
          <p:cNvSpPr/>
          <p:nvPr/>
        </p:nvSpPr>
        <p:spPr>
          <a:xfrm>
            <a:off x="8890000" y="4140200"/>
            <a:ext cx="546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8"/>
              </a:lnSpc>
              <a:buNone/>
            </a:pPr>
            <a:r>
              <a:rPr lang="en-US" altLang="en-US" sz="56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One life.</a:t>
            </a:r>
            <a:endParaRPr lang="en-US" sz="5600" dirty="0"/>
          </a:p>
          <a:p>
            <a:pPr marL="0" indent="0" algn="l">
              <a:lnSpc>
                <a:spcPts val="6048"/>
              </a:lnSpc>
              <a:buNone/>
            </a:pPr>
            <a:r>
              <a:rPr lang="en-US" altLang="en-US" sz="56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All at once.</a:t>
            </a:r>
            <a:endParaRPr lang="en-US" sz="5600" dirty="0"/>
          </a:p>
        </p:txBody>
      </p:sp>
      <p:sp>
        <p:nvSpPr>
          <p:cNvPr id="10" name="closing"/>
          <p:cNvSpPr/>
          <p:nvPr/>
        </p:nvSpPr>
        <p:spPr>
          <a:xfrm>
            <a:off x="762000" y="7899400"/>
            <a:ext cx="142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must meet that reality.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label"/>
          <p:cNvSpPr/>
          <p:nvPr/>
        </p:nvSpPr>
        <p:spPr>
          <a:xfrm>
            <a:off x="1016000" y="1168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TEST</a:t>
            </a:r>
            <a:endParaRPr lang="en-US" sz="2000" dirty="0"/>
          </a:p>
        </p:txBody>
      </p:sp>
      <p:sp>
        <p:nvSpPr>
          <p:cNvPr id="4" name="question"/>
          <p:cNvSpPr/>
          <p:nvPr/>
        </p:nvSpPr>
        <p:spPr>
          <a:xfrm>
            <a:off x="1016000" y="2387600"/>
            <a:ext cx="1357757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30"/>
              </a:lnSpc>
              <a:buNone/>
            </a:pPr>
            <a:r>
              <a:rPr lang="en-US" altLang="en-US" sz="55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When AI touches your work, does it make</a:t>
            </a:r>
            <a:endParaRPr lang="en-US" sz="5500" dirty="0"/>
          </a:p>
          <a:p>
            <a:pPr marL="0" indent="0" algn="l">
              <a:lnSpc>
                <a:spcPts val="5830"/>
              </a:lnSpc>
              <a:buNone/>
            </a:pPr>
            <a:r>
              <a:rPr lang="en-US" altLang="en-US" sz="55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you more capable—and more in control?</a:t>
            </a:r>
            <a:endParaRPr lang="en-US" sz="5500" dirty="0"/>
          </a:p>
        </p:txBody>
      </p:sp>
      <p:sp>
        <p:nvSpPr>
          <p:cNvPr id="5" name="rule"/>
          <p:cNvSpPr/>
          <p:nvPr/>
        </p:nvSpPr>
        <p:spPr>
          <a:xfrm>
            <a:off x="1016000" y="6070600"/>
            <a:ext cx="1320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supporting"/>
          <p:cNvSpPr/>
          <p:nvPr/>
        </p:nvSpPr>
        <p:spPr>
          <a:xfrm>
            <a:off x="1016000" y="66675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en-US" sz="30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already shaping decisions. The question is how.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9F5D"/>
          </a:solidFill>
          <a:ln/>
        </p:spPr>
      </p:sp>
      <p:sp>
        <p:nvSpPr>
          <p:cNvPr id="3" name="label"/>
          <p:cNvSpPr/>
          <p:nvPr/>
        </p:nvSpPr>
        <p:spPr>
          <a:xfrm>
            <a:off x="1016000" y="11938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BRIDGE THESIS</a:t>
            </a:r>
            <a:endParaRPr lang="en-US" sz="2000" dirty="0"/>
          </a:p>
        </p:txBody>
      </p:sp>
      <p:sp>
        <p:nvSpPr>
          <p:cNvPr id="4" name="statement"/>
          <p:cNvSpPr/>
          <p:nvPr/>
        </p:nvSpPr>
        <p:spPr>
          <a:xfrm>
            <a:off x="1016000" y="2336800"/>
            <a:ext cx="1346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195"/>
              </a:lnSpc>
              <a:buNone/>
            </a:pPr>
            <a:r>
              <a:rPr lang="en-US" altLang="en-US" sz="5900" dirty="0">
                <a:solidFill>
                  <a:srgbClr val="F9F6F0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 bridge helps someone move forward.</a:t>
            </a:r>
            <a:endParaRPr lang="en-US" sz="5900" dirty="0"/>
          </a:p>
          <a:p>
            <a:pPr marL="0" indent="0" algn="l">
              <a:lnSpc>
                <a:spcPts val="6195"/>
              </a:lnSpc>
              <a:buNone/>
            </a:pPr>
            <a:r>
              <a:rPr lang="en-US" altLang="en-US" sz="5900" dirty="0">
                <a:solidFill>
                  <a:srgbClr val="F9F6F0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It does not decide whether they deserve</a:t>
            </a:r>
            <a:endParaRPr lang="en-US" sz="5900" dirty="0"/>
          </a:p>
          <a:p>
            <a:pPr marL="0" indent="0" algn="l">
              <a:lnSpc>
                <a:spcPts val="6195"/>
              </a:lnSpc>
              <a:buNone/>
            </a:pPr>
            <a:r>
              <a:rPr lang="en-US" altLang="en-US" sz="5900" dirty="0">
                <a:solidFill>
                  <a:srgbClr val="F9F6F0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to cross.</a:t>
            </a:r>
            <a:endParaRPr lang="en-US" sz="5900" dirty="0"/>
          </a:p>
        </p:txBody>
      </p:sp>
      <p:sp>
        <p:nvSpPr>
          <p:cNvPr id="5" name="rule"/>
          <p:cNvSpPr/>
          <p:nvPr/>
        </p:nvSpPr>
        <p:spPr>
          <a:xfrm>
            <a:off x="1016000" y="6502400"/>
            <a:ext cx="13335000" cy="9144"/>
          </a:xfrm>
          <a:prstGeom prst="line">
            <a:avLst/>
          </a:prstGeom>
          <a:ln w="25400">
            <a:solidFill>
              <a:srgbClr val="D9D2C5">
                <a:alpha val="50000"/>
              </a:srgbClr>
            </a:solidFill>
            <a:prstDash val="solid"/>
          </a:ln>
        </p:spPr>
      </p:sp>
      <p:sp>
        <p:nvSpPr>
          <p:cNvPr id="6" name="supporting"/>
          <p:cNvSpPr/>
          <p:nvPr/>
        </p:nvSpPr>
        <p:spPr>
          <a:xfrm>
            <a:off x="1016000" y="7048500"/>
            <a:ext cx="1181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en-US" sz="300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should expand human agency, not replace it.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812800"/>
            <a:ext cx="965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7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The line we cannot cross</a:t>
            </a:r>
            <a:endParaRPr lang="en-US" sz="4700" dirty="0"/>
          </a:p>
        </p:txBody>
      </p:sp>
      <p:sp>
        <p:nvSpPr>
          <p:cNvPr id="4" name="principle"/>
          <p:cNvSpPr/>
          <p:nvPr/>
        </p:nvSpPr>
        <p:spPr>
          <a:xfrm>
            <a:off x="762000" y="1930400"/>
            <a:ext cx="13716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2"/>
              </a:lnSpc>
              <a:buNone/>
            </a:pPr>
            <a:r>
              <a:rPr lang="en-US" altLang="en-US" sz="31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may support decisions. It must not make consequential judgments about people.</a:t>
            </a:r>
            <a:endParaRPr lang="en-US" sz="3100" dirty="0"/>
          </a:p>
        </p:txBody>
      </p:sp>
      <p:sp>
        <p:nvSpPr>
          <p:cNvPr id="5" name="content-rule"/>
          <p:cNvSpPr/>
          <p:nvPr/>
        </p:nvSpPr>
        <p:spPr>
          <a:xfrm>
            <a:off x="762000" y="34290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support-label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MAY SUPPORT</a:t>
            </a:r>
            <a:endParaRPr lang="en-US" sz="2000" dirty="0"/>
          </a:p>
        </p:txBody>
      </p:sp>
      <p:sp>
        <p:nvSpPr>
          <p:cNvPr id="7" name="support-text"/>
          <p:cNvSpPr/>
          <p:nvPr/>
        </p:nvSpPr>
        <p:spPr>
          <a:xfrm>
            <a:off x="762000" y="4775200"/>
            <a:ext cx="622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75"/>
              </a:lnSpc>
              <a:buNone/>
            </a:pPr>
            <a:r>
              <a:rPr lang="en-US" altLang="en-US" sz="31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· Reminders · Resources · Better questions</a:t>
            </a:r>
            <a:endParaRPr lang="en-US" sz="3100" dirty="0"/>
          </a:p>
        </p:txBody>
      </p:sp>
      <p:sp>
        <p:nvSpPr>
          <p:cNvPr id="8" name="vertical-rule"/>
          <p:cNvSpPr/>
          <p:nvPr/>
        </p:nvSpPr>
        <p:spPr>
          <a:xfrm>
            <a:off x="7962900" y="3987800"/>
            <a:ext cx="9144" cy="2413000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9" name="decide-label"/>
          <p:cNvSpPr/>
          <p:nvPr/>
        </p:nvSpPr>
        <p:spPr>
          <a:xfrm>
            <a:off x="8890000" y="4064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MUST NOT DECIDE</a:t>
            </a:r>
            <a:endParaRPr lang="en-US" sz="2000" dirty="0"/>
          </a:p>
        </p:txBody>
      </p:sp>
      <p:sp>
        <p:nvSpPr>
          <p:cNvPr id="10" name="decide-text"/>
          <p:cNvSpPr/>
          <p:nvPr/>
        </p:nvSpPr>
        <p:spPr>
          <a:xfrm>
            <a:off x="8890000" y="4775200"/>
            <a:ext cx="596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75"/>
              </a:lnSpc>
              <a:buNone/>
            </a:pPr>
            <a:r>
              <a:rPr lang="en-US" altLang="en-US" sz="31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deserves housing, work, liberty, or another chance</a:t>
            </a:r>
            <a:endParaRPr lang="en-US" sz="3100" dirty="0"/>
          </a:p>
        </p:txBody>
      </p:sp>
      <p:sp>
        <p:nvSpPr>
          <p:cNvPr id="11" name="footer-rule"/>
          <p:cNvSpPr/>
          <p:nvPr/>
        </p:nvSpPr>
        <p:spPr>
          <a:xfrm>
            <a:off x="762000" y="71501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12" name="closing"/>
          <p:cNvSpPr/>
          <p:nvPr/>
        </p:nvSpPr>
        <p:spPr>
          <a:xfrm>
            <a:off x="762000" y="76454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is not the same thing as wisdom.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812800"/>
            <a:ext cx="1206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7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Dignity must show up in the design</a:t>
            </a:r>
            <a:endParaRPr lang="en-US" sz="4700" dirty="0"/>
          </a:p>
        </p:txBody>
      </p:sp>
      <p:sp>
        <p:nvSpPr>
          <p:cNvPr id="4" name="content-rule"/>
          <p:cNvSpPr/>
          <p:nvPr/>
        </p:nvSpPr>
        <p:spPr>
          <a:xfrm>
            <a:off x="762000" y="22606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5" name="commitment-one-title"/>
          <p:cNvSpPr/>
          <p:nvPr/>
        </p:nvSpPr>
        <p:spPr>
          <a:xfrm>
            <a:off x="762000" y="30988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96"/>
              </a:lnSpc>
              <a:buNone/>
            </a:pPr>
            <a:r>
              <a:rPr lang="en-US" altLang="en-US" sz="33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Protect the person.</a:t>
            </a:r>
            <a:endParaRPr lang="en-US" sz="3300" dirty="0"/>
          </a:p>
        </p:txBody>
      </p:sp>
      <p:sp>
        <p:nvSpPr>
          <p:cNvPr id="6" name="commitment-one-text"/>
          <p:cNvSpPr/>
          <p:nvPr/>
        </p:nvSpPr>
        <p:spPr>
          <a:xfrm>
            <a:off x="762000" y="4394200"/>
            <a:ext cx="406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6"/>
              </a:lnSpc>
              <a:buNone/>
            </a:pPr>
            <a:r>
              <a:rPr lang="en-US" altLang="en-US" sz="28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only what is needed. Never turn support into surveillance.</a:t>
            </a:r>
            <a:endParaRPr lang="en-US" sz="2800" dirty="0"/>
          </a:p>
        </p:txBody>
      </p:sp>
      <p:sp>
        <p:nvSpPr>
          <p:cNvPr id="7" name="rule-one"/>
          <p:cNvSpPr/>
          <p:nvPr/>
        </p:nvSpPr>
        <p:spPr>
          <a:xfrm>
            <a:off x="5359400" y="3022600"/>
            <a:ext cx="9144" cy="3810000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commitment-two-title"/>
          <p:cNvSpPr/>
          <p:nvPr/>
        </p:nvSpPr>
        <p:spPr>
          <a:xfrm>
            <a:off x="6070600" y="30988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96"/>
              </a:lnSpc>
              <a:buNone/>
            </a:pPr>
            <a:r>
              <a:rPr lang="en-US" altLang="en-US" sz="33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Explain and correct.</a:t>
            </a:r>
            <a:endParaRPr lang="en-US" sz="3300" dirty="0"/>
          </a:p>
        </p:txBody>
      </p:sp>
      <p:sp>
        <p:nvSpPr>
          <p:cNvPr id="9" name="commitment-two-text"/>
          <p:cNvSpPr/>
          <p:nvPr/>
        </p:nvSpPr>
        <p:spPr>
          <a:xfrm>
            <a:off x="6070600" y="4394200"/>
            <a:ext cx="406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6"/>
              </a:lnSpc>
              <a:buNone/>
            </a:pPr>
            <a:r>
              <a:rPr lang="en-US" altLang="en-US" sz="28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AI understandable. Give people a real way to fix what is wrong.</a:t>
            </a:r>
            <a:endParaRPr lang="en-US" sz="2800" dirty="0"/>
          </a:p>
        </p:txBody>
      </p:sp>
      <p:sp>
        <p:nvSpPr>
          <p:cNvPr id="10" name="rule-two"/>
          <p:cNvSpPr/>
          <p:nvPr/>
        </p:nvSpPr>
        <p:spPr>
          <a:xfrm>
            <a:off x="10668000" y="3022600"/>
            <a:ext cx="9144" cy="3810000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11" name="commitment-three-title"/>
          <p:cNvSpPr/>
          <p:nvPr/>
        </p:nvSpPr>
        <p:spPr>
          <a:xfrm>
            <a:off x="11379200" y="3098800"/>
            <a:ext cx="411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84"/>
              </a:lnSpc>
              <a:buNone/>
            </a:pPr>
            <a:r>
              <a:rPr lang="en-US" altLang="en-US" sz="3200" dirty="0">
                <a:solidFill>
                  <a:srgbClr val="7A2033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Preserve meaningful choice.</a:t>
            </a:r>
            <a:endParaRPr lang="en-US" sz="3200" dirty="0"/>
          </a:p>
        </p:txBody>
      </p:sp>
      <p:sp>
        <p:nvSpPr>
          <p:cNvPr id="12" name="commitment-three-text"/>
          <p:cNvSpPr/>
          <p:nvPr/>
        </p:nvSpPr>
        <p:spPr>
          <a:xfrm>
            <a:off x="11379200" y="439420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16"/>
              </a:lnSpc>
              <a:buNone/>
            </a:pPr>
            <a:r>
              <a:rPr lang="en-US" altLang="en-US" sz="28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people active participants in decisions that shape their lives.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label"/>
          <p:cNvSpPr/>
          <p:nvPr/>
        </p:nvSpPr>
        <p:spPr>
          <a:xfrm>
            <a:off x="1016000" y="11684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REAL-WORLD CASE STUDY</a:t>
            </a:r>
            <a:endParaRPr lang="en-US" sz="2000" dirty="0"/>
          </a:p>
        </p:txBody>
      </p:sp>
      <p:sp>
        <p:nvSpPr>
          <p:cNvPr id="4" name="title"/>
          <p:cNvSpPr/>
          <p:nvPr/>
        </p:nvSpPr>
        <p:spPr>
          <a:xfrm>
            <a:off x="1016000" y="2159000"/>
            <a:ext cx="1168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55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Why I built MyPathForward.</a:t>
            </a:r>
            <a:endParaRPr lang="en-US" sz="5500" dirty="0"/>
          </a:p>
        </p:txBody>
      </p:sp>
      <p:sp>
        <p:nvSpPr>
          <p:cNvPr id="5" name="rule"/>
          <p:cNvSpPr/>
          <p:nvPr/>
        </p:nvSpPr>
        <p:spPr>
          <a:xfrm>
            <a:off x="1016000" y="3721100"/>
            <a:ext cx="1320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body"/>
          <p:cNvSpPr/>
          <p:nvPr/>
        </p:nvSpPr>
        <p:spPr>
          <a:xfrm>
            <a:off x="1016000" y="4343400"/>
            <a:ext cx="1219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92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planning and resource-support tool for people navigating probation, parole, and reentry.</a:t>
            </a:r>
            <a:endParaRPr lang="en-US" sz="3300" dirty="0"/>
          </a:p>
        </p:txBody>
      </p:sp>
      <p:sp>
        <p:nvSpPr>
          <p:cNvPr id="7" name="emphasis"/>
          <p:cNvSpPr/>
          <p:nvPr/>
        </p:nvSpPr>
        <p:spPr>
          <a:xfrm>
            <a:off x="1016000" y="6248400"/>
            <a:ext cx="1295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County-aware guidance. Practical next steps. Human support stays central.</a:t>
            </a:r>
            <a:endParaRPr lang="en-US" sz="2900" dirty="0"/>
          </a:p>
        </p:txBody>
      </p:sp>
      <p:sp>
        <p:nvSpPr>
          <p:cNvPr id="8" name="closing"/>
          <p:cNvSpPr/>
          <p:nvPr/>
        </p:nvSpPr>
        <p:spPr>
          <a:xfrm>
            <a:off x="1016000" y="7620000"/>
            <a:ext cx="838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from direct local experience.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1333500"/>
            <a:ext cx="787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62"/>
              </a:lnSpc>
              <a:buNone/>
            </a:pPr>
            <a:r>
              <a:rPr lang="en-US" altLang="en-US" sz="54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My plan, not a pile of tasks.</a:t>
            </a:r>
            <a:endParaRPr lang="en-US" sz="5400" dirty="0"/>
          </a:p>
        </p:txBody>
      </p:sp>
      <p:sp>
        <p:nvSpPr>
          <p:cNvPr id="4" name="subtitle"/>
          <p:cNvSpPr/>
          <p:nvPr/>
        </p:nvSpPr>
        <p:spPr>
          <a:xfrm>
            <a:off x="762000" y="35306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1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becomes a usable plan.</a:t>
            </a:r>
            <a:endParaRPr lang="en-US" sz="3100" dirty="0"/>
          </a:p>
        </p:txBody>
      </p:sp>
      <p:sp>
        <p:nvSpPr>
          <p:cNvPr id="5" name="rule"/>
          <p:cNvSpPr/>
          <p:nvPr/>
        </p:nvSpPr>
        <p:spPr>
          <a:xfrm>
            <a:off x="762000" y="4699000"/>
            <a:ext cx="7112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caption"/>
          <p:cNvSpPr/>
          <p:nvPr/>
        </p:nvSpPr>
        <p:spPr>
          <a:xfrm>
            <a:off x="762000" y="5232400"/>
            <a:ext cx="711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job is to help someone see what needs attention today.</a:t>
            </a:r>
            <a:endParaRPr lang="en-US" sz="2800" dirty="0"/>
          </a:p>
        </p:txBody>
      </p:sp>
      <p:sp>
        <p:nvSpPr>
          <p:cNvPr id="7" name="screen-frame"/>
          <p:cNvSpPr/>
          <p:nvPr/>
        </p:nvSpPr>
        <p:spPr>
          <a:xfrm>
            <a:off x="10464800" y="660400"/>
            <a:ext cx="4191000" cy="7823200"/>
          </a:xfrm>
          <a:prstGeom prst="roundRect">
            <a:avLst>
              <a:gd name="adj" fmla="val 3030"/>
            </a:avLst>
          </a:prstGeom>
          <a:solidFill>
            <a:srgbClr val="EFEBE3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8" name="product-screen" descr="preencoded.png"/>
          <p:cNvPicPr>
            <a:picLocks noChangeAspect="1"/>
          </p:cNvPicPr>
          <p:nvPr/>
        </p:nvPicPr>
        <p:blipFill>
          <a:blip r:embed="rId3"/>
          <a:srcRect l="-22384" r="-22384"/>
          <a:stretch/>
        </p:blipFill>
        <p:spPr>
          <a:xfrm>
            <a:off x="10604500" y="787400"/>
            <a:ext cx="3911600" cy="756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1333500"/>
            <a:ext cx="787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62"/>
              </a:lnSpc>
              <a:buNone/>
            </a:pPr>
            <a:r>
              <a:rPr lang="en-US" altLang="en-US" sz="54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Support, not substitution.</a:t>
            </a:r>
            <a:endParaRPr lang="en-US" sz="5400" dirty="0"/>
          </a:p>
        </p:txBody>
      </p:sp>
      <p:sp>
        <p:nvSpPr>
          <p:cNvPr id="4" name="subtitle"/>
          <p:cNvSpPr/>
          <p:nvPr/>
        </p:nvSpPr>
        <p:spPr>
          <a:xfrm>
            <a:off x="762000" y="35306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1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support—not an official decision.</a:t>
            </a:r>
            <a:endParaRPr lang="en-US" sz="3100" dirty="0"/>
          </a:p>
        </p:txBody>
      </p:sp>
      <p:sp>
        <p:nvSpPr>
          <p:cNvPr id="5" name="rule"/>
          <p:cNvSpPr/>
          <p:nvPr/>
        </p:nvSpPr>
        <p:spPr>
          <a:xfrm>
            <a:off x="762000" y="4699000"/>
            <a:ext cx="7112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caption"/>
          <p:cNvSpPr/>
          <p:nvPr/>
        </p:nvSpPr>
        <p:spPr>
          <a:xfrm>
            <a:off x="762000" y="5232400"/>
            <a:ext cx="711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 helps someone prepare. It does not decide for them.</a:t>
            </a:r>
            <a:endParaRPr lang="en-US" sz="2800" dirty="0"/>
          </a:p>
        </p:txBody>
      </p:sp>
      <p:sp>
        <p:nvSpPr>
          <p:cNvPr id="7" name="screen-frame"/>
          <p:cNvSpPr/>
          <p:nvPr/>
        </p:nvSpPr>
        <p:spPr>
          <a:xfrm>
            <a:off x="10464800" y="660400"/>
            <a:ext cx="4191000" cy="7823200"/>
          </a:xfrm>
          <a:prstGeom prst="roundRect">
            <a:avLst>
              <a:gd name="adj" fmla="val 3030"/>
            </a:avLst>
          </a:prstGeom>
          <a:solidFill>
            <a:srgbClr val="EFEBE3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8" name="product-screen" descr="preencoded.png"/>
          <p:cNvPicPr>
            <a:picLocks noChangeAspect="1"/>
          </p:cNvPicPr>
          <p:nvPr/>
        </p:nvPicPr>
        <p:blipFill>
          <a:blip r:embed="rId3"/>
          <a:srcRect l="-17197" r="-17197"/>
          <a:stretch/>
        </p:blipFill>
        <p:spPr>
          <a:xfrm>
            <a:off x="10604500" y="787400"/>
            <a:ext cx="3911600" cy="756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screen-frame"/>
          <p:cNvSpPr/>
          <p:nvPr/>
        </p:nvSpPr>
        <p:spPr>
          <a:xfrm>
            <a:off x="1600200" y="660400"/>
            <a:ext cx="4191000" cy="7823200"/>
          </a:xfrm>
          <a:prstGeom prst="roundRect">
            <a:avLst>
              <a:gd name="adj" fmla="val 3030"/>
            </a:avLst>
          </a:prstGeom>
          <a:solidFill>
            <a:srgbClr val="EFEBE3"/>
          </a:solidFill>
          <a:ln w="12700">
            <a:solidFill>
              <a:srgbClr val="D9D2C5"/>
            </a:solidFill>
            <a:prstDash val="solid"/>
          </a:ln>
        </p:spPr>
      </p:sp>
      <p:pic>
        <p:nvPicPr>
          <p:cNvPr id="4" name="product-screen" descr="preencoded.png"/>
          <p:cNvPicPr>
            <a:picLocks noChangeAspect="1"/>
          </p:cNvPicPr>
          <p:nvPr/>
        </p:nvPicPr>
        <p:blipFill>
          <a:blip r:embed="rId3"/>
          <a:srcRect l="-20677" r="-20677"/>
          <a:stretch/>
        </p:blipFill>
        <p:spPr>
          <a:xfrm>
            <a:off x="1739900" y="787400"/>
            <a:ext cx="3911600" cy="7569200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493000" y="1333500"/>
            <a:ext cx="762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62"/>
              </a:lnSpc>
              <a:buNone/>
            </a:pPr>
            <a:r>
              <a:rPr lang="en-US" altLang="en-US" sz="54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Progress is more than compliance.</a:t>
            </a:r>
            <a:endParaRPr lang="en-US" sz="5400" dirty="0"/>
          </a:p>
        </p:txBody>
      </p:sp>
      <p:sp>
        <p:nvSpPr>
          <p:cNvPr id="6" name="subtitle"/>
          <p:cNvSpPr/>
          <p:nvPr/>
        </p:nvSpPr>
        <p:spPr>
          <a:xfrm>
            <a:off x="7493000" y="3530600"/>
            <a:ext cx="711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1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is visible.</a:t>
            </a:r>
            <a:endParaRPr lang="en-US" sz="3100" dirty="0"/>
          </a:p>
        </p:txBody>
      </p:sp>
      <p:sp>
        <p:nvSpPr>
          <p:cNvPr id="7" name="rule"/>
          <p:cNvSpPr/>
          <p:nvPr/>
        </p:nvSpPr>
        <p:spPr>
          <a:xfrm>
            <a:off x="7493000" y="4699000"/>
            <a:ext cx="7112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caption"/>
          <p:cNvSpPr/>
          <p:nvPr/>
        </p:nvSpPr>
        <p:spPr>
          <a:xfrm>
            <a:off x="7493000" y="52324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8"/>
              </a:lnSpc>
              <a:buNone/>
            </a:pPr>
            <a:r>
              <a:rPr lang="en-US" altLang="en-US" sz="2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consistent action and growth—not a score assigned to a person.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9F5D"/>
          </a:solidFill>
          <a:ln/>
        </p:spPr>
      </p:sp>
      <p:sp>
        <p:nvSpPr>
          <p:cNvPr id="3" name="label"/>
          <p:cNvSpPr/>
          <p:nvPr/>
        </p:nvSpPr>
        <p:spPr>
          <a:xfrm>
            <a:off x="1016000" y="1244600"/>
            <a:ext cx="965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C89F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CHRISTIAN AND HUMAN-DIGNITY STANDARD</a:t>
            </a:r>
            <a:endParaRPr lang="en-US" sz="2000" dirty="0"/>
          </a:p>
        </p:txBody>
      </p:sp>
      <p:sp>
        <p:nvSpPr>
          <p:cNvPr id="4" name="statement"/>
          <p:cNvSpPr/>
          <p:nvPr/>
        </p:nvSpPr>
        <p:spPr>
          <a:xfrm>
            <a:off x="1016000" y="2540000"/>
            <a:ext cx="1371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42"/>
              </a:lnSpc>
              <a:buNone/>
            </a:pPr>
            <a:r>
              <a:rPr lang="en-US" altLang="en-US" sz="5700" dirty="0">
                <a:solidFill>
                  <a:srgbClr val="F9F6F0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Dignity is inherent. It is not a score,</a:t>
            </a:r>
            <a:endParaRPr lang="en-US" sz="5700" dirty="0"/>
          </a:p>
          <a:p>
            <a:pPr marL="0" indent="0" algn="ctr">
              <a:lnSpc>
                <a:spcPts val="6042"/>
              </a:lnSpc>
              <a:buNone/>
            </a:pPr>
            <a:r>
              <a:rPr lang="en-US" altLang="en-US" sz="5700" dirty="0">
                <a:solidFill>
                  <a:srgbClr val="F9F6F0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a prediction, or a category.</a:t>
            </a:r>
            <a:endParaRPr lang="en-US" sz="5700" dirty="0"/>
          </a:p>
        </p:txBody>
      </p:sp>
      <p:sp>
        <p:nvSpPr>
          <p:cNvPr id="5" name="rule"/>
          <p:cNvSpPr/>
          <p:nvPr/>
        </p:nvSpPr>
        <p:spPr>
          <a:xfrm>
            <a:off x="2794000" y="5816600"/>
            <a:ext cx="10668000" cy="9144"/>
          </a:xfrm>
          <a:prstGeom prst="line">
            <a:avLst/>
          </a:prstGeom>
          <a:ln w="25400">
            <a:solidFill>
              <a:srgbClr val="D9D2C5">
                <a:alpha val="50000"/>
              </a:srgbClr>
            </a:solidFill>
            <a:prstDash val="solid"/>
          </a:ln>
        </p:spPr>
      </p:sp>
      <p:sp>
        <p:nvSpPr>
          <p:cNvPr id="6" name="supporting"/>
          <p:cNvSpPr/>
          <p:nvPr/>
        </p:nvSpPr>
        <p:spPr>
          <a:xfrm>
            <a:off x="1905000" y="6451600"/>
            <a:ext cx="1244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20"/>
              </a:lnSpc>
              <a:buNone/>
            </a:pPr>
            <a:r>
              <a:rPr lang="en-US" altLang="en-US" sz="310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should serve people without reducing people.</a:t>
            </a:r>
            <a:endParaRPr lang="en-US" sz="3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812800"/>
            <a:ext cx="13335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7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Before you build or deploy AI, ask:</a:t>
            </a:r>
            <a:endParaRPr lang="en-US" sz="4700" dirty="0"/>
          </a:p>
        </p:txBody>
      </p:sp>
      <p:sp>
        <p:nvSpPr>
          <p:cNvPr id="4" name="rule"/>
          <p:cNvSpPr/>
          <p:nvPr/>
        </p:nvSpPr>
        <p:spPr>
          <a:xfrm>
            <a:off x="762000" y="21082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5" name="number-one"/>
          <p:cNvSpPr/>
          <p:nvPr/>
        </p:nvSpPr>
        <p:spPr>
          <a:xfrm>
            <a:off x="762000" y="29718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C89F5D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question-one"/>
          <p:cNvSpPr/>
          <p:nvPr/>
        </p:nvSpPr>
        <p:spPr>
          <a:xfrm>
            <a:off x="2082800" y="2933700"/>
            <a:ext cx="1168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this system really serving?</a:t>
            </a:r>
            <a:endParaRPr lang="en-US" sz="3300" dirty="0"/>
          </a:p>
        </p:txBody>
      </p:sp>
      <p:sp>
        <p:nvSpPr>
          <p:cNvPr id="7" name="row-one-rule"/>
          <p:cNvSpPr/>
          <p:nvPr/>
        </p:nvSpPr>
        <p:spPr>
          <a:xfrm>
            <a:off x="2082800" y="4191000"/>
            <a:ext cx="1193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number-two"/>
          <p:cNvSpPr/>
          <p:nvPr/>
        </p:nvSpPr>
        <p:spPr>
          <a:xfrm>
            <a:off x="762000" y="46736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C89F5D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2</a:t>
            </a:r>
            <a:endParaRPr lang="en-US" sz="4600" dirty="0"/>
          </a:p>
        </p:txBody>
      </p:sp>
      <p:sp>
        <p:nvSpPr>
          <p:cNvPr id="9" name="question-two"/>
          <p:cNvSpPr/>
          <p:nvPr/>
        </p:nvSpPr>
        <p:spPr>
          <a:xfrm>
            <a:off x="2082800" y="4610100"/>
            <a:ext cx="1219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it understand the context of people's lives?</a:t>
            </a:r>
            <a:endParaRPr lang="en-US" sz="3300" dirty="0"/>
          </a:p>
        </p:txBody>
      </p:sp>
      <p:sp>
        <p:nvSpPr>
          <p:cNvPr id="10" name="row-two-rule"/>
          <p:cNvSpPr/>
          <p:nvPr/>
        </p:nvSpPr>
        <p:spPr>
          <a:xfrm>
            <a:off x="2082800" y="5969000"/>
            <a:ext cx="1193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11" name="number-three"/>
          <p:cNvSpPr/>
          <p:nvPr/>
        </p:nvSpPr>
        <p:spPr>
          <a:xfrm>
            <a:off x="762000" y="64516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C89F5D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question-three"/>
          <p:cNvSpPr/>
          <p:nvPr/>
        </p:nvSpPr>
        <p:spPr>
          <a:xfrm>
            <a:off x="2082800" y="6388100"/>
            <a:ext cx="1257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it support—and what must remain human?</a:t>
            </a:r>
            <a:endParaRPr lang="en-US" sz="3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812800"/>
            <a:ext cx="762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7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Keep asking:</a:t>
            </a:r>
            <a:endParaRPr lang="en-US" sz="4700" dirty="0"/>
          </a:p>
        </p:txBody>
      </p:sp>
      <p:sp>
        <p:nvSpPr>
          <p:cNvPr id="4" name="rule"/>
          <p:cNvSpPr/>
          <p:nvPr/>
        </p:nvSpPr>
        <p:spPr>
          <a:xfrm>
            <a:off x="762000" y="21082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5" name="number-four"/>
          <p:cNvSpPr/>
          <p:nvPr/>
        </p:nvSpPr>
        <p:spPr>
          <a:xfrm>
            <a:off x="762000" y="31242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C89F5D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question-four"/>
          <p:cNvSpPr/>
          <p:nvPr/>
        </p:nvSpPr>
        <p:spPr>
          <a:xfrm>
            <a:off x="2082800" y="3035300"/>
            <a:ext cx="12065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values are built into the way it works?</a:t>
            </a:r>
            <a:endParaRPr lang="en-US" sz="3300" dirty="0"/>
          </a:p>
        </p:txBody>
      </p:sp>
      <p:sp>
        <p:nvSpPr>
          <p:cNvPr id="7" name="row-one-rule"/>
          <p:cNvSpPr/>
          <p:nvPr/>
        </p:nvSpPr>
        <p:spPr>
          <a:xfrm>
            <a:off x="2082800" y="4470400"/>
            <a:ext cx="11938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8" name="number-five"/>
          <p:cNvSpPr/>
          <p:nvPr/>
        </p:nvSpPr>
        <p:spPr>
          <a:xfrm>
            <a:off x="762000" y="5054600"/>
            <a:ext cx="8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C89F5D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5</a:t>
            </a:r>
            <a:endParaRPr lang="en-US" sz="4600" dirty="0"/>
          </a:p>
        </p:txBody>
      </p:sp>
      <p:sp>
        <p:nvSpPr>
          <p:cNvPr id="9" name="question-five"/>
          <p:cNvSpPr/>
          <p:nvPr/>
        </p:nvSpPr>
        <p:spPr>
          <a:xfrm>
            <a:off x="2082800" y="4965700"/>
            <a:ext cx="1219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altLang="en-US" sz="33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we know it is helping—not just speeding up a process?</a:t>
            </a:r>
            <a:endParaRPr lang="en-US" sz="3300" dirty="0"/>
          </a:p>
        </p:txBody>
      </p:sp>
      <p:sp>
        <p:nvSpPr>
          <p:cNvPr id="10" name="footer-rule"/>
          <p:cNvSpPr/>
          <p:nvPr/>
        </p:nvSpPr>
        <p:spPr>
          <a:xfrm>
            <a:off x="762000" y="70104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11" name="closing"/>
          <p:cNvSpPr/>
          <p:nvPr/>
        </p:nvSpPr>
        <p:spPr>
          <a:xfrm>
            <a:off x="762000" y="75184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test before you build, buy, deploy, or approve AI.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dge-lin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A2033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7874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55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Stay Connected</a:t>
            </a:r>
            <a:endParaRPr lang="en-US" sz="5500" dirty="0"/>
          </a:p>
        </p:txBody>
      </p:sp>
      <p:sp>
        <p:nvSpPr>
          <p:cNvPr id="4" name="supporting"/>
          <p:cNvSpPr/>
          <p:nvPr/>
        </p:nvSpPr>
        <p:spPr>
          <a:xfrm>
            <a:off x="762000" y="19050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0"/>
              </a:lnSpc>
              <a:buNone/>
            </a:pPr>
            <a:r>
              <a:rPr lang="en-US" altLang="en-US" sz="29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for the handout, the five-question test, and other resources.</a:t>
            </a:r>
            <a:endParaRPr lang="en-US" sz="2900" dirty="0"/>
          </a:p>
        </p:txBody>
      </p:sp>
      <p:sp>
        <p:nvSpPr>
          <p:cNvPr id="5" name="contact-rule"/>
          <p:cNvSpPr/>
          <p:nvPr/>
        </p:nvSpPr>
        <p:spPr>
          <a:xfrm>
            <a:off x="762000" y="3352800"/>
            <a:ext cx="6477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6" name="name"/>
          <p:cNvSpPr/>
          <p:nvPr/>
        </p:nvSpPr>
        <p:spPr>
          <a:xfrm>
            <a:off x="762000" y="3835400"/>
            <a:ext cx="6350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1A2438"/>
                </a:solidFill>
                <a:latin typeface="Lora" pitchFamily="34" charset="0"/>
                <a:ea typeface="Microsoft YaHei" pitchFamily="34" charset="-122"/>
                <a:cs typeface="Lora" pitchFamily="34" charset="-120"/>
              </a:rPr>
              <a:t>Sandra E. Mosley</a:t>
            </a:r>
            <a:endParaRPr lang="en-US" sz="3400" dirty="0"/>
          </a:p>
        </p:txBody>
      </p:sp>
      <p:sp>
        <p:nvSpPr>
          <p:cNvPr id="7" name="organization"/>
          <p:cNvSpPr/>
          <p:nvPr/>
        </p:nvSpPr>
        <p:spPr>
          <a:xfrm>
            <a:off x="762000" y="4546600"/>
            <a:ext cx="635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Choice Together</a:t>
            </a:r>
            <a:endParaRPr lang="en-US" sz="2700" dirty="0"/>
          </a:p>
        </p:txBody>
      </p:sp>
      <p:sp>
        <p:nvSpPr>
          <p:cNvPr id="8" name="email"/>
          <p:cNvSpPr/>
          <p:nvPr/>
        </p:nvSpPr>
        <p:spPr>
          <a:xfrm>
            <a:off x="762000" y="55753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sandra@firstchoicetogether.com</a:t>
            </a:r>
            <a:endParaRPr lang="en-US" sz="2400" dirty="0"/>
          </a:p>
        </p:txBody>
      </p:sp>
      <p:sp>
        <p:nvSpPr>
          <p:cNvPr id="9" name="website"/>
          <p:cNvSpPr/>
          <p:nvPr/>
        </p:nvSpPr>
        <p:spPr>
          <a:xfrm>
            <a:off x="762000" y="61722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firstchoicetogether.com</a:t>
            </a:r>
            <a:endParaRPr lang="en-US" sz="2400" dirty="0"/>
          </a:p>
        </p:txBody>
      </p:sp>
      <p:sp>
        <p:nvSpPr>
          <p:cNvPr id="10" name="linkedin"/>
          <p:cNvSpPr/>
          <p:nvPr/>
        </p:nvSpPr>
        <p:spPr>
          <a:xfrm>
            <a:off x="762000" y="67691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1A24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linkedin.com/in/sandraemosley</a:t>
            </a:r>
            <a:endParaRPr lang="en-US" sz="2400" dirty="0"/>
          </a:p>
        </p:txBody>
      </p:sp>
      <p:sp>
        <p:nvSpPr>
          <p:cNvPr id="11" name="qr-placeholder"/>
          <p:cNvSpPr/>
          <p:nvPr/>
        </p:nvSpPr>
        <p:spPr>
          <a:xfrm>
            <a:off x="10541000" y="1828800"/>
            <a:ext cx="3556000" cy="3556000"/>
          </a:xfrm>
          <a:prstGeom prst="roundRect">
            <a:avLst>
              <a:gd name="adj" fmla="val 1429"/>
            </a:avLst>
          </a:prstGeom>
          <a:solidFill>
            <a:srgbClr val="EFEBE3"/>
          </a:solidFill>
          <a:ln w="38100">
            <a:solidFill>
              <a:srgbClr val="C89F5D"/>
            </a:solidFill>
            <a:prstDash val="solid"/>
          </a:ln>
        </p:spPr>
      </p:sp>
      <p:sp>
        <p:nvSpPr>
          <p:cNvPr id="13" name="qr-url"/>
          <p:cNvSpPr/>
          <p:nvPr/>
        </p:nvSpPr>
        <p:spPr>
          <a:xfrm>
            <a:off x="9906000" y="58166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footer-rule"/>
          <p:cNvSpPr/>
          <p:nvPr/>
        </p:nvSpPr>
        <p:spPr>
          <a:xfrm>
            <a:off x="762000" y="7747000"/>
            <a:ext cx="14224000" cy="9144"/>
          </a:xfrm>
          <a:prstGeom prst="line">
            <a:avLst/>
          </a:prstGeom>
          <a:ln w="25400">
            <a:solidFill>
              <a:srgbClr val="D9D2C5"/>
            </a:solidFill>
            <a:prstDash val="solid"/>
          </a:ln>
        </p:spPr>
      </p:sp>
      <p:sp>
        <p:nvSpPr>
          <p:cNvPr id="15" name="closing"/>
          <p:cNvSpPr/>
          <p:nvPr/>
        </p:nvSpPr>
        <p:spPr>
          <a:xfrm>
            <a:off x="762000" y="8153400"/>
            <a:ext cx="1422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700" dirty="0">
                <a:solidFill>
                  <a:srgbClr val="7A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bridge we are responsible for building.</a:t>
            </a:r>
            <a:endParaRPr lang="en-US" sz="2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E3CFDD-7175-11C8-64B1-C0E357DB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463" y="1494263"/>
            <a:ext cx="4225073" cy="4225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587</Words>
  <Application>Microsoft Office PowerPoint</Application>
  <PresentationFormat>Custom</PresentationFormat>
  <Paragraphs>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a Bridge: Supporting Human Dignity in Justice-Impacted Communities</dc:title>
  <dc:subject>AI as a Bridge: Supporting Human Dignity in Justice-Impacted Communities</dc:subject>
  <dc:creator>Manus</dc:creator>
  <cp:lastModifiedBy>Sandra Mosley</cp:lastModifiedBy>
  <cp:revision>3</cp:revision>
  <dcterms:created xsi:type="dcterms:W3CDTF">2026-10-06T03:46:37Z</dcterms:created>
  <dcterms:modified xsi:type="dcterms:W3CDTF">2026-10-07T02:50:05Z</dcterms:modified>
</cp:coreProperties>
</file>