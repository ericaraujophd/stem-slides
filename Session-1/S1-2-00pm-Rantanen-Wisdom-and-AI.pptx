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59" r:id="rId4"/>
    <p:sldId id="257" r:id="rId5"/>
    <p:sldId id="260" r:id="rId6"/>
    <p:sldId id="264" r:id="rId7"/>
    <p:sldId id="263" r:id="rId8"/>
    <p:sldId id="262" r:id="rId9"/>
    <p:sldId id="337" r:id="rId10"/>
    <p:sldId id="40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40"/>
    <p:restoredTop sz="85230"/>
  </p:normalViewPr>
  <p:slideViewPr>
    <p:cSldViewPr snapToGrid="0">
      <p:cViewPr varScale="1">
        <p:scale>
          <a:sx n="100" d="100"/>
          <a:sy n="100" d="100"/>
        </p:scale>
        <p:origin x="192" y="10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B4B92B-3657-0F43-B7F5-51E84372277A}" type="datetimeFigureOut">
              <a:rPr lang="en-US" smtClean="0"/>
              <a:t>10/5/26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9E3519-CF52-BE4E-8B3C-AB0E44642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283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lvl="0" indent="-228600">
              <a:buFont typeface="Arial" panose="020B0604020202020204" pitchFamily="34" charset="0"/>
              <a:buChar char="•"/>
            </a:pPr>
            <a:r>
              <a:rPr lang="en-US" dirty="0"/>
              <a:t>Thomas Hobbes, 1588-1679: Description of the human body in strictly mechanistic terms, as strings and wheels responsible for its motion</a:t>
            </a:r>
          </a:p>
          <a:p>
            <a:pPr marL="228600" lvl="0" indent="-228600">
              <a:buFont typeface="Arial" panose="020B0604020202020204" pitchFamily="34" charset="0"/>
              <a:buChar char="•"/>
            </a:pPr>
            <a:r>
              <a:rPr lang="en-US" dirty="0"/>
              <a:t>Sir Isaac Newton, 1643-1727: </a:t>
            </a:r>
            <a:r>
              <a:rPr lang="en-US" dirty="0" err="1"/>
              <a:t>Philosophiæ</a:t>
            </a:r>
            <a:r>
              <a:rPr lang="en-US" dirty="0"/>
              <a:t> Naturalis Principia Mathematica. Unification of physics. Classical mechanics</a:t>
            </a:r>
          </a:p>
          <a:p>
            <a:pPr marL="228600" lvl="0" indent="-228600">
              <a:buFont typeface="Arial" panose="020B0604020202020204" pitchFamily="34" charset="0"/>
              <a:buChar char="•"/>
            </a:pPr>
            <a:r>
              <a:rPr lang="en-US" dirty="0"/>
              <a:t>Pierre-Simon, Marquis de Laplace 1749 –1827: </a:t>
            </a:r>
            <a:r>
              <a:rPr lang="en-US" dirty="0" err="1"/>
              <a:t>Mécanique</a:t>
            </a:r>
            <a:r>
              <a:rPr lang="en-US" dirty="0"/>
              <a:t> céleste (Celestial Mechanics). With Lavoisier explained animal respiration in terms of combustion using atmospheric oxygen</a:t>
            </a:r>
          </a:p>
          <a:p>
            <a:pPr marL="228600" lvl="0" indent="-228600">
              <a:buFont typeface="Arial" panose="020B0604020202020204" pitchFamily="34" charset="0"/>
              <a:buChar char="•"/>
            </a:pPr>
            <a:r>
              <a:rPr lang="en-US" dirty="0"/>
              <a:t>Herbert Simon (1916—2001): Nobel prize in Economics 1978</a:t>
            </a:r>
          </a:p>
          <a:p>
            <a:pPr marL="228600" lvl="0" indent="-228600">
              <a:buFont typeface="Arial" panose="020B0604020202020204" pitchFamily="34" charset="0"/>
              <a:buChar char="•"/>
            </a:pPr>
            <a:r>
              <a:rPr lang="en-US" dirty="0"/>
              <a:t>Allen Newell (1927—1992): ACM Turing Award in 1975 with Simon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1200" dirty="0">
                <a:latin typeface="Helvetica Neue Light" panose="02000403000000020004" pitchFamily="2" charset="0"/>
              </a:rPr>
              <a:t>Claude Shannon, Apr 30, 1916 – Feb 24, 2001: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“Human is a machine” </a:t>
            </a:r>
          </a:p>
          <a:p>
            <a:pPr marL="228600" lvl="0" indent="-228600">
              <a:buFont typeface="Arial" panose="020B0604020202020204" pitchFamily="34" charset="0"/>
              <a:buChar char="•"/>
            </a:pPr>
            <a:endParaRPr lang="en-US" dirty="0"/>
          </a:p>
          <a:p>
            <a:pPr marL="228600" lvl="0" indent="-228600">
              <a:buFont typeface="Arial" panose="020B0604020202020204" pitchFamily="34" charset="0"/>
              <a:buChar char="•"/>
            </a:pPr>
            <a:endParaRPr lang="en-US" dirty="0"/>
          </a:p>
          <a:p>
            <a:pPr marL="228600" lvl="0" indent="-228600">
              <a:buFont typeface="Arial" panose="020B0604020202020204" pitchFamily="34" charset="0"/>
              <a:buChar char="•"/>
            </a:pPr>
            <a:endParaRPr lang="en-US" dirty="0"/>
          </a:p>
          <a:p>
            <a:pPr marL="228600" lvl="0" indent="-228600">
              <a:buFont typeface="Arial" panose="020B0604020202020204" pitchFamily="34" charset="0"/>
              <a:buChar char="•"/>
            </a:pPr>
            <a:endParaRPr lang="en-US" dirty="0"/>
          </a:p>
          <a:p>
            <a:pPr marL="228600" lvl="0" indent="-22860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9E3519-CF52-BE4E-8B3C-AB0E446429C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2880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9E3519-CF52-BE4E-8B3C-AB0E446429C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6382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8072D0-CA32-EF4C-BB7B-9AD6FFD3A3A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5823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09175-426C-610E-CBB6-300A9D0696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0" i="0">
                <a:latin typeface="Helvetica Light" panose="020B0403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ADE738-0953-2C56-CAD5-E0A58BF8CC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="0" i="0">
                <a:latin typeface="Helvetica Light" panose="020B0403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4BB091-294F-ADED-1060-517335897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Helvetica Light" panose="020B0403020202020204" pitchFamily="34" charset="0"/>
              </a:defRPr>
            </a:lvl1pPr>
          </a:lstStyle>
          <a:p>
            <a:fld id="{C3B11264-FBA0-C64D-9713-315C35CB5D2C}" type="datetimeFigureOut">
              <a:rPr lang="en-US" smtClean="0"/>
              <a:pPr/>
              <a:t>10/5/26</a:t>
            </a:fld>
            <a:endParaRPr lang="en-US">
              <a:latin typeface="Helvetica Light" panose="020B0403020202020204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5F644-7013-E259-D42F-FE4E184C0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Helvetica Light" panose="020B0403020202020204" pitchFamily="34" charset="0"/>
              </a:defRPr>
            </a:lvl1pPr>
          </a:lstStyle>
          <a:p>
            <a:endParaRPr lang="en-US">
              <a:latin typeface="Helvetica Light" panose="020B0403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8ED254-5635-99D2-F2BD-3786A0DE3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Helvetica Light" panose="020B0403020202020204" pitchFamily="34" charset="0"/>
              </a:defRPr>
            </a:lvl1pPr>
          </a:lstStyle>
          <a:p>
            <a:fld id="{ED00A8A3-CEFC-CE47-AD5D-B09C9D9E4FDF}" type="slidenum">
              <a:rPr lang="en-US" smtClean="0"/>
              <a:pPr/>
              <a:t>‹#›</a:t>
            </a:fld>
            <a:endParaRPr lang="en-US">
              <a:latin typeface="Helvetica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0135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AF641-D365-0B91-92B6-0F21DCE1B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Helvetica Light" panose="020B0403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82333-FEBF-209A-715D-F9CDD1CF48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 b="0" i="0">
                <a:latin typeface="Helvetica Light" panose="020B0403020202020204" pitchFamily="34" charset="0"/>
              </a:defRPr>
            </a:lvl1pPr>
            <a:lvl2pPr>
              <a:defRPr sz="2000" b="0" i="0">
                <a:latin typeface="Helvetica Light" panose="020B0403020202020204" pitchFamily="34" charset="0"/>
              </a:defRPr>
            </a:lvl2pPr>
            <a:lvl3pPr>
              <a:defRPr sz="1800" b="0" i="0">
                <a:latin typeface="Helvetica Light" panose="020B0403020202020204" pitchFamily="34" charset="0"/>
              </a:defRPr>
            </a:lvl3pPr>
            <a:lvl4pPr>
              <a:defRPr sz="1600" b="0" i="0">
                <a:latin typeface="Helvetica Light" panose="020B0403020202020204" pitchFamily="34" charset="0"/>
              </a:defRPr>
            </a:lvl4pPr>
            <a:lvl5pPr>
              <a:defRPr sz="1600" b="0" i="0">
                <a:latin typeface="Helvetica Light" panose="020B0403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122381-F59B-A0AE-20A8-D0F25E0DA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Helvetica Light" panose="020B0403020202020204" pitchFamily="34" charset="0"/>
              </a:defRPr>
            </a:lvl1pPr>
          </a:lstStyle>
          <a:p>
            <a:fld id="{C3B11264-FBA0-C64D-9713-315C35CB5D2C}" type="datetimeFigureOut">
              <a:rPr lang="en-US" smtClean="0"/>
              <a:pPr/>
              <a:t>10/5/26</a:t>
            </a:fld>
            <a:endParaRPr lang="en-US">
              <a:latin typeface="Helvetica Light" panose="020B0403020202020204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7D73CB-7B45-6C2E-6E52-12EEC72A1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Helvetica Light" panose="020B0403020202020204" pitchFamily="34" charset="0"/>
              </a:defRPr>
            </a:lvl1pPr>
          </a:lstStyle>
          <a:p>
            <a:endParaRPr lang="en-US">
              <a:latin typeface="Helvetica Light" panose="020B0403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47C8BF-C15B-4242-5A28-96BBCA89F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Helvetica Light" panose="020B0403020202020204" pitchFamily="34" charset="0"/>
              </a:defRPr>
            </a:lvl1pPr>
          </a:lstStyle>
          <a:p>
            <a:fld id="{ED00A8A3-CEFC-CE47-AD5D-B09C9D9E4FDF}" type="slidenum">
              <a:rPr lang="en-US" smtClean="0"/>
              <a:pPr/>
              <a:t>‹#›</a:t>
            </a:fld>
            <a:endParaRPr lang="en-US">
              <a:latin typeface="Helvetica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4853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3C397-A756-2271-F1E9-4DB4D5353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5721E1-BC63-C70B-27BC-D70FD626CF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F00463-A17B-C08F-16DB-64D4F2479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11264-FBA0-C64D-9713-315C35CB5D2C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3F9CE1-E1E9-582A-194D-65F14A3BA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459979-24B2-86E4-945B-08EEDCEEC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0A8A3-CEFC-CE47-AD5D-B09C9D9E4F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208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C0CF6-4849-CFD2-3B43-7FFCA6374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5AEFDE-6792-1870-BB84-22B8B7042E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666526-2EDB-43C2-CF21-833ED3B4BE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765B58-0339-EB23-0BB9-74BBC217F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11264-FBA0-C64D-9713-315C35CB5D2C}" type="datetimeFigureOut">
              <a:rPr lang="en-US" smtClean="0"/>
              <a:t>10/5/26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7B97F6-9961-A0FB-BCCC-3A4391277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CEC08A-EA59-2C81-8EE1-631C39AAF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0A8A3-CEFC-CE47-AD5D-B09C9D9E4F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598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96D92-0057-1A66-24FE-9AAE35E7A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BB3EE5-F553-9776-4DA8-11B19791A5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E4B9C6-0134-321C-ECEF-E30450EF41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918BB1-2DE1-E2BB-501E-5B48CF3835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371EB8-EE61-9202-B65E-0A5C197C93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28453B-5206-A2EA-343D-3C9DE0CB2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11264-FBA0-C64D-9713-315C35CB5D2C}" type="datetimeFigureOut">
              <a:rPr lang="en-US" smtClean="0"/>
              <a:t>10/5/26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6E90C3-CCF5-FF88-45CC-18F5AFD11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8BD39B-9B5F-4A90-1DD2-1C7A77E7D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0A8A3-CEFC-CE47-AD5D-B09C9D9E4F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515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99112-5BB1-1C0A-D5BF-FC955A5BC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467A81-5B6B-3937-40B8-EA02DB8F0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11264-FBA0-C64D-9713-315C35CB5D2C}" type="datetimeFigureOut">
              <a:rPr lang="en-US" smtClean="0"/>
              <a:t>10/5/26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16985A-1AB4-1106-6021-A78E77A44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5B27E8-709C-ECBD-E1A3-0E098212D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0A8A3-CEFC-CE47-AD5D-B09C9D9E4F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907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A9CEFA-BBA2-BCC9-9192-392449D45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11264-FBA0-C64D-9713-315C35CB5D2C}" type="datetimeFigureOut">
              <a:rPr lang="en-US" smtClean="0"/>
              <a:t>10/5/26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53C042-B920-D9F1-06A7-F0CD5C50B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672C23-94A4-4DE1-E7B8-C57BD5F60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0A8A3-CEFC-CE47-AD5D-B09C9D9E4F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882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EDD52-E4F6-A0D9-96E1-38DB54EEA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2BE9A3-8E11-6F62-6F4D-DF7BEB9F5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292967-389E-3BCD-EA3E-89091B6F3E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86BCB4-8E3A-3FA1-900F-4CED33D8B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11264-FBA0-C64D-9713-315C35CB5D2C}" type="datetimeFigureOut">
              <a:rPr lang="en-US" smtClean="0"/>
              <a:t>10/5/26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F3AEB4-410F-937A-382B-174623F15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1C6743-237E-D5C6-74ED-47DD46780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0A8A3-CEFC-CE47-AD5D-B09C9D9E4F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434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9AF00-6D46-ED2B-5830-4C758FF8A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D74624-A808-F927-A7E6-A58645E009C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6AA3BF-C79F-98AB-E95F-6575197417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DECB12-7AB2-EE0F-0730-13050B176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11264-FBA0-C64D-9713-315C35CB5D2C}" type="datetimeFigureOut">
              <a:rPr lang="en-US" smtClean="0"/>
              <a:t>10/5/26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A8A39B-7171-5B89-0E9F-7A7698A07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3D790A-80EF-1A65-256A-D674465BB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0A8A3-CEFC-CE47-AD5D-B09C9D9E4F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155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34C9D-0DE9-B341-81E9-0F4DA21E5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5392B9-2E88-B3D7-7A2F-15BF9749F0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4EC002-2F7D-6B52-DBAC-483637D1B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11264-FBA0-C64D-9713-315C35CB5D2C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4C119-8F4A-87EC-5385-FE38E447F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A62A6F-9C0B-42B2-4BE8-52B2687D5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0A8A3-CEFC-CE47-AD5D-B09C9D9E4F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521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6C739C-C85F-6406-ED5A-BA933B04BD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13784B-E5D8-4838-33A9-69CB3FF988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4156B4-E663-721E-600E-721085FBE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11264-FBA0-C64D-9713-315C35CB5D2C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AE115-9D46-9F99-5666-646DB5033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70D45-D026-7BA0-48CF-5DA99FE37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0A8A3-CEFC-CE47-AD5D-B09C9D9E4F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742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03E516-412D-91F0-E5C8-F581F8BA6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70B2DC-C0E8-C842-D3F9-9AEC6F1D2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DED5FA-D1D3-72D4-5623-C960197FBA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B11264-FBA0-C64D-9713-315C35CB5D2C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4FABD-3A55-876A-B865-DACC028030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0D4664-F4B1-331B-A307-FF68E6C7A9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00A8A3-CEFC-CE47-AD5D-B09C9D9E4F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122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4D4F6-0F17-0AB1-B9B5-95B444D371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Man as a Machine:</a:t>
            </a:r>
            <a:br>
              <a:rPr lang="en-US" dirty="0"/>
            </a:br>
            <a:r>
              <a:rPr lang="en-US" dirty="0"/>
              <a:t>Artificial Intelligence </a:t>
            </a:r>
            <a:br>
              <a:rPr lang="en-US" dirty="0"/>
            </a:br>
            <a:r>
              <a:rPr lang="en-US" dirty="0"/>
              <a:t>and the Image of Man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C89992-CD91-A355-EEE5-FE748BE9F7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92138"/>
            <a:ext cx="9144000" cy="2387600"/>
          </a:xfrm>
        </p:spPr>
        <p:txBody>
          <a:bodyPr>
            <a:normAutofit/>
          </a:bodyPr>
          <a:lstStyle/>
          <a:p>
            <a:r>
              <a:rPr lang="en-US" sz="2800" dirty="0"/>
              <a:t>Esa M. Rantanen, PhD, CPE</a:t>
            </a:r>
            <a:br>
              <a:rPr lang="en-US" dirty="0"/>
            </a:br>
            <a:endParaRPr lang="en-US" dirty="0"/>
          </a:p>
          <a:p>
            <a:r>
              <a:rPr lang="en-US" dirty="0"/>
              <a:t>Rochester Institute of Technology</a:t>
            </a:r>
          </a:p>
          <a:p>
            <a:r>
              <a:rPr lang="en-US" dirty="0"/>
              <a:t>Rochester, NY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1435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30D43-758F-A4E0-8B29-58F8D0881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Argument in Three Parts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9E9F5-E53F-7694-CE96-7FEDCD97F4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3200" dirty="0"/>
              <a:t>A long history of the materialistic worldview</a:t>
            </a:r>
            <a:br>
              <a:rPr lang="en-US" sz="3200" dirty="0"/>
            </a:br>
            <a:endParaRPr lang="en-US" sz="3200" dirty="0"/>
          </a:p>
          <a:p>
            <a:pPr marL="457200" indent="-457200">
              <a:buFont typeface="+mj-lt"/>
              <a:buAutoNum type="arabicPeriod"/>
            </a:pPr>
            <a:r>
              <a:rPr lang="en-US" sz="3200" dirty="0"/>
              <a:t>We have been warned!</a:t>
            </a:r>
            <a:br>
              <a:rPr lang="en-US" sz="3200" dirty="0"/>
            </a:br>
            <a:endParaRPr lang="en-US" sz="3200" dirty="0"/>
          </a:p>
          <a:p>
            <a:pPr marL="457200" indent="-457200">
              <a:buFont typeface="+mj-lt"/>
              <a:buAutoNum type="arabicPeriod"/>
            </a:pPr>
            <a:r>
              <a:rPr lang="en-US" sz="3200" dirty="0"/>
              <a:t>Surrender is a choice!</a:t>
            </a:r>
          </a:p>
        </p:txBody>
      </p:sp>
    </p:spTree>
    <p:extLst>
      <p:ext uri="{BB962C8B-B14F-4D97-AF65-F5344CB8AC3E}">
        <p14:creationId xmlns:p14="http://schemas.microsoft.com/office/powerpoint/2010/main" val="3393320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04340-605D-D084-E2ED-A28A724E7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58625" cy="1325563"/>
          </a:xfrm>
        </p:spPr>
        <p:txBody>
          <a:bodyPr/>
          <a:lstStyle/>
          <a:p>
            <a:r>
              <a:rPr lang="en-US" dirty="0"/>
              <a:t>A long history of the materialistic worldview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DA351D-99F6-2151-93B6-81D5396462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59865"/>
            <a:ext cx="2502568" cy="3313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B872CDC-E533-041F-4591-0089AB9407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2440" y="1459866"/>
            <a:ext cx="2758832" cy="33216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168E54E-5D63-8F0F-ED20-402219D9E6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1144" y="1459865"/>
            <a:ext cx="2835833" cy="33235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FA5B774-4386-59EC-4CFD-B67963EB91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2346" y="3975234"/>
            <a:ext cx="1969102" cy="2882766"/>
          </a:xfrm>
          <a:prstGeom prst="rect">
            <a:avLst/>
          </a:prstGeom>
        </p:spPr>
      </p:pic>
      <p:pic>
        <p:nvPicPr>
          <p:cNvPr id="8" name="Content Placeholder 6">
            <a:extLst>
              <a:ext uri="{FF2B5EF4-FFF2-40B4-BE49-F238E27FC236}">
                <a16:creationId xmlns:a16="http://schemas.microsoft.com/office/drawing/2014/main" id="{1FDE0AAB-3AE5-00AA-8FCF-F9CB4FEBA43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01321" y="3975234"/>
            <a:ext cx="2332620" cy="2882766"/>
          </a:xfrm>
          <a:prstGeom prst="rect">
            <a:avLst/>
          </a:prstGeom>
        </p:spPr>
      </p:pic>
      <p:pic>
        <p:nvPicPr>
          <p:cNvPr id="9" name="Content Placeholder 6">
            <a:extLst>
              <a:ext uri="{FF2B5EF4-FFF2-40B4-BE49-F238E27FC236}">
                <a16:creationId xmlns:a16="http://schemas.microsoft.com/office/drawing/2014/main" id="{DC5CF8C8-831A-6DD5-55EA-3EE66BFCFE0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643" b="12643"/>
          <a:stretch>
            <a:fillRect/>
          </a:stretch>
        </p:blipFill>
        <p:spPr>
          <a:xfrm>
            <a:off x="8148598" y="3975234"/>
            <a:ext cx="2572345" cy="2882766"/>
          </a:xfrm>
        </p:spPr>
      </p:pic>
    </p:spTree>
    <p:extLst>
      <p:ext uri="{BB962C8B-B14F-4D97-AF65-F5344CB8AC3E}">
        <p14:creationId xmlns:p14="http://schemas.microsoft.com/office/powerpoint/2010/main" val="2172569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416D-5198-F180-11F1-DFC796B1C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Myth of the Machine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CE62B3-719C-B1AD-D834-B7192945F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12270"/>
            <a:ext cx="5341434" cy="53414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31BE89F-609E-E258-EE7F-554549962D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8792" y="1512270"/>
            <a:ext cx="5573208" cy="5345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096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B3397-C072-A2E4-1F05-7D5969CAE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Have Been Warned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C34F95-B28E-C058-0414-BF4BCC1FE6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54523"/>
            <a:ext cx="2955157" cy="39992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53155AA-5B31-4E6A-99AA-552EF3D476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7794" y="1554523"/>
            <a:ext cx="2704456" cy="399925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8F08D98-A9DD-09E8-4770-4EE4FFBA92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4888" y="1554523"/>
            <a:ext cx="2631222" cy="4000169"/>
          </a:xfrm>
          <a:prstGeom prst="rect">
            <a:avLst/>
          </a:prstGeom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26299BE7-880B-AC92-EAA8-F78CB0711B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3155" y="4808718"/>
            <a:ext cx="2920726" cy="20492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8637178-43C6-FDB1-AA28-39D210E3C9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802777"/>
            <a:ext cx="4876800" cy="205522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A6B11CD-7570-0EAD-0E2E-9D02E960622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0" y="3330424"/>
            <a:ext cx="2351717" cy="3527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796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96B5C-D5F3-C4EE-B2A4-196AEA638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Human Roles in Interactions with AI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2FEBA2B-7580-F212-C5ED-D9C4C4468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0674" y="1690688"/>
            <a:ext cx="8177279" cy="4710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4010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0194B-9103-E411-9F2E-FA9500601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Surrender is a Choice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7805AFD-2AF6-001A-DA2A-3B872BA0B121}"/>
              </a:ext>
            </a:extLst>
          </p:cNvPr>
          <p:cNvGrpSpPr/>
          <p:nvPr/>
        </p:nvGrpSpPr>
        <p:grpSpPr>
          <a:xfrm>
            <a:off x="2336800" y="1690688"/>
            <a:ext cx="8159776" cy="4417996"/>
            <a:chOff x="2336800" y="1690688"/>
            <a:chExt cx="8159776" cy="4417996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7651FDFE-8A3E-58F8-56F9-24A3E60AA56A}"/>
                </a:ext>
              </a:extLst>
            </p:cNvPr>
            <p:cNvGrpSpPr/>
            <p:nvPr/>
          </p:nvGrpSpPr>
          <p:grpSpPr>
            <a:xfrm>
              <a:off x="2336800" y="1690688"/>
              <a:ext cx="8159776" cy="4417996"/>
              <a:chOff x="2336800" y="1690688"/>
              <a:chExt cx="8159776" cy="4417996"/>
            </a:xfrm>
          </p:grpSpPr>
          <p:cxnSp>
            <p:nvCxnSpPr>
              <p:cNvPr id="6" name="Straight Arrow Connector 5">
                <a:extLst>
                  <a:ext uri="{FF2B5EF4-FFF2-40B4-BE49-F238E27FC236}">
                    <a16:creationId xmlns:a16="http://schemas.microsoft.com/office/drawing/2014/main" id="{407E2DFB-D0D1-63F7-E0CF-00144BBD7E16}"/>
                  </a:ext>
                </a:extLst>
              </p:cNvPr>
              <p:cNvCxnSpPr/>
              <p:nvPr/>
            </p:nvCxnSpPr>
            <p:spPr>
              <a:xfrm flipV="1">
                <a:off x="9838356" y="1690688"/>
                <a:ext cx="0" cy="4417996"/>
              </a:xfrm>
              <a:prstGeom prst="straightConnector1">
                <a:avLst/>
              </a:prstGeom>
              <a:ln w="25400">
                <a:solidFill>
                  <a:schemeClr val="tx1">
                    <a:lumMod val="50000"/>
                    <a:lumOff val="50000"/>
                  </a:schemeClr>
                </a:solidFill>
                <a:headEnd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0A86976-F6E5-E1EF-DC2A-858CD6CD767E}"/>
                  </a:ext>
                </a:extLst>
              </p:cNvPr>
              <p:cNvSpPr txBox="1"/>
              <p:nvPr/>
            </p:nvSpPr>
            <p:spPr>
              <a:xfrm rot="5400000">
                <a:off x="9164320" y="3198166"/>
                <a:ext cx="220284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>
                    <a:solidFill>
                      <a:srgbClr val="C00000"/>
                    </a:solidFill>
                    <a:latin typeface="Helvetica" pitchFamily="2" charset="0"/>
                  </a:rPr>
                  <a:t>Human Image</a:t>
                </a:r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CA12B9AC-7C0C-7AEF-8E99-6B9E37BE028B}"/>
                  </a:ext>
                </a:extLst>
              </p:cNvPr>
              <p:cNvSpPr/>
              <p:nvPr/>
            </p:nvSpPr>
            <p:spPr>
              <a:xfrm>
                <a:off x="2336800" y="2032000"/>
                <a:ext cx="5829297" cy="1917700"/>
              </a:xfrm>
              <a:custGeom>
                <a:avLst/>
                <a:gdLst>
                  <a:gd name="csX0" fmla="*/ 0 w 6540500"/>
                  <a:gd name="csY0" fmla="*/ 0 h 1917700"/>
                  <a:gd name="csX1" fmla="*/ 4724400 w 6540500"/>
                  <a:gd name="csY1" fmla="*/ 406400 h 1917700"/>
                  <a:gd name="csX2" fmla="*/ 6540500 w 6540500"/>
                  <a:gd name="csY2" fmla="*/ 1917700 h 1917700"/>
                  <a:gd name="csX3" fmla="*/ 6540500 w 6540500"/>
                  <a:gd name="csY3" fmla="*/ 1917700 h 19177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540500" h="1917700">
                    <a:moveTo>
                      <a:pt x="0" y="0"/>
                    </a:moveTo>
                    <a:cubicBezTo>
                      <a:pt x="1817158" y="43391"/>
                      <a:pt x="3634317" y="86783"/>
                      <a:pt x="4724400" y="406400"/>
                    </a:cubicBezTo>
                    <a:cubicBezTo>
                      <a:pt x="5814483" y="726017"/>
                      <a:pt x="6540500" y="1917700"/>
                      <a:pt x="6540500" y="1917700"/>
                    </a:cubicBezTo>
                    <a:lnTo>
                      <a:pt x="6540500" y="1917700"/>
                    </a:lnTo>
                  </a:path>
                </a:pathLst>
              </a:custGeom>
              <a:noFill/>
              <a:ln w="3810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4D11D919-FA35-6942-4F34-6FF143EEEEAC}"/>
                </a:ext>
              </a:extLst>
            </p:cNvPr>
            <p:cNvCxnSpPr>
              <a:cxnSpLocks/>
            </p:cNvCxnSpPr>
            <p:nvPr/>
          </p:nvCxnSpPr>
          <p:spPr>
            <a:xfrm>
              <a:off x="8202838" y="4025914"/>
              <a:ext cx="716831" cy="1206486"/>
            </a:xfrm>
            <a:prstGeom prst="straightConnector1">
              <a:avLst/>
            </a:prstGeom>
            <a:ln w="38100">
              <a:solidFill>
                <a:srgbClr val="C00000"/>
              </a:solidFill>
              <a:prstDash val="lg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CDCB8A6-B666-C3A5-E12B-2D5804E5AA39}"/>
              </a:ext>
            </a:extLst>
          </p:cNvPr>
          <p:cNvGrpSpPr/>
          <p:nvPr/>
        </p:nvGrpSpPr>
        <p:grpSpPr>
          <a:xfrm>
            <a:off x="1151396" y="1690688"/>
            <a:ext cx="9998757" cy="4998718"/>
            <a:chOff x="1151396" y="1690688"/>
            <a:chExt cx="9998757" cy="4998718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3A3DBA2-2D25-3630-4317-EABDA555D5C7}"/>
                </a:ext>
              </a:extLst>
            </p:cNvPr>
            <p:cNvCxnSpPr/>
            <p:nvPr/>
          </p:nvCxnSpPr>
          <p:spPr>
            <a:xfrm flipV="1">
              <a:off x="8216897" y="2171722"/>
              <a:ext cx="685803" cy="1257300"/>
            </a:xfrm>
            <a:prstGeom prst="straightConnector1">
              <a:avLst/>
            </a:prstGeom>
            <a:ln w="38100">
              <a:solidFill>
                <a:schemeClr val="accent1">
                  <a:lumMod val="60000"/>
                  <a:lumOff val="40000"/>
                </a:schemeClr>
              </a:solidFill>
              <a:prstDash val="lg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A325F43B-FDC9-3069-FED2-839952FCA049}"/>
                </a:ext>
              </a:extLst>
            </p:cNvPr>
            <p:cNvGrpSpPr/>
            <p:nvPr/>
          </p:nvGrpSpPr>
          <p:grpSpPr>
            <a:xfrm>
              <a:off x="1151396" y="1690688"/>
              <a:ext cx="9998757" cy="4998718"/>
              <a:chOff x="1151396" y="1690688"/>
              <a:chExt cx="9998757" cy="4998718"/>
            </a:xfrm>
          </p:grpSpPr>
          <p:cxnSp>
            <p:nvCxnSpPr>
              <p:cNvPr id="5" name="Straight Arrow Connector 4">
                <a:extLst>
                  <a:ext uri="{FF2B5EF4-FFF2-40B4-BE49-F238E27FC236}">
                    <a16:creationId xmlns:a16="http://schemas.microsoft.com/office/drawing/2014/main" id="{99493A42-575A-BF26-3F85-3CED759315B9}"/>
                  </a:ext>
                </a:extLst>
              </p:cNvPr>
              <p:cNvCxnSpPr/>
              <p:nvPr/>
            </p:nvCxnSpPr>
            <p:spPr>
              <a:xfrm flipV="1">
                <a:off x="1926256" y="1690688"/>
                <a:ext cx="0" cy="4417996"/>
              </a:xfrm>
              <a:prstGeom prst="straightConnector1">
                <a:avLst/>
              </a:prstGeom>
              <a:ln w="25400">
                <a:solidFill>
                  <a:schemeClr val="tx1">
                    <a:lumMod val="50000"/>
                    <a:lumOff val="50000"/>
                  </a:schemeClr>
                </a:solidFill>
                <a:headEnd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70168B2B-23A9-766E-4407-5D32276590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26256" y="6108684"/>
                <a:ext cx="7912100" cy="0"/>
              </a:xfrm>
              <a:prstGeom prst="straightConnector1">
                <a:avLst/>
              </a:prstGeom>
              <a:ln w="25400">
                <a:solidFill>
                  <a:schemeClr val="tx1">
                    <a:lumMod val="50000"/>
                    <a:lumOff val="50000"/>
                  </a:schemeClr>
                </a:solidFill>
                <a:headEnd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088694A-7943-00B7-641B-E6B274E64DEE}"/>
                  </a:ext>
                </a:extLst>
              </p:cNvPr>
              <p:cNvSpPr txBox="1"/>
              <p:nvPr/>
            </p:nvSpPr>
            <p:spPr>
              <a:xfrm rot="16200000">
                <a:off x="266987" y="3340224"/>
                <a:ext cx="223048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latin typeface="Helvetica" pitchFamily="2" charset="0"/>
                  </a:rPr>
                  <a:t>AI Capability</a:t>
                </a:r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B167A59F-7FFD-C6FD-FBF4-9741D40D4B6A}"/>
                  </a:ext>
                </a:extLst>
              </p:cNvPr>
              <p:cNvSpPr/>
              <p:nvPr/>
            </p:nvSpPr>
            <p:spPr>
              <a:xfrm>
                <a:off x="2222501" y="3517922"/>
                <a:ext cx="5943600" cy="2366513"/>
              </a:xfrm>
              <a:custGeom>
                <a:avLst/>
                <a:gdLst>
                  <a:gd name="csX0" fmla="*/ 0 w 7264400"/>
                  <a:gd name="csY0" fmla="*/ 4064000 h 4068335"/>
                  <a:gd name="csX1" fmla="*/ 4902200 w 7264400"/>
                  <a:gd name="csY1" fmla="*/ 3416300 h 4068335"/>
                  <a:gd name="csX2" fmla="*/ 7264400 w 7264400"/>
                  <a:gd name="csY2" fmla="*/ 0 h 406833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7264400" h="4068335">
                    <a:moveTo>
                      <a:pt x="0" y="4064000"/>
                    </a:moveTo>
                    <a:cubicBezTo>
                      <a:pt x="1845733" y="4078816"/>
                      <a:pt x="3691467" y="4093633"/>
                      <a:pt x="4902200" y="3416300"/>
                    </a:cubicBezTo>
                    <a:cubicBezTo>
                      <a:pt x="6112933" y="2738967"/>
                      <a:pt x="6688666" y="1369483"/>
                      <a:pt x="7264400" y="0"/>
                    </a:cubicBezTo>
                  </a:path>
                </a:pathLst>
              </a:custGeom>
              <a:noFill/>
              <a:ln w="38100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BC023EF-FB5A-3500-9384-E4F9510FE3BE}"/>
                  </a:ext>
                </a:extLst>
              </p:cNvPr>
              <p:cNvSpPr txBox="1"/>
              <p:nvPr/>
            </p:nvSpPr>
            <p:spPr>
              <a:xfrm>
                <a:off x="8919669" y="6227741"/>
                <a:ext cx="223048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chemeClr val="bg2">
                        <a:lumMod val="50000"/>
                      </a:schemeClr>
                    </a:solidFill>
                    <a:latin typeface="Helvetica" pitchFamily="2" charset="0"/>
                  </a:rPr>
                  <a:t>Time</a:t>
                </a:r>
              </a:p>
            </p:txBody>
          </p:sp>
        </p:grp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91F567E-A356-F537-97E5-6700D6E6508F}"/>
              </a:ext>
            </a:extLst>
          </p:cNvPr>
          <p:cNvGrpSpPr/>
          <p:nvPr/>
        </p:nvGrpSpPr>
        <p:grpSpPr>
          <a:xfrm>
            <a:off x="4905419" y="3496635"/>
            <a:ext cx="3311478" cy="461665"/>
            <a:chOff x="4905419" y="3496635"/>
            <a:chExt cx="3311478" cy="461665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B9E1EAB-BFC0-EECB-8BFB-31E18B79C6BC}"/>
                </a:ext>
              </a:extLst>
            </p:cNvPr>
            <p:cNvSpPr/>
            <p:nvPr/>
          </p:nvSpPr>
          <p:spPr>
            <a:xfrm>
              <a:off x="7797797" y="3511579"/>
              <a:ext cx="419100" cy="431778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C84B1DD-6618-AD0B-AE06-A031ABFFC19B}"/>
                </a:ext>
              </a:extLst>
            </p:cNvPr>
            <p:cNvSpPr txBox="1"/>
            <p:nvPr/>
          </p:nvSpPr>
          <p:spPr>
            <a:xfrm>
              <a:off x="4905419" y="3496635"/>
              <a:ext cx="258758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Helvetica Light" panose="020B0403020202020204" pitchFamily="34" charset="0"/>
                </a:rPr>
                <a:t>Transhumanism?</a:t>
              </a: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41D3B283-CB55-BD97-942A-8C4F2267D393}"/>
                </a:ext>
              </a:extLst>
            </p:cNvPr>
            <p:cNvCxnSpPr>
              <a:cxnSpLocks/>
              <a:stCxn id="24" idx="3"/>
              <a:endCxn id="23" idx="2"/>
            </p:cNvCxnSpPr>
            <p:nvPr/>
          </p:nvCxnSpPr>
          <p:spPr>
            <a:xfrm>
              <a:off x="7493000" y="3727468"/>
              <a:ext cx="304797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57778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82BD4-5B65-07C0-A6FB-2AA395DCD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Cognitive Ladder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A98514-D3AA-BE05-1F82-4CAFEE18A963}"/>
              </a:ext>
            </a:extLst>
          </p:cNvPr>
          <p:cNvSpPr txBox="1"/>
          <p:nvPr/>
        </p:nvSpPr>
        <p:spPr>
          <a:xfrm>
            <a:off x="838200" y="1545771"/>
            <a:ext cx="509451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Helvetica Light" panose="020B0403020202020204" pitchFamily="34" charset="0"/>
                <a:ea typeface="Helvetica Neue Light" panose="02000403000000020004" pitchFamily="2" charset="0"/>
              </a:rPr>
              <a:t>The unique </a:t>
            </a:r>
            <a:r>
              <a:rPr lang="en-US" sz="2400" b="1" dirty="0"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human</a:t>
            </a:r>
            <a:r>
              <a:rPr lang="en-US" sz="2400" b="1" dirty="0">
                <a:latin typeface="Helvetica" pitchFamily="2" charset="0"/>
                <a:ea typeface="Helvetica Neue Light" panose="02000403000000020004" pitchFamily="2" charset="0"/>
              </a:rPr>
              <a:t> factors </a:t>
            </a:r>
            <a:r>
              <a:rPr lang="en-US" sz="2400" dirty="0">
                <a:latin typeface="Helvetica Light" panose="020B0403020202020204" pitchFamily="34" charset="0"/>
                <a:ea typeface="Helvetica Neue Light" panose="02000403000000020004" pitchFamily="2" charset="0"/>
              </a:rPr>
              <a:t>of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Helvetica Light" panose="020B0403020202020204" pitchFamily="34" charset="0"/>
                <a:ea typeface="Helvetica Neue Light" panose="02000403000000020004" pitchFamily="2" charset="0"/>
              </a:rPr>
              <a:t>intelligence,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Helvetica Light" panose="020B0403020202020204" pitchFamily="34" charset="0"/>
                <a:ea typeface="Helvetica Neue Light" panose="02000403000000020004" pitchFamily="2" charset="0"/>
              </a:rPr>
              <a:t>understanding, and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Helvetica Light" panose="020B0403020202020204" pitchFamily="34" charset="0"/>
                <a:ea typeface="Helvetica Neue Light" panose="02000403000000020004" pitchFamily="2" charset="0"/>
              </a:rPr>
              <a:t>wisdom</a:t>
            </a:r>
            <a:br>
              <a:rPr lang="en-US" sz="2400" dirty="0">
                <a:latin typeface="Helvetica Light" panose="020B0403020202020204" pitchFamily="34" charset="0"/>
                <a:ea typeface="Helvetica Neue Light" panose="02000403000000020004" pitchFamily="2" charset="0"/>
              </a:rPr>
            </a:br>
            <a:endParaRPr lang="en-US" sz="2400" dirty="0">
              <a:latin typeface="Helvetica Light" panose="020B0403020202020204" pitchFamily="34" charset="0"/>
              <a:ea typeface="Helvetica Neue Light" panose="020004030000000200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Helvetica Light" panose="020B0403020202020204" pitchFamily="34" charset="0"/>
                <a:ea typeface="Helvetica Neue Light" panose="02000403000000020004" pitchFamily="2" charset="0"/>
              </a:rPr>
              <a:t>But</a:t>
            </a:r>
            <a:r>
              <a:rPr lang="en-US" sz="2400" dirty="0">
                <a:latin typeface="Helvetica Light" panose="020B0403020202020204" pitchFamily="34" charset="0"/>
                <a:ea typeface="Helvetica Neue Light" panose="02000403000000020004" pitchFamily="2" charset="0"/>
              </a:rPr>
              <a:t> also </a:t>
            </a:r>
            <a:endParaRPr lang="en-US" sz="2400" dirty="0">
              <a:latin typeface="Helvetica Light" panose="020B0403020202020204" pitchFamily="34" charset="0"/>
              <a:ea typeface="Helvetica Neue Light" panose="02000403000000020004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Helvetica Light" panose="020B0403020202020204" pitchFamily="34" charset="0"/>
                <a:ea typeface="Helvetica Neue Light" panose="02000403000000020004" pitchFamily="2" charset="0"/>
              </a:rPr>
              <a:t>“a thinking reed”,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Helvetica Light" panose="020B0403020202020204" pitchFamily="34" charset="0"/>
                <a:ea typeface="Helvetica Neue Light" panose="02000403000000020004" pitchFamily="2" charset="0"/>
              </a:rPr>
              <a:t>both “great and wretched”,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Helvetica Light" panose="020B0403020202020204" pitchFamily="34" charset="0"/>
                <a:ea typeface="Helvetica Neue Light" panose="02000403000000020004" pitchFamily="2" charset="0"/>
              </a:rPr>
              <a:t>“neither angel nor brute”,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Helvetica Light" panose="020B0403020202020204" pitchFamily="34" charset="0"/>
                <a:ea typeface="Helvetica Neue Light" panose="02000403000000020004" pitchFamily="2" charset="0"/>
              </a:rPr>
              <a:t>“a chimera”,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Helvetica Light" panose="020B0403020202020204" pitchFamily="34" charset="0"/>
                <a:ea typeface="Helvetica Neue Light" panose="02000403000000020004" pitchFamily="2" charset="0"/>
              </a:rPr>
              <a:t>inconstancy</a:t>
            </a:r>
            <a:br>
              <a:rPr lang="en-US" sz="2400" dirty="0">
                <a:latin typeface="Helvetica Light" panose="020B0403020202020204" pitchFamily="34" charset="0"/>
                <a:ea typeface="Helvetica Neue Light" panose="02000403000000020004" pitchFamily="2" charset="0"/>
              </a:rPr>
            </a:br>
            <a:r>
              <a:rPr lang="en-US" sz="2400" dirty="0">
                <a:latin typeface="Helvetica Light" panose="020B0403020202020204" pitchFamily="34" charset="0"/>
                <a:ea typeface="Helvetica Neue Light" panose="02000403000000020004" pitchFamily="2" charset="0"/>
              </a:rPr>
              <a:t>(Pascal)</a:t>
            </a:r>
            <a:endParaRPr lang="en-US" sz="2400" dirty="0">
              <a:latin typeface="Helvetica Light" panose="020B0403020202020204" pitchFamily="34" charset="0"/>
              <a:ea typeface="Helvetica Neue Light" panose="02000403000000020004" pitchFamily="2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FBB00BC-A825-87B4-469D-0D03A3CB3E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46987" y="98424"/>
            <a:ext cx="5518013" cy="660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9636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2D6D46F-FA86-644E-9E0A-24F7137DA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 Light" panose="020B0403020202020204" pitchFamily="34" charset="0"/>
                <a:ea typeface="Helvetica Neue Light" panose="02000403000000020004" pitchFamily="2" charset="0"/>
              </a:rPr>
              <a:t>Whither Human Factors in the Age of AI?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B496F6-1566-0945-B85A-EF3899FB59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032375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2800" dirty="0">
                <a:latin typeface="Helvetica Light" panose="020B0403020202020204" pitchFamily="34" charset="0"/>
                <a:ea typeface="Helvetica Neue Light" panose="02000403000000020004" pitchFamily="2" charset="0"/>
              </a:rPr>
              <a:t>What </a:t>
            </a:r>
            <a:r>
              <a:rPr lang="en-US" sz="2800" b="1" dirty="0"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is</a:t>
            </a:r>
            <a:r>
              <a:rPr lang="en-US" sz="2800" dirty="0">
                <a:latin typeface="Helvetica Light" panose="020B0403020202020204" pitchFamily="34" charset="0"/>
                <a:ea typeface="Helvetica Neue Light" panose="02000403000000020004" pitchFamily="2" charset="0"/>
              </a:rPr>
              <a:t> a human?</a:t>
            </a:r>
          </a:p>
          <a:p>
            <a:pPr>
              <a:lnSpc>
                <a:spcPct val="120000"/>
              </a:lnSpc>
            </a:pPr>
            <a:r>
              <a:rPr lang="en-US" sz="2800" dirty="0">
                <a:latin typeface="Helvetica Light" panose="020B0403020202020204" pitchFamily="34" charset="0"/>
                <a:ea typeface="Helvetica Neue Light" panose="02000403000000020004" pitchFamily="2" charset="0"/>
              </a:rPr>
              <a:t>What is the ultimate </a:t>
            </a:r>
            <a:r>
              <a:rPr lang="en-US" sz="2800" b="1" dirty="0"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purpose</a:t>
            </a:r>
            <a:r>
              <a:rPr lang="en-US" sz="2800" dirty="0">
                <a:latin typeface="Helvetica Light" panose="020B0403020202020204" pitchFamily="34" charset="0"/>
                <a:ea typeface="Helvetica Neue Light" panose="02000403000000020004" pitchFamily="2" charset="0"/>
              </a:rPr>
              <a:t> of a human?</a:t>
            </a:r>
          </a:p>
          <a:p>
            <a:pPr>
              <a:lnSpc>
                <a:spcPct val="120000"/>
              </a:lnSpc>
            </a:pPr>
            <a:r>
              <a:rPr lang="en-US" sz="2800" dirty="0">
                <a:latin typeface="Helvetica Light" panose="020B0403020202020204" pitchFamily="34" charset="0"/>
                <a:ea typeface="Helvetica Neue Light" panose="02000403000000020004" pitchFamily="2" charset="0"/>
              </a:rPr>
              <a:t>Are we using technology for human flourishing or dulling of the human mind? </a:t>
            </a:r>
          </a:p>
          <a:p>
            <a:pPr>
              <a:lnSpc>
                <a:spcPct val="120000"/>
              </a:lnSpc>
            </a:pPr>
            <a:r>
              <a:rPr lang="en-US" sz="2800" dirty="0">
                <a:latin typeface="Helvetica Light" panose="020B0403020202020204" pitchFamily="34" charset="0"/>
              </a:rPr>
              <a:t>What does </a:t>
            </a:r>
            <a:r>
              <a:rPr lang="en-US" sz="2800" b="1" dirty="0"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human flourishing </a:t>
            </a:r>
            <a:r>
              <a:rPr lang="en-US" sz="2800" dirty="0">
                <a:latin typeface="Helvetica Light" panose="020B0403020202020204" pitchFamily="34" charset="0"/>
                <a:ea typeface="Helvetica Neue Light" panose="02000403000000020004" pitchFamily="2" charset="0"/>
              </a:rPr>
              <a:t>look like?</a:t>
            </a:r>
          </a:p>
          <a:p>
            <a:pPr>
              <a:lnSpc>
                <a:spcPct val="120000"/>
              </a:lnSpc>
            </a:pPr>
            <a:r>
              <a:rPr lang="en-US" sz="2800" dirty="0">
                <a:latin typeface="Helvetica Light" panose="020B0403020202020204" pitchFamily="34" charset="0"/>
              </a:rPr>
              <a:t>These are </a:t>
            </a:r>
            <a:r>
              <a:rPr lang="en-US" sz="2800" b="1" dirty="0">
                <a:latin typeface="Helvetica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not</a:t>
            </a:r>
            <a:r>
              <a:rPr lang="en-US" sz="2800" dirty="0">
                <a:latin typeface="Helvetica Light" panose="020B0403020202020204" pitchFamily="34" charset="0"/>
              </a:rPr>
              <a:t> scientific questions			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800" dirty="0">
                <a:latin typeface="Helvetica Light" panose="020B0403020202020204" pitchFamily="34" charset="0"/>
              </a:rPr>
              <a:t>				</a:t>
            </a:r>
            <a:endParaRPr lang="en-US" sz="2800" dirty="0">
              <a:latin typeface="Helvetica Light" panose="020B0403020202020204" pitchFamily="34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7290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4B601-9F57-7336-69CF-12F7A5754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9B85E-2D1B-D5D3-E472-B004FE4536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03234" cy="4274092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Helvetica Light" panose="020B0403020202020204" pitchFamily="34" charset="0"/>
              </a:rPr>
              <a:t>Questions?</a:t>
            </a:r>
          </a:p>
          <a:p>
            <a:r>
              <a:rPr lang="en-US" sz="3200" dirty="0">
                <a:latin typeface="Helvetica Light" panose="020B0403020202020204" pitchFamily="34" charset="0"/>
              </a:rPr>
              <a:t>Critique?</a:t>
            </a:r>
          </a:p>
          <a:p>
            <a:r>
              <a:rPr lang="en-US" sz="3200" dirty="0">
                <a:latin typeface="Helvetica Light" panose="020B0403020202020204" pitchFamily="34" charset="0"/>
              </a:rPr>
              <a:t>Discussion?</a:t>
            </a:r>
          </a:p>
          <a:p>
            <a:r>
              <a:rPr lang="en-US" sz="3200" dirty="0">
                <a:latin typeface="Helvetica Light" panose="020B0403020202020204" pitchFamily="34" charset="0"/>
              </a:rPr>
              <a:t>Diabolical laughter?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6AEF8A-E5D8-6924-E0EA-870AA477A4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500" y="1820335"/>
            <a:ext cx="6667500" cy="5037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771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809</TotalTime>
  <Words>310</Words>
  <Application>Microsoft Macintosh PowerPoint</Application>
  <PresentationFormat>Widescreen</PresentationFormat>
  <Paragraphs>53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Calibri</vt:lpstr>
      <vt:lpstr>Calibri Light</vt:lpstr>
      <vt:lpstr>Helvetica</vt:lpstr>
      <vt:lpstr>HELVETICA LIGHT</vt:lpstr>
      <vt:lpstr>HELVETICA LIGHT</vt:lpstr>
      <vt:lpstr>Helvetica Neue Light</vt:lpstr>
      <vt:lpstr>Office Theme</vt:lpstr>
      <vt:lpstr>Man as a Machine: Artificial Intelligence  and the Image of Man</vt:lpstr>
      <vt:lpstr>An Argument in Three Parts</vt:lpstr>
      <vt:lpstr>A long history of the materialistic worldview</vt:lpstr>
      <vt:lpstr>The Myth of the Machine</vt:lpstr>
      <vt:lpstr>We Have Been Warned</vt:lpstr>
      <vt:lpstr>Human Roles in Interactions with AI</vt:lpstr>
      <vt:lpstr>Surrender is a Choice</vt:lpstr>
      <vt:lpstr>The Cognitive Ladder</vt:lpstr>
      <vt:lpstr>Whither Human Factors in the Age of AI?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Microsoft Office User</cp:lastModifiedBy>
  <cp:revision>6</cp:revision>
  <dcterms:created xsi:type="dcterms:W3CDTF">2026-10-03T22:39:05Z</dcterms:created>
  <dcterms:modified xsi:type="dcterms:W3CDTF">2026-10-06T00:59:54Z</dcterms:modified>
</cp:coreProperties>
</file>