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AND SPEAKER NOTES</a:t>
            </a:r>
          </a:p>
          <a:p>
            <a:r>
              <a:t>Sharma (2026), The Ethics of AI-Assisted Code Migration in Regulated Financial Systems: Accountability, Transparency, and Human Oversight in LLM-Driven Software Conversion. SSRN 6252918. Tensions: section 3, pp. 6–9. Safeguards: section 4, pp. 9–12. Limitations: section 5, p. 12. Main thesis on slide is a synthesis, not a verbatim quotation.</a:t>
            </a:r>
          </a:p>
          <a:p/>
          <a:p>
            <a:r>
              <a:t>RESEARCH: All three works are cited in the paper.</a:t>
            </a:r>
          </a:p>
          <a:p>
            <a:r>
              <a:t>1. Vaithilingam, Zhang &amp; Glassman (2022), Expectation vs. Experience, CHI Extended Abstracts. Within-subjects study, 24 participants. Copilot did not necessarily improve completion time or success rate; most preferred it. Participants had difficulty understanding, editing and debugging generated snippets. These are early Copilot usability results, not a contemporary benchmark or migration failure-rate estimate. https://glassmanlab.seas.harvard.edu/papers/copilot_lbw_chi22.pdf</a:t>
            </a:r>
          </a:p>
          <a:p>
            <a:r>
              <a:t>2. Barke, James &amp; Polikarpova (2023), Grounded Copilot, OOPSLA. Observational study of 20 participants across four languages distinguishes acceleration and exploration. This supports the need to distinguish known solutions from unfamiliar AI suggestions; it does not directly test the proposed governance framework. https://arxiv.org/abs/2206.15000</a:t>
            </a:r>
          </a:p>
          <a:p>
            <a:r>
              <a:t>3. Parasuraman &amp; Manzey (2010), Complacency and Bias in Human Use of Automation: An Attentional Integration, Human Factors 52(3), 381–410. Review of automation research: both inexperienced and expert users may exhibit automation bias, with omission and commission errors. Broader automation research, not an LLM-specific experiment. https://doi.org/10.1177/0018720810376055</a:t>
            </a:r>
          </a:p>
          <a:p/>
          <a:p>
            <a:r>
              <a:t>Framework remains a practitioner-grounded proposal without empirical validation. Differential tests provide bounded evidence of equivalence for tested cases, not proof for every input. Font: PowerPoint requests Georgia; accompanying PDF/PNG use DejaVu Serif because Georgia is unavailable in the rendering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AD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228600"/>
            <a:ext cx="13766800" cy="222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274C77"/>
                </a:solidFill>
                <a:latin typeface="Georgia"/>
              </a:defRPr>
            </a:pPr>
            <a:r>
              <a:t>WISDOM IN THE AGE OF AI  /  RONIT SHARMA · INDEPENDENT RESEARCHER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800" y="533400"/>
            <a:ext cx="13766800" cy="5651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000" b="1">
                <a:solidFill>
                  <a:srgbClr val="274C77"/>
                </a:solidFill>
                <a:latin typeface="Georgia"/>
              </a:defRPr>
            </a:pPr>
            <a:r>
              <a:t>The Ethics of AI-Assisted Code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1054100"/>
            <a:ext cx="13766800" cy="30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0">
                <a:solidFill>
                  <a:srgbClr val="274C77"/>
                </a:solidFill>
                <a:latin typeface="Georgia"/>
              </a:defRPr>
            </a:pPr>
            <a:r>
              <a:t>Regulated financial systems: accountability, transparency &amp; human oversight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431800" y="1409700"/>
            <a:ext cx="13766800" cy="12700"/>
          </a:xfrm>
          <a:prstGeom prst="rect">
            <a:avLst/>
          </a:prstGeom>
          <a:solidFill>
            <a:srgbClr val="274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800" y="1536700"/>
            <a:ext cx="137668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00" b="1">
                <a:solidFill>
                  <a:srgbClr val="274C77"/>
                </a:solidFill>
                <a:latin typeface="Georgia"/>
              </a:defRPr>
            </a:pPr>
            <a:r>
              <a:t>Delegating code authorship does not delegate moral responsibility.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1943100"/>
            <a:ext cx="137668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274C77"/>
                </a:solidFill>
                <a:latin typeface="Georgia"/>
              </a:defRPr>
            </a:pPr>
            <a:r>
              <a:t>The stakes: miscalculated compensation, compliance failures and erosion of public trust.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800" y="2324100"/>
            <a:ext cx="4445000" cy="3009900"/>
          </a:xfrm>
          <a:prstGeom prst="rect">
            <a:avLst/>
          </a:prstGeom>
          <a:solidFill>
            <a:srgbClr val="274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2300" y="2514600"/>
            <a:ext cx="4127500" cy="30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EADBC8"/>
                </a:solidFill>
                <a:latin typeface="Georgia"/>
              </a:defRPr>
            </a:pPr>
            <a:r>
              <a:t>01  ACCOUNTABILITY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" y="28702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ADBC8"/>
                </a:solidFill>
                <a:latin typeface="Georgia"/>
              </a:defRPr>
            </a:pPr>
            <a:r>
              <a:t>Who answers when the code fails?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" y="32004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EADBC8"/>
                </a:solidFill>
                <a:latin typeface="Georgia"/>
              </a:defRPr>
            </a:pPr>
            <a:r>
              <a:t>Responsibility is assigned without the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" y="34290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EADBC8"/>
                </a:solidFill>
                <a:latin typeface="Georgia"/>
              </a:defRPr>
            </a:pPr>
            <a:r>
              <a:t>time or understanding to exercise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300" y="3784600"/>
            <a:ext cx="4064000" cy="12700"/>
          </a:xfrm>
          <a:prstGeom prst="rect">
            <a:avLst/>
          </a:prstGeom>
          <a:solidFill>
            <a:srgbClr val="EAD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300" y="3898900"/>
            <a:ext cx="4127500" cy="205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EADBC8"/>
                </a:solidFill>
                <a:latin typeface="Georgia"/>
              </a:defRPr>
            </a:pPr>
            <a:r>
              <a:t>PROPOSED SAFEGUARD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" y="4152900"/>
            <a:ext cx="4127500" cy="273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EADBC8"/>
                </a:solidFill>
                <a:latin typeface="Georgia"/>
              </a:defRPr>
            </a:pPr>
            <a:r>
              <a:t>MANDATORY HUMAN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00" y="44958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ADBC8"/>
                </a:solidFill>
                <a:latin typeface="Georgia"/>
              </a:defRPr>
            </a:pPr>
            <a:r>
              <a:t>Scope → Validate → Certify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300" y="47244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EADBC8"/>
                </a:solidFill>
                <a:latin typeface="Georgia"/>
              </a:defRPr>
            </a:pPr>
            <a:r>
              <a:t>Risk-based scoping, component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00" y="49530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EADBC8"/>
                </a:solidFill>
                <a:latin typeface="Georgia"/>
              </a:defRPr>
            </a:pPr>
            <a:r>
              <a:t>and a named engineer’s final sign-off.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92700" y="2324100"/>
            <a:ext cx="4445000" cy="3009900"/>
          </a:xfrm>
          <a:prstGeom prst="rect">
            <a:avLst/>
          </a:prstGeom>
          <a:solidFill>
            <a:srgbClr val="274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3200" y="2514600"/>
            <a:ext cx="4127500" cy="30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EADBC8"/>
                </a:solidFill>
                <a:latin typeface="Georgia"/>
              </a:defRPr>
            </a:pPr>
            <a:r>
              <a:t>02  TRANSPARENCY DEFICIT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3200" y="28702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ADBC8"/>
                </a:solidFill>
                <a:latin typeface="Georgia"/>
              </a:defRPr>
            </a:pPr>
            <a:r>
              <a:t>Can we reconstruct the conversion?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3200" y="32004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EADBC8"/>
                </a:solidFill>
                <a:latin typeface="Georgia"/>
              </a:defRPr>
            </a:pPr>
            <a:r>
              <a:t>Opaque changes obscure the connection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3200" y="34290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EADBC8"/>
                </a:solidFill>
                <a:latin typeface="Georgia"/>
              </a:defRPr>
            </a:pPr>
            <a:r>
              <a:t>between original and migrated logic.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83200" y="3784600"/>
            <a:ext cx="4064000" cy="12700"/>
          </a:xfrm>
          <a:prstGeom prst="rect">
            <a:avLst/>
          </a:prstGeom>
          <a:solidFill>
            <a:srgbClr val="EAD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83200" y="3898900"/>
            <a:ext cx="4127500" cy="205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EADBC8"/>
                </a:solidFill>
                <a:latin typeface="Georgia"/>
              </a:defRPr>
            </a:pPr>
            <a:r>
              <a:t>PROPOSED SAFEGUARD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3200" y="4152900"/>
            <a:ext cx="4127500" cy="273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EADBC8"/>
                </a:solidFill>
                <a:latin typeface="Georgia"/>
              </a:defRPr>
            </a:pPr>
            <a:r>
              <a:t>PROVENANCE DOCUMENTATION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3200" y="44958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ADBC8"/>
                </a:solidFill>
                <a:latin typeface="Georgia"/>
              </a:defRPr>
            </a:pPr>
            <a:r>
              <a:t>Source → Model → Edits → Reviewer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3200" y="47244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EADBC8"/>
                </a:solidFill>
                <a:latin typeface="Georgia"/>
              </a:defRPr>
            </a:pPr>
            <a:r>
              <a:t>Record versions, run configuration,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3200" y="49530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EADBC8"/>
                </a:solidFill>
                <a:latin typeface="Georgia"/>
              </a:defRPr>
            </a:pPr>
            <a:r>
              <a:t>human changes and approval identity.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3600" y="2324100"/>
            <a:ext cx="4445000" cy="3009900"/>
          </a:xfrm>
          <a:prstGeom prst="rect">
            <a:avLst/>
          </a:prstGeom>
          <a:solidFill>
            <a:srgbClr val="274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44100" y="2514600"/>
            <a:ext cx="4127500" cy="30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EADBC8"/>
                </a:solidFill>
                <a:latin typeface="Georgia"/>
              </a:defRPr>
            </a:pPr>
            <a:r>
              <a:t>03  AUTOMATION BIAS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4100" y="28702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ADBC8"/>
                </a:solidFill>
                <a:latin typeface="Georgia"/>
              </a:defRPr>
            </a:pPr>
            <a:r>
              <a:t>Does compiling justify confidence?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4100" y="32004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EADBC8"/>
                </a:solidFill>
                <a:latin typeface="Georgia"/>
              </a:defRPr>
            </a:pPr>
            <a:r>
              <a:t>Plausible output and shallow tests can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4100" y="34290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EADBC8"/>
                </a:solidFill>
                <a:latin typeface="Georgia"/>
              </a:defRPr>
            </a:pPr>
            <a:r>
              <a:t>hide financially significant errors.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44100" y="3784600"/>
            <a:ext cx="4064000" cy="12700"/>
          </a:xfrm>
          <a:prstGeom prst="rect">
            <a:avLst/>
          </a:prstGeom>
          <a:solidFill>
            <a:srgbClr val="EAD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44100" y="3898900"/>
            <a:ext cx="4127500" cy="205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EADBC8"/>
                </a:solidFill>
                <a:latin typeface="Georgia"/>
              </a:defRPr>
            </a:pPr>
            <a:r>
              <a:t>PROPOSED SAFEGUARD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44100" y="4152900"/>
            <a:ext cx="4127500" cy="273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EADBC8"/>
                </a:solidFill>
                <a:latin typeface="Georgia"/>
              </a:defRPr>
            </a:pPr>
            <a:r>
              <a:t>DIFFERENTIAL TESTING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44100" y="44958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EADBC8"/>
                </a:solidFill>
                <a:latin typeface="Georgia"/>
              </a:defRPr>
            </a:pPr>
            <a:r>
              <a:t>Same inputs → Compare outputs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44100" y="47244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EADBC8"/>
                </a:solidFill>
                <a:latin typeface="Georgia"/>
              </a:defRPr>
            </a:pPr>
            <a:r>
              <a:t>Run original and migrated systems;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44100" y="4953000"/>
            <a:ext cx="41275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0">
                <a:solidFill>
                  <a:srgbClr val="EADBC8"/>
                </a:solidFill>
                <a:latin typeface="Georgia"/>
              </a:defRPr>
            </a:pPr>
            <a:r>
              <a:t>review rounding, dates, nulls and currency.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800" y="5562600"/>
            <a:ext cx="4445000" cy="2393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274C77"/>
                </a:solidFill>
                <a:latin typeface="Georgia"/>
              </a:defRPr>
            </a:pPr>
            <a:r>
              <a:t>RESEARCH SPOTLIGHT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800" y="5880100"/>
            <a:ext cx="4445000" cy="427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274C77"/>
                </a:solidFill>
                <a:latin typeface="Georgia"/>
              </a:defRPr>
            </a:pPr>
            <a:r>
              <a:t>24 participants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1800" y="6286500"/>
            <a:ext cx="44450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274C77"/>
                </a:solidFill>
                <a:latin typeface="Georgia"/>
              </a:defRPr>
            </a:pPr>
            <a:r>
              <a:t>Preference ≠ proven performance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800" y="6616700"/>
            <a:ext cx="4445000" cy="2393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274C77"/>
                </a:solidFill>
                <a:latin typeface="Georgia"/>
              </a:defRPr>
            </a:pPr>
            <a:r>
              <a:t>Most preferred Copilot, yet understanding,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800" y="6845300"/>
            <a:ext cx="4445000" cy="2393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274C77"/>
                </a:solidFill>
                <a:latin typeface="Georgia"/>
              </a:defRPr>
            </a:pPr>
            <a:r>
              <a:t>editing and debugging remained difficult.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800" y="7264400"/>
            <a:ext cx="4445000" cy="2136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0">
                <a:solidFill>
                  <a:srgbClr val="274C77"/>
                </a:solidFill>
                <a:latin typeface="Georgia"/>
              </a:defRPr>
            </a:pPr>
            <a:r>
              <a:t>Vaithilingam et al. · CHI 2022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53600" y="5562600"/>
            <a:ext cx="4445000" cy="2393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274C77"/>
                </a:solidFill>
                <a:latin typeface="Georgia"/>
              </a:defRPr>
            </a:pPr>
            <a:r>
              <a:t>RESEARCH SPOTLIGHT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53600" y="5880100"/>
            <a:ext cx="4445000" cy="3765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900" b="1">
                <a:solidFill>
                  <a:srgbClr val="274C77"/>
                </a:solidFill>
                <a:latin typeface="Georgia"/>
              </a:defRPr>
            </a:pPr>
            <a:r>
              <a:t>Experts are susceptible too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53600" y="6286500"/>
            <a:ext cx="4445000" cy="256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200" b="1">
                <a:solidFill>
                  <a:srgbClr val="274C77"/>
                </a:solidFill>
                <a:latin typeface="Georgia"/>
              </a:defRPr>
            </a:pPr>
            <a:r>
              <a:t>Automation bias crosses experience levels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53600" y="6616700"/>
            <a:ext cx="4445000" cy="2393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274C77"/>
                </a:solidFill>
                <a:latin typeface="Georgia"/>
              </a:defRPr>
            </a:pPr>
            <a:r>
              <a:t>The review reports errors from both following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53600" y="6845300"/>
            <a:ext cx="4445000" cy="2393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0">
                <a:solidFill>
                  <a:srgbClr val="274C77"/>
                </a:solidFill>
                <a:latin typeface="Georgia"/>
              </a:defRPr>
            </a:pPr>
            <a:r>
              <a:t>incorrect advice and missing needed action.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53600" y="7264400"/>
            <a:ext cx="4445000" cy="2136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0">
                <a:solidFill>
                  <a:srgbClr val="274C77"/>
                </a:solidFill>
                <a:latin typeface="Georgia"/>
              </a:defRPr>
            </a:pPr>
            <a:r>
              <a:t>Parasuraman &amp; Manzey · Human Factors 2010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92700" y="5562600"/>
            <a:ext cx="4445000" cy="2393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274C77"/>
                </a:solidFill>
                <a:latin typeface="Georgia"/>
              </a:defRPr>
            </a:pPr>
            <a:r>
              <a:t>DIFFERENTIAL TESTING IN ACTION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64300" y="5842000"/>
            <a:ext cx="1689100" cy="317500"/>
          </a:xfrm>
          <a:prstGeom prst="rect">
            <a:avLst/>
          </a:prstGeom>
          <a:solidFill>
            <a:srgbClr val="274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65900" y="5905500"/>
            <a:ext cx="1485900" cy="222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EADBC8"/>
                </a:solidFill>
                <a:latin typeface="Georgia"/>
              </a:defRPr>
            </a:pPr>
            <a:r>
              <a:t>Same test inputs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92700" y="6375400"/>
            <a:ext cx="1803400" cy="317500"/>
          </a:xfrm>
          <a:prstGeom prst="rect">
            <a:avLst/>
          </a:prstGeom>
          <a:solidFill>
            <a:srgbClr val="274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94300" y="6438900"/>
            <a:ext cx="1600200" cy="222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EADBC8"/>
                </a:solidFill>
                <a:latin typeface="Georgia"/>
              </a:defRPr>
            </a:pPr>
            <a:r>
              <a:t>Original system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08900" y="6375400"/>
            <a:ext cx="1803400" cy="317500"/>
          </a:xfrm>
          <a:prstGeom prst="rect">
            <a:avLst/>
          </a:prstGeom>
          <a:solidFill>
            <a:srgbClr val="274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10499" y="6438900"/>
            <a:ext cx="1600200" cy="222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EADBC8"/>
                </a:solidFill>
                <a:latin typeface="Georgia"/>
              </a:defRPr>
            </a:pPr>
            <a:r>
              <a:t>Migrated system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302500" y="6159500"/>
            <a:ext cx="0" cy="76200"/>
          </a:xfrm>
          <a:prstGeom prst="line">
            <a:avLst/>
          </a:prstGeom>
          <a:ln w="16510">
            <a:solidFill>
              <a:srgbClr val="274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994400" y="6235700"/>
            <a:ext cx="2616200" cy="0"/>
          </a:xfrm>
          <a:prstGeom prst="line">
            <a:avLst/>
          </a:prstGeom>
          <a:ln w="16510">
            <a:solidFill>
              <a:srgbClr val="274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994400" y="6235700"/>
            <a:ext cx="0" cy="139700"/>
          </a:xfrm>
          <a:prstGeom prst="line">
            <a:avLst/>
          </a:prstGeom>
          <a:ln w="16510">
            <a:solidFill>
              <a:srgbClr val="274C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610600" y="6235700"/>
            <a:ext cx="0" cy="139700"/>
          </a:xfrm>
          <a:prstGeom prst="line">
            <a:avLst/>
          </a:prstGeom>
          <a:ln w="16510">
            <a:solidFill>
              <a:srgbClr val="274C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6464300" y="6908800"/>
            <a:ext cx="1689100" cy="317500"/>
          </a:xfrm>
          <a:prstGeom prst="rect">
            <a:avLst/>
          </a:prstGeom>
          <a:solidFill>
            <a:srgbClr val="274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65900" y="6972300"/>
            <a:ext cx="1485900" cy="222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EADBC8"/>
                </a:solidFill>
                <a:latin typeface="Georgia"/>
              </a:defRPr>
            </a:pPr>
            <a:r>
              <a:t>Compare outputs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994400" y="6692900"/>
            <a:ext cx="0" cy="368300"/>
          </a:xfrm>
          <a:prstGeom prst="line">
            <a:avLst/>
          </a:prstGeom>
          <a:ln w="16510">
            <a:solidFill>
              <a:srgbClr val="274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994400" y="7061200"/>
            <a:ext cx="469900" cy="0"/>
          </a:xfrm>
          <a:prstGeom prst="line">
            <a:avLst/>
          </a:prstGeom>
          <a:ln w="16510">
            <a:solidFill>
              <a:srgbClr val="274C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610600" y="6692900"/>
            <a:ext cx="0" cy="368300"/>
          </a:xfrm>
          <a:prstGeom prst="line">
            <a:avLst/>
          </a:prstGeom>
          <a:ln w="16510">
            <a:solidFill>
              <a:srgbClr val="274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8153399" y="7061200"/>
            <a:ext cx="457201" cy="0"/>
          </a:xfrm>
          <a:prstGeom prst="line">
            <a:avLst/>
          </a:prstGeom>
          <a:ln w="16510">
            <a:solidFill>
              <a:srgbClr val="274C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321300" y="7315200"/>
            <a:ext cx="4190999" cy="222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0">
                <a:solidFill>
                  <a:srgbClr val="274C77"/>
                </a:solidFill>
                <a:latin typeface="Georgia"/>
              </a:defRPr>
            </a:pPr>
            <a:r>
              <a:t>Differences → investigate, correct &amp; retest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1800" y="7645400"/>
            <a:ext cx="13766800" cy="12700"/>
          </a:xfrm>
          <a:prstGeom prst="rect">
            <a:avLst/>
          </a:prstGeom>
          <a:solidFill>
            <a:srgbClr val="274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1800" y="7785100"/>
            <a:ext cx="13766800" cy="2136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0">
                <a:solidFill>
                  <a:srgbClr val="274C77"/>
                </a:solidFill>
                <a:latin typeface="Georgia"/>
              </a:defRPr>
            </a:pPr>
            <a:r>
              <a:t>Sharma (2026), SSRN 6252918 • Practitioner-grounded proposal • Supporting research does not establish framework effectiveness.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